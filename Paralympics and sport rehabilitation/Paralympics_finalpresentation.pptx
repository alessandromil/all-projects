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86" r:id="rId2"/>
  </p:sldMasterIdLst>
  <p:notesMasterIdLst>
    <p:notesMasterId r:id="rId36"/>
  </p:notesMasterIdLst>
  <p:sldIdLst>
    <p:sldId id="269" r:id="rId3"/>
    <p:sldId id="879" r:id="rId4"/>
    <p:sldId id="934" r:id="rId5"/>
    <p:sldId id="912" r:id="rId6"/>
    <p:sldId id="926" r:id="rId7"/>
    <p:sldId id="927" r:id="rId8"/>
    <p:sldId id="925" r:id="rId9"/>
    <p:sldId id="938" r:id="rId10"/>
    <p:sldId id="916" r:id="rId11"/>
    <p:sldId id="917" r:id="rId12"/>
    <p:sldId id="956" r:id="rId13"/>
    <p:sldId id="919" r:id="rId14"/>
    <p:sldId id="920" r:id="rId15"/>
    <p:sldId id="921" r:id="rId16"/>
    <p:sldId id="937" r:id="rId17"/>
    <p:sldId id="947" r:id="rId18"/>
    <p:sldId id="948" r:id="rId19"/>
    <p:sldId id="949" r:id="rId20"/>
    <p:sldId id="950" r:id="rId21"/>
    <p:sldId id="923" r:id="rId22"/>
    <p:sldId id="953" r:id="rId23"/>
    <p:sldId id="954" r:id="rId24"/>
    <p:sldId id="924" r:id="rId25"/>
    <p:sldId id="962" r:id="rId26"/>
    <p:sldId id="960" r:id="rId27"/>
    <p:sldId id="885" r:id="rId28"/>
    <p:sldId id="928" r:id="rId29"/>
    <p:sldId id="932" r:id="rId30"/>
    <p:sldId id="933" r:id="rId31"/>
    <p:sldId id="929" r:id="rId32"/>
    <p:sldId id="964" r:id="rId33"/>
    <p:sldId id="963" r:id="rId34"/>
    <p:sldId id="931" r:id="rId35"/>
  </p:sldIdLst>
  <p:sldSz cx="12192000" cy="6858000"/>
  <p:notesSz cx="6858000" cy="9144000"/>
  <p:embeddedFontLst>
    <p:embeddedFont>
      <p:font typeface="Arial Nova" panose="020B0504020202020204" pitchFamily="34" charset="0"/>
      <p:regular r:id="rId37"/>
      <p:bold r:id="rId38"/>
      <p:italic r:id="rId39"/>
      <p:boldItalic r:id="rId40"/>
    </p:embeddedFont>
    <p:embeddedFont>
      <p:font typeface="Manrope" charset="0"/>
      <p:regular r:id="rId41"/>
      <p:bold r:id="rId42"/>
      <p:italic r:id="rId43"/>
      <p:boldItalic r:id="rId44"/>
    </p:embeddedFont>
    <p:embeddedFont>
      <p:font typeface="Noto Sans" panose="020B0502040504020204" pitchFamily="34" charset="0"/>
      <p:regular r:id="rId45"/>
      <p:bold r:id="rId46"/>
      <p:italic r:id="rId47"/>
      <p:boldItalic r:id="rId48"/>
    </p:embeddedFont>
  </p:embeddedFont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FCAA1E-CA54-CDE8-B8E2-8AA376E494F5}" name="Marta Gandolla" initials="MG" userId="S::10197720@polimi.it::c4caa008-52e9-436c-b85f-4e09905012c2" providerId="AD"/>
  <p188:author id="{7C161E36-08B5-D2B6-7F8D-7418B57FA6A6}" name="Emilia Ambrosini" initials="EA" userId="S::10177826@polimi.it::3c81554d-cf1b-46b8-bd85-b5f2ec75a34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D60"/>
    <a:srgbClr val="E3E6EB"/>
    <a:srgbClr val="282A2B"/>
    <a:srgbClr val="800080"/>
    <a:srgbClr val="15151C"/>
    <a:srgbClr val="69698C"/>
    <a:srgbClr val="ADADC2"/>
    <a:srgbClr val="B7BFCA"/>
    <a:srgbClr val="CDC9C1"/>
    <a:srgbClr val="EDEC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5A70FA-BEBD-A246-9337-0B93546091A6}" v="7" dt="2025-03-27T21:59:57.3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Stile medio 4 - Color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Stile medio 4 - Color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FABFCF23-3B69-468F-B69F-88F6DE6A72F2}" styleName="Stile medio 1 - Color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3296810-A885-4BE3-A3E7-6D5BEEA58F35}" styleName="Stile medio 2 - Color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27102A9-8310-4765-A935-A1911B00CA55}" styleName="Stile chiaro 1 - Color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E3FDE45-AF77-4B5C-9715-49D594BDF05E}" styleName="Stile chiaro 1 - Color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902" autoAdjust="0"/>
  </p:normalViewPr>
  <p:slideViewPr>
    <p:cSldViewPr snapToGrid="0">
      <p:cViewPr varScale="1">
        <p:scale>
          <a:sx n="78" d="100"/>
          <a:sy n="78" d="100"/>
        </p:scale>
        <p:origin x="103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3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microsoft.com/office/2015/10/relationships/revisionInfo" Target="revisionInfo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8.fntdata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8.xml"/><Relationship Id="rId41" Type="http://schemas.openxmlformats.org/officeDocument/2006/relationships/font" Target="fonts/font5.fntdata"/><Relationship Id="rId54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4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A2F874-A982-4EC3-BD4B-BD59E32C66C1}" type="datetimeFigureOut">
              <a:rPr lang="it-IT" smtClean="0"/>
              <a:t>26/06/2025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62F2E-6FDF-4A6B-AB76-08EC33B1253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7886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533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936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062F2E-6FDF-4A6B-AB76-08EC33B12539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0682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_A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0933319C-8AC5-4764-9981-AEA331D30C57}"/>
              </a:ext>
            </a:extLst>
          </p:cNvPr>
          <p:cNvSpPr/>
          <p:nvPr userDrawn="1"/>
        </p:nvSpPr>
        <p:spPr>
          <a:xfrm>
            <a:off x="0" y="0"/>
            <a:ext cx="285591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847A823-6861-4ED7-916A-EB4BF5CE6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808073"/>
            <a:ext cx="2163688" cy="840083"/>
          </a:xfrm>
        </p:spPr>
        <p:txBody>
          <a:bodyPr/>
          <a:lstStyle>
            <a:lvl1pPr>
              <a:defRPr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86D3BA3-83F0-4C02-8636-ACA6EA9DF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D982F-C1D6-49AF-A8F3-F55155BDCB8A}" type="datetime1">
              <a:rPr lang="it-IT" smtClean="0"/>
              <a:t>26/06/2025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CB1FEA7-7590-4AD0-A0B1-480920690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Collaborative Robotics - Course Presentation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95199BD-4F67-4AA1-A795-95C0BF54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67325048-9832-400A-BAC7-02B5977E3E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163762" cy="4429125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it-IT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1C0D3E2E-2AFC-47C5-ADBC-3E40FCEC1C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16275" y="2060575"/>
            <a:ext cx="8640763" cy="4429125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 b="1"/>
            </a:lvl1pPr>
            <a:lvl2pPr marL="800100" indent="-342900">
              <a:spcBef>
                <a:spcPts val="0"/>
              </a:spcBef>
              <a:spcAft>
                <a:spcPts val="1000"/>
              </a:spcAft>
              <a:buFont typeface="+mj-lt"/>
              <a:buAutoNum type="arabicPeriod"/>
              <a:defRPr sz="1400" b="0"/>
            </a:lvl2pPr>
            <a:lvl3pPr marL="1257300" indent="-342900">
              <a:buFont typeface="+mj-lt"/>
              <a:buAutoNum type="arabicPeriod"/>
              <a:defRPr sz="14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it-IT"/>
              <a:t>Titolo sezione</a:t>
            </a:r>
          </a:p>
          <a:p>
            <a:pPr lvl="1"/>
            <a:r>
              <a:rPr lang="it-IT"/>
              <a:t>Titolo sezione</a:t>
            </a:r>
          </a:p>
          <a:p>
            <a:pPr lvl="0"/>
            <a:r>
              <a:rPr lang="it-IT"/>
              <a:t>Titolo sezione</a:t>
            </a:r>
          </a:p>
          <a:p>
            <a:pPr lvl="1"/>
            <a:r>
              <a:rPr lang="it-IT"/>
              <a:t>Titolo sezione</a:t>
            </a:r>
          </a:p>
          <a:p>
            <a:pPr lvl="0"/>
            <a:r>
              <a:rPr lang="it-IT"/>
              <a:t>Titolo sezione</a:t>
            </a:r>
          </a:p>
          <a:p>
            <a:pPr lvl="1"/>
            <a:r>
              <a:rPr lang="it-IT"/>
              <a:t>Titolo sezione</a:t>
            </a:r>
          </a:p>
          <a:p>
            <a:pPr lvl="0"/>
            <a:r>
              <a:rPr lang="it-IT"/>
              <a:t>Titolo sezione</a:t>
            </a:r>
          </a:p>
          <a:p>
            <a:pPr lvl="1"/>
            <a:r>
              <a:rPr lang="it-IT"/>
              <a:t>Titolo sezione</a:t>
            </a:r>
          </a:p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20479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ice_B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812652"/>
            <a:ext cx="11522075" cy="84008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it-IT"/>
              <a:t>Indice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6AEB6-9C6C-423E-A931-F88CC02ADC5E}" type="datetime1">
              <a:rPr lang="it-IT" smtClean="0"/>
              <a:t>26/06/2025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Collaborative Robotics - Course Presentation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‹N›</a:t>
            </a:fld>
            <a:endParaRPr lang="it-IT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D1CFA815-ACBE-4524-9331-D296F8E0F9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054988"/>
            <a:ext cx="1890652" cy="332803"/>
          </a:xfrm>
        </p:spPr>
        <p:txBody>
          <a:bodyPr>
            <a:normAutofit/>
          </a:bodyPr>
          <a:lstStyle>
            <a:lvl1pPr>
              <a:defRPr sz="1200" b="1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 sezione</a:t>
            </a:r>
          </a:p>
        </p:txBody>
      </p:sp>
      <p:sp>
        <p:nvSpPr>
          <p:cNvPr id="9" name="Segnaposto testo 7">
            <a:extLst>
              <a:ext uri="{FF2B5EF4-FFF2-40B4-BE49-F238E27FC236}">
                <a16:creationId xmlns:a16="http://schemas.microsoft.com/office/drawing/2014/main" id="{75158ADB-01E3-4A38-A321-CD450AEEEF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98652" y="3054988"/>
            <a:ext cx="1890653" cy="332803"/>
          </a:xfrm>
        </p:spPr>
        <p:txBody>
          <a:bodyPr>
            <a:normAutofit/>
          </a:bodyPr>
          <a:lstStyle>
            <a:lvl1pPr>
              <a:defRPr sz="1200" b="1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 sezione</a:t>
            </a:r>
          </a:p>
        </p:txBody>
      </p:sp>
      <p:sp>
        <p:nvSpPr>
          <p:cNvPr id="10" name="Segnaposto testo 7">
            <a:extLst>
              <a:ext uri="{FF2B5EF4-FFF2-40B4-BE49-F238E27FC236}">
                <a16:creationId xmlns:a16="http://schemas.microsoft.com/office/drawing/2014/main" id="{C2B0DC0F-1C21-45C1-8F2A-00A6E13418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62342" y="3054988"/>
            <a:ext cx="1890653" cy="332803"/>
          </a:xfrm>
        </p:spPr>
        <p:txBody>
          <a:bodyPr>
            <a:normAutofit/>
          </a:bodyPr>
          <a:lstStyle>
            <a:lvl1pPr>
              <a:defRPr sz="1200" b="1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 sezione</a:t>
            </a:r>
          </a:p>
        </p:txBody>
      </p:sp>
      <p:sp>
        <p:nvSpPr>
          <p:cNvPr id="11" name="Segnaposto testo 7">
            <a:extLst>
              <a:ext uri="{FF2B5EF4-FFF2-40B4-BE49-F238E27FC236}">
                <a16:creationId xmlns:a16="http://schemas.microsoft.com/office/drawing/2014/main" id="{76250419-1EAD-4278-97B7-1BA8F07525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6032" y="3054988"/>
            <a:ext cx="1890653" cy="332803"/>
          </a:xfrm>
        </p:spPr>
        <p:txBody>
          <a:bodyPr>
            <a:normAutofit/>
          </a:bodyPr>
          <a:lstStyle>
            <a:lvl1pPr>
              <a:defRPr sz="1200" b="1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 sezione</a:t>
            </a:r>
          </a:p>
        </p:txBody>
      </p:sp>
      <p:sp>
        <p:nvSpPr>
          <p:cNvPr id="12" name="Segnaposto testo 7">
            <a:extLst>
              <a:ext uri="{FF2B5EF4-FFF2-40B4-BE49-F238E27FC236}">
                <a16:creationId xmlns:a16="http://schemas.microsoft.com/office/drawing/2014/main" id="{DCD9C49F-F44E-4E82-864B-742438DCAE6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89722" y="3054988"/>
            <a:ext cx="1890653" cy="332803"/>
          </a:xfrm>
        </p:spPr>
        <p:txBody>
          <a:bodyPr>
            <a:normAutofit/>
          </a:bodyPr>
          <a:lstStyle>
            <a:lvl1pPr>
              <a:defRPr sz="1200" b="1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 sezione</a:t>
            </a:r>
            <a:br>
              <a:rPr lang="it-IT"/>
            </a:br>
            <a:endParaRPr lang="it-IT"/>
          </a:p>
        </p:txBody>
      </p:sp>
      <p:sp>
        <p:nvSpPr>
          <p:cNvPr id="13" name="Segnaposto testo 7">
            <a:extLst>
              <a:ext uri="{FF2B5EF4-FFF2-40B4-BE49-F238E27FC236}">
                <a16:creationId xmlns:a16="http://schemas.microsoft.com/office/drawing/2014/main" id="{7F91CD7E-BBFD-483F-A271-EC1D28C8A8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963" y="3736780"/>
            <a:ext cx="1890652" cy="1876932"/>
          </a:xfrm>
        </p:spPr>
        <p:txBody>
          <a:bodyPr>
            <a:normAutofit/>
          </a:bodyPr>
          <a:lstStyle>
            <a:lvl1pPr>
              <a:defRPr sz="11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Titolo argomento</a:t>
            </a:r>
          </a:p>
          <a:p>
            <a:pPr lvl="0"/>
            <a:endParaRPr lang="it-IT"/>
          </a:p>
        </p:txBody>
      </p:sp>
      <p:sp>
        <p:nvSpPr>
          <p:cNvPr id="14" name="Segnaposto testo 7">
            <a:extLst>
              <a:ext uri="{FF2B5EF4-FFF2-40B4-BE49-F238E27FC236}">
                <a16:creationId xmlns:a16="http://schemas.microsoft.com/office/drawing/2014/main" id="{3D86C7EF-AEA6-4614-B487-FD62FE7D1B2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98652" y="3736780"/>
            <a:ext cx="1890653" cy="1876932"/>
          </a:xfrm>
        </p:spPr>
        <p:txBody>
          <a:bodyPr>
            <a:normAutofit/>
          </a:bodyPr>
          <a:lstStyle>
            <a:lvl1pPr>
              <a:defRPr sz="11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Titolo argomento</a:t>
            </a:r>
          </a:p>
          <a:p>
            <a:pPr lvl="0"/>
            <a:endParaRPr lang="it-IT"/>
          </a:p>
        </p:txBody>
      </p:sp>
      <p:sp>
        <p:nvSpPr>
          <p:cNvPr id="15" name="Segnaposto testo 7">
            <a:extLst>
              <a:ext uri="{FF2B5EF4-FFF2-40B4-BE49-F238E27FC236}">
                <a16:creationId xmlns:a16="http://schemas.microsoft.com/office/drawing/2014/main" id="{06482AA6-FB29-4523-AF8A-19196AC02EB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2342" y="3736780"/>
            <a:ext cx="1890653" cy="1876932"/>
          </a:xfrm>
        </p:spPr>
        <p:txBody>
          <a:bodyPr>
            <a:normAutofit/>
          </a:bodyPr>
          <a:lstStyle>
            <a:lvl1pPr>
              <a:defRPr sz="11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Titolo argomento</a:t>
            </a:r>
          </a:p>
          <a:p>
            <a:pPr lvl="0"/>
            <a:endParaRPr lang="it-IT"/>
          </a:p>
        </p:txBody>
      </p:sp>
      <p:sp>
        <p:nvSpPr>
          <p:cNvPr id="16" name="Segnaposto testo 7">
            <a:extLst>
              <a:ext uri="{FF2B5EF4-FFF2-40B4-BE49-F238E27FC236}">
                <a16:creationId xmlns:a16="http://schemas.microsoft.com/office/drawing/2014/main" id="{29425362-73BC-4CAC-B398-63AC560AFF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826032" y="3736780"/>
            <a:ext cx="1890653" cy="1876932"/>
          </a:xfrm>
        </p:spPr>
        <p:txBody>
          <a:bodyPr>
            <a:normAutofit/>
          </a:bodyPr>
          <a:lstStyle>
            <a:lvl1pPr>
              <a:defRPr sz="11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Titolo argomento</a:t>
            </a:r>
          </a:p>
          <a:p>
            <a:pPr lvl="0"/>
            <a:endParaRPr lang="it-IT"/>
          </a:p>
        </p:txBody>
      </p:sp>
      <p:sp>
        <p:nvSpPr>
          <p:cNvPr id="17" name="Segnaposto testo 7">
            <a:extLst>
              <a:ext uri="{FF2B5EF4-FFF2-40B4-BE49-F238E27FC236}">
                <a16:creationId xmlns:a16="http://schemas.microsoft.com/office/drawing/2014/main" id="{37A8CDF9-B79C-4BF7-B437-25EC350C08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89722" y="3736780"/>
            <a:ext cx="1890653" cy="1876932"/>
          </a:xfrm>
        </p:spPr>
        <p:txBody>
          <a:bodyPr>
            <a:normAutofit/>
          </a:bodyPr>
          <a:lstStyle>
            <a:lvl1pPr>
              <a:defRPr sz="1100" b="0">
                <a:solidFill>
                  <a:schemeClr val="tx1"/>
                </a:solidFill>
                <a:latin typeface="+mn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Titolo argomento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Titolo argomento</a:t>
            </a:r>
          </a:p>
          <a:p>
            <a:pPr lvl="0"/>
            <a:endParaRPr lang="it-IT"/>
          </a:p>
        </p:txBody>
      </p:sp>
      <p:sp>
        <p:nvSpPr>
          <p:cNvPr id="18" name="Segnaposto testo 7">
            <a:extLst>
              <a:ext uri="{FF2B5EF4-FFF2-40B4-BE49-F238E27FC236}">
                <a16:creationId xmlns:a16="http://schemas.microsoft.com/office/drawing/2014/main" id="{50290743-6926-46ED-BE46-501A4F78CC6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rot="16200000">
            <a:off x="191706" y="2115912"/>
            <a:ext cx="776376" cy="665702"/>
          </a:xfrm>
        </p:spPr>
        <p:txBody>
          <a:bodyPr anchor="t">
            <a:noAutofit/>
          </a:bodyPr>
          <a:lstStyle>
            <a:lvl1pPr algn="r">
              <a:defRPr sz="4400" b="0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01</a:t>
            </a:r>
          </a:p>
        </p:txBody>
      </p:sp>
      <p:sp>
        <p:nvSpPr>
          <p:cNvPr id="19" name="Segnaposto testo 7">
            <a:extLst>
              <a:ext uri="{FF2B5EF4-FFF2-40B4-BE49-F238E27FC236}">
                <a16:creationId xmlns:a16="http://schemas.microsoft.com/office/drawing/2014/main" id="{9AA91E9E-F4C5-4318-8BFC-5E627DF7F53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 rot="16200000">
            <a:off x="2324033" y="2115912"/>
            <a:ext cx="776376" cy="665702"/>
          </a:xfrm>
        </p:spPr>
        <p:txBody>
          <a:bodyPr anchor="t">
            <a:noAutofit/>
          </a:bodyPr>
          <a:lstStyle>
            <a:lvl1pPr algn="r">
              <a:defRPr sz="4400" b="0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02</a:t>
            </a:r>
          </a:p>
        </p:txBody>
      </p:sp>
      <p:sp>
        <p:nvSpPr>
          <p:cNvPr id="20" name="Segnaposto testo 7">
            <a:extLst>
              <a:ext uri="{FF2B5EF4-FFF2-40B4-BE49-F238E27FC236}">
                <a16:creationId xmlns:a16="http://schemas.microsoft.com/office/drawing/2014/main" id="{D6F57CB6-9F04-49B6-939C-D13BA7FB06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 rot="16200000">
            <a:off x="4515027" y="2115912"/>
            <a:ext cx="776376" cy="665702"/>
          </a:xfrm>
        </p:spPr>
        <p:txBody>
          <a:bodyPr anchor="t">
            <a:noAutofit/>
          </a:bodyPr>
          <a:lstStyle>
            <a:lvl1pPr algn="r">
              <a:defRPr sz="4400" b="0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03</a:t>
            </a:r>
          </a:p>
        </p:txBody>
      </p:sp>
      <p:sp>
        <p:nvSpPr>
          <p:cNvPr id="21" name="Segnaposto testo 7">
            <a:extLst>
              <a:ext uri="{FF2B5EF4-FFF2-40B4-BE49-F238E27FC236}">
                <a16:creationId xmlns:a16="http://schemas.microsoft.com/office/drawing/2014/main" id="{6C01B50D-1661-4131-BCDF-441CC22144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rot="16200000">
            <a:off x="6674762" y="2115912"/>
            <a:ext cx="776376" cy="665702"/>
          </a:xfrm>
        </p:spPr>
        <p:txBody>
          <a:bodyPr anchor="t">
            <a:noAutofit/>
          </a:bodyPr>
          <a:lstStyle>
            <a:lvl1pPr algn="r">
              <a:defRPr sz="4400" b="0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04</a:t>
            </a:r>
          </a:p>
        </p:txBody>
      </p:sp>
      <p:sp>
        <p:nvSpPr>
          <p:cNvPr id="22" name="Segnaposto testo 7">
            <a:extLst>
              <a:ext uri="{FF2B5EF4-FFF2-40B4-BE49-F238E27FC236}">
                <a16:creationId xmlns:a16="http://schemas.microsoft.com/office/drawing/2014/main" id="{2D503613-5D8F-4B95-8EB3-13963149108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 rot="16200000">
            <a:off x="8846462" y="2115912"/>
            <a:ext cx="776376" cy="665702"/>
          </a:xfrm>
        </p:spPr>
        <p:txBody>
          <a:bodyPr anchor="t">
            <a:noAutofit/>
          </a:bodyPr>
          <a:lstStyle>
            <a:lvl1pPr algn="r">
              <a:defRPr sz="4400" b="0">
                <a:solidFill>
                  <a:schemeClr val="tx2"/>
                </a:solidFill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19369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io_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9FF9E0-0F2A-4E7B-ADD7-33314E9E9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6275" y="1418313"/>
            <a:ext cx="8640763" cy="1299008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del divisorio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E134B4D-D1C6-403C-87F8-32776FD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979716-CB55-4B5F-9D3F-C2D82F111A6D}" type="datetime1">
              <a:rPr lang="it-IT" smtClean="0"/>
              <a:t>26/06/2025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7C40DD1-2473-433A-86AF-A19E5D1CA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Collaborative Robotics - Course Presentation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5E4E6DD-3673-45F3-B980-656947B06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19AA845-D4AF-40CE-B7F3-A1B95A20D2F3}"/>
              </a:ext>
            </a:extLst>
          </p:cNvPr>
          <p:cNvSpPr/>
          <p:nvPr userDrawn="1"/>
        </p:nvSpPr>
        <p:spPr>
          <a:xfrm>
            <a:off x="0" y="1418312"/>
            <a:ext cx="1284270" cy="1284270"/>
          </a:xfrm>
          <a:prstGeom prst="ellipse">
            <a:avLst/>
          </a:prstGeom>
          <a:noFill/>
          <a:ln w="9525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A29D2F2-5AC8-4927-AA1D-19630D333830}"/>
              </a:ext>
            </a:extLst>
          </p:cNvPr>
          <p:cNvCxnSpPr>
            <a:cxnSpLocks/>
          </p:cNvCxnSpPr>
          <p:nvPr userDrawn="1"/>
        </p:nvCxnSpPr>
        <p:spPr>
          <a:xfrm>
            <a:off x="0" y="1418312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C00AF5-6CFB-4B05-922E-59446B4D5F1D}"/>
              </a:ext>
            </a:extLst>
          </p:cNvPr>
          <p:cNvCxnSpPr>
            <a:cxnSpLocks/>
          </p:cNvCxnSpPr>
          <p:nvPr userDrawn="1"/>
        </p:nvCxnSpPr>
        <p:spPr>
          <a:xfrm>
            <a:off x="0" y="2717320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8D8426E-B0F3-4A04-99ED-0D9D1A7A694E}"/>
              </a:ext>
            </a:extLst>
          </p:cNvPr>
          <p:cNvCxnSpPr>
            <a:cxnSpLocks/>
          </p:cNvCxnSpPr>
          <p:nvPr userDrawn="1"/>
        </p:nvCxnSpPr>
        <p:spPr>
          <a:xfrm flipV="1">
            <a:off x="1284270" y="1"/>
            <a:ext cx="0" cy="7099442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4D2183DA-6999-4DF4-AE0B-EDCD20466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65931" y="3961597"/>
            <a:ext cx="3091107" cy="2359025"/>
          </a:xfrm>
        </p:spPr>
        <p:txBody>
          <a:bodyPr anchor="b">
            <a:normAutofit/>
          </a:bodyPr>
          <a:lstStyle>
            <a:lvl1pPr algn="r">
              <a:defRPr sz="96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00</a:t>
            </a:r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35E14663-8764-4DCE-B9CB-7C9A4CEA9BB5}"/>
              </a:ext>
            </a:extLst>
          </p:cNvPr>
          <p:cNvSpPr/>
          <p:nvPr userDrawn="1"/>
        </p:nvSpPr>
        <p:spPr>
          <a:xfrm rot="6083929">
            <a:off x="1311375" y="1414011"/>
            <a:ext cx="10887270" cy="10887979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0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>
              <a:latin typeface="Manrop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853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io_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9FF9E0-0F2A-4E7B-ADD7-33314E9E9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6275" y="1418313"/>
            <a:ext cx="8640763" cy="1299008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del divisorio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E134B4D-D1C6-403C-87F8-32776FD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7931DF0-39F6-4EC5-B36D-675886858BB0}" type="datetime1">
              <a:rPr lang="it-IT" smtClean="0"/>
              <a:t>26/06/2025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7C40DD1-2473-433A-86AF-A19E5D1CA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Collaborative Robotics - Course Presentation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5E4E6DD-3673-45F3-B980-656947B06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19AA845-D4AF-40CE-B7F3-A1B95A20D2F3}"/>
              </a:ext>
            </a:extLst>
          </p:cNvPr>
          <p:cNvSpPr/>
          <p:nvPr userDrawn="1"/>
        </p:nvSpPr>
        <p:spPr>
          <a:xfrm>
            <a:off x="0" y="1418312"/>
            <a:ext cx="1284270" cy="1284270"/>
          </a:xfrm>
          <a:prstGeom prst="ellipse">
            <a:avLst/>
          </a:prstGeom>
          <a:noFill/>
          <a:ln w="9525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A29D2F2-5AC8-4927-AA1D-19630D333830}"/>
              </a:ext>
            </a:extLst>
          </p:cNvPr>
          <p:cNvCxnSpPr>
            <a:cxnSpLocks/>
          </p:cNvCxnSpPr>
          <p:nvPr userDrawn="1"/>
        </p:nvCxnSpPr>
        <p:spPr>
          <a:xfrm>
            <a:off x="0" y="1418312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C00AF5-6CFB-4B05-922E-59446B4D5F1D}"/>
              </a:ext>
            </a:extLst>
          </p:cNvPr>
          <p:cNvCxnSpPr>
            <a:cxnSpLocks/>
          </p:cNvCxnSpPr>
          <p:nvPr userDrawn="1"/>
        </p:nvCxnSpPr>
        <p:spPr>
          <a:xfrm>
            <a:off x="0" y="2717320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8D8426E-B0F3-4A04-99ED-0D9D1A7A694E}"/>
              </a:ext>
            </a:extLst>
          </p:cNvPr>
          <p:cNvCxnSpPr>
            <a:cxnSpLocks/>
          </p:cNvCxnSpPr>
          <p:nvPr userDrawn="1"/>
        </p:nvCxnSpPr>
        <p:spPr>
          <a:xfrm flipV="1">
            <a:off x="1284270" y="1"/>
            <a:ext cx="0" cy="7099442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4D2183DA-6999-4DF4-AE0B-EDCD20466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2985" y="3961597"/>
            <a:ext cx="2924053" cy="2359025"/>
          </a:xfrm>
        </p:spPr>
        <p:txBody>
          <a:bodyPr anchor="b">
            <a:normAutofit/>
          </a:bodyPr>
          <a:lstStyle>
            <a:lvl1pPr algn="r">
              <a:defRPr sz="96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22318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sorio_C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9FF9E0-0F2A-4E7B-ADD7-33314E9E9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6275" y="1418313"/>
            <a:ext cx="8640763" cy="1284268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Titolo del divisorio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E134B4D-D1C6-403C-87F8-32776FD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90A3B39-2251-450C-B7E3-BF1F083743ED}" type="datetime1">
              <a:rPr lang="it-IT" smtClean="0"/>
              <a:t>26/06/2025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7C40DD1-2473-433A-86AF-A19E5D1CA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it-IT"/>
              <a:t>Collaborative Robotics - Course Presentation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5E4E6DD-3673-45F3-B980-656947B06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19AA845-D4AF-40CE-B7F3-A1B95A20D2F3}"/>
              </a:ext>
            </a:extLst>
          </p:cNvPr>
          <p:cNvSpPr/>
          <p:nvPr userDrawn="1"/>
        </p:nvSpPr>
        <p:spPr>
          <a:xfrm>
            <a:off x="0" y="1418312"/>
            <a:ext cx="1284270" cy="1284270"/>
          </a:xfrm>
          <a:prstGeom prst="ellipse">
            <a:avLst/>
          </a:prstGeom>
          <a:noFill/>
          <a:ln w="9525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A29D2F2-5AC8-4927-AA1D-19630D333830}"/>
              </a:ext>
            </a:extLst>
          </p:cNvPr>
          <p:cNvCxnSpPr>
            <a:cxnSpLocks/>
          </p:cNvCxnSpPr>
          <p:nvPr userDrawn="1"/>
        </p:nvCxnSpPr>
        <p:spPr>
          <a:xfrm>
            <a:off x="0" y="1418312"/>
            <a:ext cx="12192000" cy="0"/>
          </a:xfrm>
          <a:prstGeom prst="line">
            <a:avLst/>
          </a:prstGeom>
          <a:ln w="9525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C00AF5-6CFB-4B05-922E-59446B4D5F1D}"/>
              </a:ext>
            </a:extLst>
          </p:cNvPr>
          <p:cNvCxnSpPr>
            <a:cxnSpLocks/>
          </p:cNvCxnSpPr>
          <p:nvPr userDrawn="1"/>
        </p:nvCxnSpPr>
        <p:spPr>
          <a:xfrm>
            <a:off x="0" y="2717320"/>
            <a:ext cx="12192000" cy="0"/>
          </a:xfrm>
          <a:prstGeom prst="line">
            <a:avLst/>
          </a:prstGeom>
          <a:ln w="9525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8D8426E-B0F3-4A04-99ED-0D9D1A7A694E}"/>
              </a:ext>
            </a:extLst>
          </p:cNvPr>
          <p:cNvCxnSpPr>
            <a:cxnSpLocks/>
          </p:cNvCxnSpPr>
          <p:nvPr userDrawn="1"/>
        </p:nvCxnSpPr>
        <p:spPr>
          <a:xfrm flipV="1">
            <a:off x="1284270" y="1"/>
            <a:ext cx="0" cy="7099442"/>
          </a:xfrm>
          <a:prstGeom prst="line">
            <a:avLst/>
          </a:prstGeom>
          <a:ln w="9525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egnaposto testo 16">
            <a:extLst>
              <a:ext uri="{FF2B5EF4-FFF2-40B4-BE49-F238E27FC236}">
                <a16:creationId xmlns:a16="http://schemas.microsoft.com/office/drawing/2014/main" id="{4D2183DA-6999-4DF4-AE0B-EDCD20466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20808" y="3961597"/>
            <a:ext cx="3636230" cy="2359025"/>
          </a:xfrm>
        </p:spPr>
        <p:txBody>
          <a:bodyPr anchor="b">
            <a:normAutofit/>
          </a:bodyPr>
          <a:lstStyle>
            <a:lvl1pPr algn="r">
              <a:defRPr sz="96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557231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finale_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9FF9E0-0F2A-4E7B-ADD7-33314E9E9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6275" y="4295077"/>
            <a:ext cx="8640763" cy="1299008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Chiusura / Ringraziamenti</a:t>
            </a: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19AA845-D4AF-40CE-B7F3-A1B95A20D2F3}"/>
              </a:ext>
            </a:extLst>
          </p:cNvPr>
          <p:cNvSpPr/>
          <p:nvPr userDrawn="1"/>
        </p:nvSpPr>
        <p:spPr>
          <a:xfrm>
            <a:off x="0" y="4295076"/>
            <a:ext cx="1284270" cy="1284270"/>
          </a:xfrm>
          <a:prstGeom prst="ellipse">
            <a:avLst/>
          </a:prstGeom>
          <a:noFill/>
          <a:ln w="9525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A29D2F2-5AC8-4927-AA1D-19630D333830}"/>
              </a:ext>
            </a:extLst>
          </p:cNvPr>
          <p:cNvCxnSpPr>
            <a:cxnSpLocks/>
          </p:cNvCxnSpPr>
          <p:nvPr userDrawn="1"/>
        </p:nvCxnSpPr>
        <p:spPr>
          <a:xfrm>
            <a:off x="0" y="4295076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C00AF5-6CFB-4B05-922E-59446B4D5F1D}"/>
              </a:ext>
            </a:extLst>
          </p:cNvPr>
          <p:cNvCxnSpPr>
            <a:cxnSpLocks/>
          </p:cNvCxnSpPr>
          <p:nvPr userDrawn="1"/>
        </p:nvCxnSpPr>
        <p:spPr>
          <a:xfrm>
            <a:off x="0" y="5594084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8D8426E-B0F3-4A04-99ED-0D9D1A7A694E}"/>
              </a:ext>
            </a:extLst>
          </p:cNvPr>
          <p:cNvCxnSpPr>
            <a:cxnSpLocks/>
          </p:cNvCxnSpPr>
          <p:nvPr userDrawn="1"/>
        </p:nvCxnSpPr>
        <p:spPr>
          <a:xfrm flipV="1">
            <a:off x="1284270" y="1"/>
            <a:ext cx="0" cy="7099442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e 9">
            <a:extLst>
              <a:ext uri="{FF2B5EF4-FFF2-40B4-BE49-F238E27FC236}">
                <a16:creationId xmlns:a16="http://schemas.microsoft.com/office/drawing/2014/main" id="{29206C3E-8262-4BAC-A209-F4327335E1F0}"/>
              </a:ext>
            </a:extLst>
          </p:cNvPr>
          <p:cNvSpPr/>
          <p:nvPr userDrawn="1"/>
        </p:nvSpPr>
        <p:spPr>
          <a:xfrm rot="11483929">
            <a:off x="1293786" y="-5274490"/>
            <a:ext cx="10887270" cy="10887979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0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>
              <a:latin typeface="Manrope" pitchFamily="2" charset="0"/>
            </a:endParaRPr>
          </a:p>
        </p:txBody>
      </p:sp>
      <p:sp>
        <p:nvSpPr>
          <p:cNvPr id="11" name="Ovale 10">
            <a:extLst>
              <a:ext uri="{FF2B5EF4-FFF2-40B4-BE49-F238E27FC236}">
                <a16:creationId xmlns:a16="http://schemas.microsoft.com/office/drawing/2014/main" id="{E4786A85-B23B-420C-9463-CF262A126A21}"/>
              </a:ext>
            </a:extLst>
          </p:cNvPr>
          <p:cNvSpPr/>
          <p:nvPr userDrawn="1"/>
        </p:nvSpPr>
        <p:spPr>
          <a:xfrm rot="11483929">
            <a:off x="652366" y="5545716"/>
            <a:ext cx="10887270" cy="10887979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0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>
              <a:latin typeface="Manrop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77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finale_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9FF9E0-0F2A-4E7B-ADD7-33314E9E93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6275" y="4295077"/>
            <a:ext cx="8640763" cy="1299008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Chiusura / Ringraziamenti</a:t>
            </a: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419AA845-D4AF-40CE-B7F3-A1B95A20D2F3}"/>
              </a:ext>
            </a:extLst>
          </p:cNvPr>
          <p:cNvSpPr/>
          <p:nvPr userDrawn="1"/>
        </p:nvSpPr>
        <p:spPr>
          <a:xfrm>
            <a:off x="0" y="4295076"/>
            <a:ext cx="1284270" cy="1284270"/>
          </a:xfrm>
          <a:prstGeom prst="ellipse">
            <a:avLst/>
          </a:prstGeom>
          <a:noFill/>
          <a:ln w="9525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diritto 6">
            <a:extLst>
              <a:ext uri="{FF2B5EF4-FFF2-40B4-BE49-F238E27FC236}">
                <a16:creationId xmlns:a16="http://schemas.microsoft.com/office/drawing/2014/main" id="{BA29D2F2-5AC8-4927-AA1D-19630D333830}"/>
              </a:ext>
            </a:extLst>
          </p:cNvPr>
          <p:cNvCxnSpPr>
            <a:cxnSpLocks/>
          </p:cNvCxnSpPr>
          <p:nvPr userDrawn="1"/>
        </p:nvCxnSpPr>
        <p:spPr>
          <a:xfrm>
            <a:off x="0" y="4295076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53C00AF5-6CFB-4B05-922E-59446B4D5F1D}"/>
              </a:ext>
            </a:extLst>
          </p:cNvPr>
          <p:cNvCxnSpPr>
            <a:cxnSpLocks/>
          </p:cNvCxnSpPr>
          <p:nvPr userDrawn="1"/>
        </p:nvCxnSpPr>
        <p:spPr>
          <a:xfrm>
            <a:off x="0" y="5594084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28D8426E-B0F3-4A04-99ED-0D9D1A7A694E}"/>
              </a:ext>
            </a:extLst>
          </p:cNvPr>
          <p:cNvCxnSpPr>
            <a:cxnSpLocks/>
          </p:cNvCxnSpPr>
          <p:nvPr userDrawn="1"/>
        </p:nvCxnSpPr>
        <p:spPr>
          <a:xfrm flipV="1">
            <a:off x="1284270" y="1"/>
            <a:ext cx="0" cy="7099442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2493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base_ testo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808073"/>
            <a:ext cx="8640000" cy="840083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C7D14-9E11-4440-9D31-848B6490C495}" type="datetime1">
              <a:rPr lang="it-IT" smtClean="0"/>
              <a:t>26/06/2025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Collaborative Robotics - Course Presentation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8640000" cy="4429125"/>
          </a:xfrm>
        </p:spPr>
        <p:txBody>
          <a:bodyPr/>
          <a:lstStyle/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78769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base_ testo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08073"/>
            <a:ext cx="11522075" cy="840083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37A21-1517-4EF2-AEA5-717678438E5F}" type="datetime1">
              <a:rPr lang="it-IT" smtClean="0"/>
              <a:t>26/06/2025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Collaborative Robotics - Course Presentation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5330113" cy="4429125"/>
          </a:xfrm>
        </p:spPr>
        <p:txBody>
          <a:bodyPr/>
          <a:lstStyle/>
          <a:p>
            <a:pPr lvl="0"/>
            <a:endParaRPr lang="it-IT"/>
          </a:p>
        </p:txBody>
      </p:sp>
      <p:sp>
        <p:nvSpPr>
          <p:cNvPr id="10" name="Segnaposto testo 6">
            <a:extLst>
              <a:ext uri="{FF2B5EF4-FFF2-40B4-BE49-F238E27FC236}">
                <a16:creationId xmlns:a16="http://schemas.microsoft.com/office/drawing/2014/main" id="{A91EDD17-1F39-46F2-A6AE-0DA93D9DE7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26926" y="2060575"/>
            <a:ext cx="5330113" cy="4429125"/>
          </a:xfrm>
        </p:spPr>
        <p:txBody>
          <a:bodyPr/>
          <a:lstStyle/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809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base_ testo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08073"/>
            <a:ext cx="11522075" cy="840083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4BB1A-DBCE-4F64-B751-B6A9F092F075}" type="datetime1">
              <a:rPr lang="it-IT" smtClean="0"/>
              <a:t>26/06/2025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Collaborative Robotics - Course Presentation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16275" y="2060575"/>
            <a:ext cx="8640762" cy="4429125"/>
          </a:xfrm>
        </p:spPr>
        <p:txBody>
          <a:bodyPr/>
          <a:lstStyle/>
          <a:p>
            <a:pPr lvl="0"/>
            <a:endParaRPr lang="it-IT"/>
          </a:p>
        </p:txBody>
      </p:sp>
      <p:sp>
        <p:nvSpPr>
          <p:cNvPr id="8" name="Segnaposto testo 6">
            <a:extLst>
              <a:ext uri="{FF2B5EF4-FFF2-40B4-BE49-F238E27FC236}">
                <a16:creationId xmlns:a16="http://schemas.microsoft.com/office/drawing/2014/main" id="{E3A4E093-361F-4C37-B47B-B067A8415F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4" y="2060575"/>
            <a:ext cx="2601668" cy="4429125"/>
          </a:xfrm>
        </p:spPr>
        <p:txBody>
          <a:bodyPr/>
          <a:lstStyle>
            <a:lvl1pPr marL="342900" indent="-342900">
              <a:buAutoNum type="arabicPeriod"/>
              <a:defRPr b="1"/>
            </a:lvl1pPr>
          </a:lstStyle>
          <a:p>
            <a:pPr lvl="0"/>
            <a:r>
              <a:rPr lang="it-IT" err="1"/>
              <a:t>Lorem</a:t>
            </a:r>
            <a:r>
              <a:rPr lang="it-IT"/>
              <a:t> </a:t>
            </a:r>
            <a:r>
              <a:rPr lang="it-IT" err="1"/>
              <a:t>ipsum</a:t>
            </a:r>
            <a:endParaRPr lang="it-IT"/>
          </a:p>
          <a:p>
            <a:pPr lvl="0"/>
            <a:r>
              <a:rPr lang="it-IT" err="1"/>
              <a:t>Lorem</a:t>
            </a:r>
            <a:r>
              <a:rPr lang="it-IT"/>
              <a:t> </a:t>
            </a:r>
            <a:r>
              <a:rPr lang="it-IT" err="1"/>
              <a:t>ipsum</a:t>
            </a:r>
            <a:endParaRPr lang="it-IT"/>
          </a:p>
          <a:p>
            <a:pPr lvl="0"/>
            <a:r>
              <a:rPr lang="it-IT" err="1"/>
              <a:t>Lorem</a:t>
            </a:r>
            <a:r>
              <a:rPr lang="it-IT"/>
              <a:t> ipsum</a:t>
            </a:r>
          </a:p>
        </p:txBody>
      </p:sp>
    </p:spTree>
    <p:extLst>
      <p:ext uri="{BB962C8B-B14F-4D97-AF65-F5344CB8AC3E}">
        <p14:creationId xmlns:p14="http://schemas.microsoft.com/office/powerpoint/2010/main" val="470807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base_Ogget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11522075" cy="840083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5458E8-0508-42CF-A7E2-ABE84A714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3" y="2060576"/>
            <a:ext cx="11522075" cy="4146550"/>
          </a:xfrm>
          <a:noFill/>
        </p:spPr>
        <p:txBody>
          <a:bodyPr/>
          <a:lstStyle/>
          <a:p>
            <a:pPr lvl="0"/>
            <a:endParaRPr lang="it-IT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7488-4FD8-434D-B3EE-D4BD222D3377}" type="datetime1">
              <a:rPr lang="it-IT" smtClean="0"/>
              <a:t>26/06/2025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Collaborative Robotics - Course Presentation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‹N›</a:t>
            </a:fld>
            <a:endParaRPr lang="it-IT"/>
          </a:p>
        </p:txBody>
      </p:sp>
      <p:sp>
        <p:nvSpPr>
          <p:cNvPr id="7" name="Segnaposto testo 11">
            <a:extLst>
              <a:ext uri="{FF2B5EF4-FFF2-40B4-BE49-F238E27FC236}">
                <a16:creationId xmlns:a16="http://schemas.microsoft.com/office/drawing/2014/main" id="{6924BD38-C241-45AE-9D16-9EE806C4074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962" y="6207125"/>
            <a:ext cx="11522076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7021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colonna _ testo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0933319C-8AC5-4764-9981-AEA331D30C57}"/>
              </a:ext>
            </a:extLst>
          </p:cNvPr>
          <p:cNvSpPr/>
          <p:nvPr userDrawn="1"/>
        </p:nvSpPr>
        <p:spPr>
          <a:xfrm>
            <a:off x="0" y="0"/>
            <a:ext cx="285591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847A823-6861-4ED7-916A-EB4BF5CE6D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808073"/>
            <a:ext cx="2163688" cy="840083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Inserire titolo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86D3BA3-83F0-4C02-8636-ACA6EA9DF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51096-965E-421F-8A84-8430D9158618}" type="datetime1">
              <a:rPr lang="it-IT" smtClean="0"/>
              <a:t>26/06/2025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CB1FEA7-7590-4AD0-A0B1-480920690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Collaborative Robotics - Course Presentation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95199BD-4F67-4AA1-A795-95C0BF54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67325048-9832-400A-BAC7-02B5977E3E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163762" cy="4429125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it-IT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1C0D3E2E-2AFC-47C5-ADBC-3E40FCEC1C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16275" y="2060575"/>
            <a:ext cx="8640763" cy="4429125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15987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colonna _ oggetto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0933319C-8AC5-4764-9981-AEA331D30C57}"/>
              </a:ext>
            </a:extLst>
          </p:cNvPr>
          <p:cNvSpPr/>
          <p:nvPr userDrawn="1"/>
        </p:nvSpPr>
        <p:spPr>
          <a:xfrm>
            <a:off x="0" y="0"/>
            <a:ext cx="285591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847A823-6861-4ED7-916A-EB4BF5CE6D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4" y="808073"/>
            <a:ext cx="2163688" cy="840083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Inserire titolo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86D3BA3-83F0-4C02-8636-ACA6EA9DF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2BFC5-F21E-4711-AC0C-65C168EDCE3C}" type="datetime1">
              <a:rPr lang="it-IT" smtClean="0"/>
              <a:t>26/06/2025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CB1FEA7-7590-4AD0-A0B1-480920690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Collaborative Robotics - Course Presentation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95199BD-4F67-4AA1-A795-95C0BF54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67325048-9832-400A-BAC7-02B5977E3E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5"/>
            <a:ext cx="2163762" cy="4429125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it-IT"/>
          </a:p>
        </p:txBody>
      </p:sp>
      <p:sp>
        <p:nvSpPr>
          <p:cNvPr id="9" name="Segnaposto contenuto 8">
            <a:extLst>
              <a:ext uri="{FF2B5EF4-FFF2-40B4-BE49-F238E27FC236}">
                <a16:creationId xmlns:a16="http://schemas.microsoft.com/office/drawing/2014/main" id="{9B8341C8-2CFC-44BF-90C6-72E69DB8889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216275" y="2060575"/>
            <a:ext cx="8640762" cy="3997325"/>
          </a:xfrm>
          <a:noFill/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it-IT"/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1B32F2C4-840A-465D-B8D3-9DE2BF3FC6A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16275" y="6207125"/>
            <a:ext cx="5232400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835770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sfondo colore _ oggetto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11522075" cy="840083"/>
          </a:xfrm>
          <a:prstGeom prst="rect">
            <a:avLst/>
          </a:prstGeom>
        </p:spPr>
        <p:txBody>
          <a:bodyPr/>
          <a:lstStyle/>
          <a:p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5458E8-0508-42CF-A7E2-ABE84A714D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4963" y="2060576"/>
            <a:ext cx="11522075" cy="4146550"/>
          </a:xfrm>
          <a:noFill/>
        </p:spPr>
        <p:txBody>
          <a:bodyPr/>
          <a:lstStyle>
            <a:lvl1pPr>
              <a:defRPr/>
            </a:lvl1pPr>
          </a:lstStyle>
          <a:p>
            <a:pPr lvl="0"/>
            <a:r>
              <a:rPr lang="it-IT"/>
              <a:t>Inserire testo / oggetto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410FA-A203-4AC6-8EA4-3386256EC653}" type="datetime1">
              <a:rPr lang="it-IT" smtClean="0"/>
              <a:t>26/06/2025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Collaborative Robotics - Course Presentation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‹N›</a:t>
            </a:fld>
            <a:endParaRPr lang="it-IT"/>
          </a:p>
        </p:txBody>
      </p:sp>
      <p:sp>
        <p:nvSpPr>
          <p:cNvPr id="7" name="Segnaposto testo 11">
            <a:extLst>
              <a:ext uri="{FF2B5EF4-FFF2-40B4-BE49-F238E27FC236}">
                <a16:creationId xmlns:a16="http://schemas.microsoft.com/office/drawing/2014/main" id="{8E2D0317-6708-4FD8-83CC-23BC5CFD3B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962" y="6207125"/>
            <a:ext cx="5232400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36660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immagine _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858C886A-46B2-4CBC-A989-B9F302647C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20316" y="0"/>
            <a:ext cx="6471684" cy="6489700"/>
          </a:xfrm>
          <a:noFill/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5034479" cy="84008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AC2E-151B-489C-BB8A-0143B7D97FBE}" type="datetime1">
              <a:rPr lang="it-IT" smtClean="0"/>
              <a:t>26/06/2025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Collaborative Robotics - Course Presentation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‹N›</a:t>
            </a:fld>
            <a:endParaRPr lang="it-IT"/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13E84B02-C61F-4F06-B7D2-53B3863108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060575"/>
            <a:ext cx="5106987" cy="4429125"/>
          </a:xfrm>
        </p:spPr>
        <p:txBody>
          <a:bodyPr/>
          <a:lstStyle/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022925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immagine _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>
            <a:extLst>
              <a:ext uri="{FF2B5EF4-FFF2-40B4-BE49-F238E27FC236}">
                <a16:creationId xmlns:a16="http://schemas.microsoft.com/office/drawing/2014/main" id="{BF578AB8-DC96-4BF4-9F97-D7DA508CF3E9}"/>
              </a:ext>
            </a:extLst>
          </p:cNvPr>
          <p:cNvSpPr/>
          <p:nvPr userDrawn="1"/>
        </p:nvSpPr>
        <p:spPr>
          <a:xfrm>
            <a:off x="0" y="0"/>
            <a:ext cx="2855913" cy="6858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858C886A-46B2-4CBC-A989-B9F302647C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4962" y="812652"/>
            <a:ext cx="5423999" cy="5677048"/>
          </a:xfrm>
          <a:noFill/>
        </p:spPr>
        <p:txBody>
          <a:bodyPr/>
          <a:lstStyle/>
          <a:p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812652"/>
            <a:ext cx="5761038" cy="84008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F259-64BA-4D0B-95E1-FBE3CA367630}" type="datetime1">
              <a:rPr lang="it-IT" smtClean="0"/>
              <a:t>26/06/2025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Collaborative Robotics - Course Presentation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4BEA68D2-13D7-4E83-8B67-3B7D4B3EB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2060575"/>
            <a:ext cx="5761038" cy="442912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518515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didascalia 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6696458" cy="84008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455E5-E65E-4D4F-ACEB-55BF9816A002}" type="datetime1">
              <a:rPr lang="it-IT" smtClean="0"/>
              <a:t>26/06/2025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Collaborative Robotics - Course Presentation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‹N›</a:t>
            </a:fld>
            <a:endParaRPr lang="it-IT"/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13E84B02-C61F-4F06-B7D2-53B3863108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3" y="2060575"/>
            <a:ext cx="6696458" cy="4429125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9" name="Segnaposto testo 11">
            <a:extLst>
              <a:ext uri="{FF2B5EF4-FFF2-40B4-BE49-F238E27FC236}">
                <a16:creationId xmlns:a16="http://schemas.microsoft.com/office/drawing/2014/main" id="{44C15745-FE91-4F85-912A-DE21BA99A8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31074" y="6207125"/>
            <a:ext cx="4525963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/>
          </a:p>
        </p:txBody>
      </p:sp>
      <p:sp>
        <p:nvSpPr>
          <p:cNvPr id="13" name="Segnaposto contenuto 10">
            <a:extLst>
              <a:ext uri="{FF2B5EF4-FFF2-40B4-BE49-F238E27FC236}">
                <a16:creationId xmlns:a16="http://schemas.microsoft.com/office/drawing/2014/main" id="{981C075B-AD13-4CF1-8E6F-EFDE96C167B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331075" y="800100"/>
            <a:ext cx="4525963" cy="5407025"/>
          </a:xfrm>
          <a:noFill/>
        </p:spPr>
        <p:txBody>
          <a:bodyPr/>
          <a:lstStyle/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39323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didascalia 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F4CC49-BF64-4501-AD26-31299F38C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12652"/>
            <a:ext cx="6696458" cy="840083"/>
          </a:xfrm>
          <a:prstGeom prst="rect">
            <a:avLst/>
          </a:prstGeo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96A4B48-3E59-4C49-8298-F9F8442DA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0F9F3-0A9D-4E3A-8407-7930F5BA80D9}" type="datetime1">
              <a:rPr lang="it-IT" smtClean="0"/>
              <a:t>26/06/2025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74028AC-2CCC-4D8D-959A-F6ABF1395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Collaborative Robotics - Course Presentation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B0D810A-BB19-46E5-95EF-8E0D57F0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t>‹N›</a:t>
            </a:fld>
            <a:endParaRPr lang="it-IT"/>
          </a:p>
        </p:txBody>
      </p:sp>
      <p:sp>
        <p:nvSpPr>
          <p:cNvPr id="12" name="Segnaposto testo 11">
            <a:extLst>
              <a:ext uri="{FF2B5EF4-FFF2-40B4-BE49-F238E27FC236}">
                <a16:creationId xmlns:a16="http://schemas.microsoft.com/office/drawing/2014/main" id="{13E84B02-C61F-4F06-B7D2-53B3863108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962" y="2060575"/>
            <a:ext cx="6696457" cy="4429125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9" name="Segnaposto testo 11">
            <a:extLst>
              <a:ext uri="{FF2B5EF4-FFF2-40B4-BE49-F238E27FC236}">
                <a16:creationId xmlns:a16="http://schemas.microsoft.com/office/drawing/2014/main" id="{44C15745-FE91-4F85-912A-DE21BA99A8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31074" y="6207125"/>
            <a:ext cx="4525963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/>
          </a:p>
        </p:txBody>
      </p:sp>
      <p:sp>
        <p:nvSpPr>
          <p:cNvPr id="14" name="Segnaposto testo 11">
            <a:extLst>
              <a:ext uri="{FF2B5EF4-FFF2-40B4-BE49-F238E27FC236}">
                <a16:creationId xmlns:a16="http://schemas.microsoft.com/office/drawing/2014/main" id="{347D0FBD-1472-468C-84DA-540ADCCDF1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31074" y="3138105"/>
            <a:ext cx="4525963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/>
          </a:p>
        </p:txBody>
      </p:sp>
      <p:sp>
        <p:nvSpPr>
          <p:cNvPr id="18" name="Segnaposto contenuto 10">
            <a:extLst>
              <a:ext uri="{FF2B5EF4-FFF2-40B4-BE49-F238E27FC236}">
                <a16:creationId xmlns:a16="http://schemas.microsoft.com/office/drawing/2014/main" id="{AE654BE7-A245-475E-B2C5-2D5C0EA5B87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7331075" y="3867807"/>
            <a:ext cx="4525963" cy="2339318"/>
          </a:xfrm>
          <a:noFill/>
        </p:spPr>
        <p:txBody>
          <a:bodyPr/>
          <a:lstStyle/>
          <a:p>
            <a:pPr lvl="0"/>
            <a:endParaRPr lang="it-IT"/>
          </a:p>
        </p:txBody>
      </p:sp>
      <p:sp>
        <p:nvSpPr>
          <p:cNvPr id="19" name="Segnaposto contenuto 10">
            <a:extLst>
              <a:ext uri="{FF2B5EF4-FFF2-40B4-BE49-F238E27FC236}">
                <a16:creationId xmlns:a16="http://schemas.microsoft.com/office/drawing/2014/main" id="{C7FD40C7-9A42-4239-BA55-CFB8D43C528F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7331075" y="799291"/>
            <a:ext cx="4525963" cy="2339318"/>
          </a:xfrm>
          <a:noFill/>
        </p:spPr>
        <p:txBody>
          <a:bodyPr/>
          <a:lstStyle/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62106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didascalia _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4" y="808073"/>
            <a:ext cx="8640000" cy="840083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90CC4-EEB7-41C1-9BF4-EAB819B61B9B}" type="datetime1">
              <a:rPr lang="it-IT" smtClean="0"/>
              <a:t>26/06/2025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Collaborative Robotics - Course Presentation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3" y="2060576"/>
            <a:ext cx="8640000" cy="761756"/>
          </a:xfrm>
        </p:spPr>
        <p:txBody>
          <a:bodyPr/>
          <a:lstStyle/>
          <a:p>
            <a:pPr lvl="0"/>
            <a:endParaRPr lang="it-IT"/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D48807E7-406F-46DA-A7FF-0C9752585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63" y="3234752"/>
            <a:ext cx="5423999" cy="2972374"/>
          </a:xfrm>
          <a:noFill/>
        </p:spPr>
        <p:txBody>
          <a:bodyPr/>
          <a:lstStyle/>
          <a:p>
            <a:pPr lvl="0"/>
            <a:endParaRPr lang="it-IT"/>
          </a:p>
        </p:txBody>
      </p:sp>
      <p:sp>
        <p:nvSpPr>
          <p:cNvPr id="9" name="Segnaposto testo 11">
            <a:extLst>
              <a:ext uri="{FF2B5EF4-FFF2-40B4-BE49-F238E27FC236}">
                <a16:creationId xmlns:a16="http://schemas.microsoft.com/office/drawing/2014/main" id="{833CAB92-1558-4E15-91D9-6F44CDF88BF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962" y="6207125"/>
            <a:ext cx="5423999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B0E56354-394B-4187-9F9C-3EC0AFE56EF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6463201" y="3234752"/>
            <a:ext cx="5423999" cy="2972374"/>
          </a:xfrm>
          <a:noFill/>
        </p:spPr>
        <p:txBody>
          <a:bodyPr/>
          <a:lstStyle/>
          <a:p>
            <a:pPr lvl="0"/>
            <a:endParaRPr lang="it-IT"/>
          </a:p>
        </p:txBody>
      </p:sp>
      <p:sp>
        <p:nvSpPr>
          <p:cNvPr id="11" name="Segnaposto testo 11">
            <a:extLst>
              <a:ext uri="{FF2B5EF4-FFF2-40B4-BE49-F238E27FC236}">
                <a16:creationId xmlns:a16="http://schemas.microsoft.com/office/drawing/2014/main" id="{FA2B0198-8A91-4620-9797-8C5B2DBFE18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63200" y="6207125"/>
            <a:ext cx="5423999" cy="282575"/>
          </a:xfrm>
        </p:spPr>
        <p:txBody>
          <a:bodyPr anchor="b">
            <a:normAutofit/>
          </a:bodyPr>
          <a:lstStyle>
            <a:lvl1pPr>
              <a:defRPr sz="900"/>
            </a:lvl1pPr>
          </a:lstStyle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97318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grafica _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BAA8E8E9-CF16-408F-8D84-BC8F1DE0AE37}"/>
              </a:ext>
            </a:extLst>
          </p:cNvPr>
          <p:cNvCxnSpPr>
            <a:cxnSpLocks/>
          </p:cNvCxnSpPr>
          <p:nvPr userDrawn="1"/>
        </p:nvCxnSpPr>
        <p:spPr>
          <a:xfrm>
            <a:off x="6096000" y="0"/>
            <a:ext cx="0" cy="6858000"/>
          </a:xfrm>
          <a:prstGeom prst="line">
            <a:avLst/>
          </a:prstGeom>
          <a:ln w="6350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e 12">
            <a:extLst>
              <a:ext uri="{FF2B5EF4-FFF2-40B4-BE49-F238E27FC236}">
                <a16:creationId xmlns:a16="http://schemas.microsoft.com/office/drawing/2014/main" id="{769E06E2-5F0D-4920-A3E9-64AE757EB613}"/>
              </a:ext>
            </a:extLst>
          </p:cNvPr>
          <p:cNvSpPr/>
          <p:nvPr userDrawn="1"/>
        </p:nvSpPr>
        <p:spPr>
          <a:xfrm>
            <a:off x="315427" y="709127"/>
            <a:ext cx="5780573" cy="5780573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Ovale 13">
            <a:extLst>
              <a:ext uri="{FF2B5EF4-FFF2-40B4-BE49-F238E27FC236}">
                <a16:creationId xmlns:a16="http://schemas.microsoft.com/office/drawing/2014/main" id="{2313FBE5-F1C4-4411-B0A7-486C895AF990}"/>
              </a:ext>
            </a:extLst>
          </p:cNvPr>
          <p:cNvSpPr/>
          <p:nvPr userDrawn="1"/>
        </p:nvSpPr>
        <p:spPr>
          <a:xfrm>
            <a:off x="6096000" y="709127"/>
            <a:ext cx="5780573" cy="5780573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3EAC-F0AF-40C0-8564-5C0D8AAA5A3E}" type="datetime1">
              <a:rPr lang="it-IT" smtClean="0"/>
              <a:t>26/06/2025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Collaborative Robotics - Course Presentation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04950" y="2887039"/>
            <a:ext cx="3400570" cy="210620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it-IT"/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58D49EF2-5E35-412C-A5DD-2A6A604FC3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79792" y="2887039"/>
            <a:ext cx="3400570" cy="210620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endParaRPr lang="it-IT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2E32AEAB-53EF-4B9D-AE36-D26FBF01B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04950" y="2239963"/>
            <a:ext cx="3400425" cy="441325"/>
          </a:xfrm>
        </p:spPr>
        <p:txBody>
          <a:bodyPr anchor="b">
            <a:norm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</a:t>
            </a:r>
          </a:p>
        </p:txBody>
      </p:sp>
      <p:sp>
        <p:nvSpPr>
          <p:cNvPr id="16" name="Segnaposto testo 9">
            <a:extLst>
              <a:ext uri="{FF2B5EF4-FFF2-40B4-BE49-F238E27FC236}">
                <a16:creationId xmlns:a16="http://schemas.microsoft.com/office/drawing/2014/main" id="{8BDCC8A1-442C-4890-928F-754837D401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79792" y="2239963"/>
            <a:ext cx="3400425" cy="441325"/>
          </a:xfrm>
        </p:spPr>
        <p:txBody>
          <a:bodyPr anchor="b">
            <a:norm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18431287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grafica _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BBF30-5AE6-4366-B5CC-DFAB1A55052C}" type="datetime1">
              <a:rPr lang="it-IT" smtClean="0"/>
              <a:t>26/06/2025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Collaborative Robotics - Course Presentation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8620" y="2887039"/>
            <a:ext cx="3100906" cy="3602662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2E32AEAB-53EF-4B9D-AE36-D26FBF01B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8643" y="2239963"/>
            <a:ext cx="3100906" cy="441325"/>
          </a:xfrm>
        </p:spPr>
        <p:txBody>
          <a:bodyPr anchor="b">
            <a:norm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</a:t>
            </a:r>
          </a:p>
        </p:txBody>
      </p: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066F22CF-5ACC-4388-97EC-12C4EE01108C}"/>
              </a:ext>
            </a:extLst>
          </p:cNvPr>
          <p:cNvCxnSpPr>
            <a:cxnSpLocks/>
          </p:cNvCxnSpPr>
          <p:nvPr userDrawn="1"/>
        </p:nvCxnSpPr>
        <p:spPr>
          <a:xfrm>
            <a:off x="4176734" y="0"/>
            <a:ext cx="0" cy="6858000"/>
          </a:xfrm>
          <a:prstGeom prst="line">
            <a:avLst/>
          </a:prstGeom>
          <a:ln w="6350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e 12">
            <a:extLst>
              <a:ext uri="{FF2B5EF4-FFF2-40B4-BE49-F238E27FC236}">
                <a16:creationId xmlns:a16="http://schemas.microsoft.com/office/drawing/2014/main" id="{769E06E2-5F0D-4920-A3E9-64AE757EB613}"/>
              </a:ext>
            </a:extLst>
          </p:cNvPr>
          <p:cNvSpPr/>
          <p:nvPr userDrawn="1"/>
        </p:nvSpPr>
        <p:spPr>
          <a:xfrm>
            <a:off x="315425" y="2637317"/>
            <a:ext cx="3846583" cy="3846583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D84D0C32-E3D9-4D1A-A1D4-7F677E11FBAC}"/>
              </a:ext>
            </a:extLst>
          </p:cNvPr>
          <p:cNvSpPr/>
          <p:nvPr userDrawn="1"/>
        </p:nvSpPr>
        <p:spPr>
          <a:xfrm>
            <a:off x="8017486" y="2637317"/>
            <a:ext cx="3846583" cy="3846583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20D1A14F-932F-4BEF-AF0D-4A0850EA5900}"/>
              </a:ext>
            </a:extLst>
          </p:cNvPr>
          <p:cNvSpPr/>
          <p:nvPr userDrawn="1"/>
        </p:nvSpPr>
        <p:spPr>
          <a:xfrm>
            <a:off x="4175247" y="2637317"/>
            <a:ext cx="3846583" cy="3846583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9" name="Connettore diritto 28">
            <a:extLst>
              <a:ext uri="{FF2B5EF4-FFF2-40B4-BE49-F238E27FC236}">
                <a16:creationId xmlns:a16="http://schemas.microsoft.com/office/drawing/2014/main" id="{175274AF-A160-4234-871A-D8C5B0DF011E}"/>
              </a:ext>
            </a:extLst>
          </p:cNvPr>
          <p:cNvCxnSpPr>
            <a:cxnSpLocks/>
          </p:cNvCxnSpPr>
          <p:nvPr userDrawn="1"/>
        </p:nvCxnSpPr>
        <p:spPr>
          <a:xfrm>
            <a:off x="8027765" y="0"/>
            <a:ext cx="0" cy="6858000"/>
          </a:xfrm>
          <a:prstGeom prst="line">
            <a:avLst/>
          </a:prstGeom>
          <a:ln w="6350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Segnaposto testo 6">
            <a:extLst>
              <a:ext uri="{FF2B5EF4-FFF2-40B4-BE49-F238E27FC236}">
                <a16:creationId xmlns:a16="http://schemas.microsoft.com/office/drawing/2014/main" id="{0C5DB749-C07B-4557-8B31-C5C44DDA999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51535" y="2887039"/>
            <a:ext cx="3100906" cy="3602662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/>
          </a:p>
        </p:txBody>
      </p:sp>
      <p:sp>
        <p:nvSpPr>
          <p:cNvPr id="31" name="Segnaposto testo 9">
            <a:extLst>
              <a:ext uri="{FF2B5EF4-FFF2-40B4-BE49-F238E27FC236}">
                <a16:creationId xmlns:a16="http://schemas.microsoft.com/office/drawing/2014/main" id="{642D4EEC-FAC4-4C46-BB9F-3BA54588E4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51558" y="2239963"/>
            <a:ext cx="3100906" cy="441325"/>
          </a:xfrm>
        </p:spPr>
        <p:txBody>
          <a:bodyPr anchor="b">
            <a:norm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</a:t>
            </a:r>
          </a:p>
        </p:txBody>
      </p:sp>
      <p:sp>
        <p:nvSpPr>
          <p:cNvPr id="32" name="Segnaposto testo 6">
            <a:extLst>
              <a:ext uri="{FF2B5EF4-FFF2-40B4-BE49-F238E27FC236}">
                <a16:creationId xmlns:a16="http://schemas.microsoft.com/office/drawing/2014/main" id="{8310C023-87FF-43B4-9428-3E2652BDB8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76189" y="2887039"/>
            <a:ext cx="3100906" cy="3602662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/>
          </a:p>
        </p:txBody>
      </p:sp>
      <p:sp>
        <p:nvSpPr>
          <p:cNvPr id="33" name="Segnaposto testo 9">
            <a:extLst>
              <a:ext uri="{FF2B5EF4-FFF2-40B4-BE49-F238E27FC236}">
                <a16:creationId xmlns:a16="http://schemas.microsoft.com/office/drawing/2014/main" id="{0FB8C8B8-D4F7-4669-8F3B-F456A7ECFC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76212" y="2239963"/>
            <a:ext cx="3100906" cy="441325"/>
          </a:xfrm>
        </p:spPr>
        <p:txBody>
          <a:bodyPr anchor="b">
            <a:norm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</a:t>
            </a:r>
          </a:p>
        </p:txBody>
      </p:sp>
    </p:spTree>
    <p:extLst>
      <p:ext uri="{BB962C8B-B14F-4D97-AF65-F5344CB8AC3E}">
        <p14:creationId xmlns:p14="http://schemas.microsoft.com/office/powerpoint/2010/main" val="6309948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grafica _ 4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A5494-8BDF-4A63-B3A5-15E494A16047}" type="datetime1">
              <a:rPr lang="it-IT" smtClean="0"/>
              <a:t>26/06/2025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Collaborative Robotics - Course Presentation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9AF24DE-B4DF-4CF0-A1D8-A9C3833DB7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8620" y="2887039"/>
            <a:ext cx="2503621" cy="3602662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/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2E32AEAB-53EF-4B9D-AE36-D26FBF01B4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8643" y="2239963"/>
            <a:ext cx="2503514" cy="441325"/>
          </a:xfrm>
        </p:spPr>
        <p:txBody>
          <a:bodyPr anchor="b">
            <a:norm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</a:t>
            </a:r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BAA8E8E9-CF16-408F-8D84-BC8F1DE0AE37}"/>
              </a:ext>
            </a:extLst>
          </p:cNvPr>
          <p:cNvCxnSpPr>
            <a:cxnSpLocks/>
          </p:cNvCxnSpPr>
          <p:nvPr userDrawn="1"/>
        </p:nvCxnSpPr>
        <p:spPr>
          <a:xfrm>
            <a:off x="6096000" y="-24549"/>
            <a:ext cx="0" cy="6882549"/>
          </a:xfrm>
          <a:prstGeom prst="line">
            <a:avLst/>
          </a:prstGeom>
          <a:ln w="6350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e 12">
            <a:extLst>
              <a:ext uri="{FF2B5EF4-FFF2-40B4-BE49-F238E27FC236}">
                <a16:creationId xmlns:a16="http://schemas.microsoft.com/office/drawing/2014/main" id="{769E06E2-5F0D-4920-A3E9-64AE757EB613}"/>
              </a:ext>
            </a:extLst>
          </p:cNvPr>
          <p:cNvSpPr/>
          <p:nvPr userDrawn="1"/>
        </p:nvSpPr>
        <p:spPr>
          <a:xfrm>
            <a:off x="339511" y="3544304"/>
            <a:ext cx="2869255" cy="2945397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5" name="Connettore diritto 14">
            <a:extLst>
              <a:ext uri="{FF2B5EF4-FFF2-40B4-BE49-F238E27FC236}">
                <a16:creationId xmlns:a16="http://schemas.microsoft.com/office/drawing/2014/main" id="{066F22CF-5ACC-4388-97EC-12C4EE01108C}"/>
              </a:ext>
            </a:extLst>
          </p:cNvPr>
          <p:cNvCxnSpPr>
            <a:cxnSpLocks/>
          </p:cNvCxnSpPr>
          <p:nvPr userDrawn="1"/>
        </p:nvCxnSpPr>
        <p:spPr>
          <a:xfrm>
            <a:off x="3216275" y="-24549"/>
            <a:ext cx="0" cy="6882549"/>
          </a:xfrm>
          <a:prstGeom prst="line">
            <a:avLst/>
          </a:prstGeom>
          <a:ln w="6350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ttore diritto 19">
            <a:extLst>
              <a:ext uri="{FF2B5EF4-FFF2-40B4-BE49-F238E27FC236}">
                <a16:creationId xmlns:a16="http://schemas.microsoft.com/office/drawing/2014/main" id="{9EF945E3-FEE2-40A3-82CD-7811BFD88746}"/>
              </a:ext>
            </a:extLst>
          </p:cNvPr>
          <p:cNvCxnSpPr>
            <a:cxnSpLocks/>
          </p:cNvCxnSpPr>
          <p:nvPr userDrawn="1"/>
        </p:nvCxnSpPr>
        <p:spPr>
          <a:xfrm>
            <a:off x="8969803" y="-24549"/>
            <a:ext cx="0" cy="6882549"/>
          </a:xfrm>
          <a:prstGeom prst="line">
            <a:avLst/>
          </a:prstGeom>
          <a:ln w="6350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Segnaposto testo 6">
            <a:extLst>
              <a:ext uri="{FF2B5EF4-FFF2-40B4-BE49-F238E27FC236}">
                <a16:creationId xmlns:a16="http://schemas.microsoft.com/office/drawing/2014/main" id="{4DA14660-E3DE-4786-8628-2BDB623B542F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3414561" y="2887039"/>
            <a:ext cx="2503621" cy="3602662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/>
          </a:p>
        </p:txBody>
      </p:sp>
      <p:sp>
        <p:nvSpPr>
          <p:cNvPr id="22" name="Segnaposto testo 9">
            <a:extLst>
              <a:ext uri="{FF2B5EF4-FFF2-40B4-BE49-F238E27FC236}">
                <a16:creationId xmlns:a16="http://schemas.microsoft.com/office/drawing/2014/main" id="{38062A0A-3D00-4F2E-A78C-520C7A8814B0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3414584" y="2239963"/>
            <a:ext cx="2503514" cy="441325"/>
          </a:xfrm>
        </p:spPr>
        <p:txBody>
          <a:bodyPr anchor="b">
            <a:norm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</a:t>
            </a:r>
          </a:p>
        </p:txBody>
      </p:sp>
      <p:sp>
        <p:nvSpPr>
          <p:cNvPr id="23" name="Segnaposto testo 6">
            <a:extLst>
              <a:ext uri="{FF2B5EF4-FFF2-40B4-BE49-F238E27FC236}">
                <a16:creationId xmlns:a16="http://schemas.microsoft.com/office/drawing/2014/main" id="{3FA3924C-C133-43D4-9617-6E7333D996FB}"/>
              </a:ext>
            </a:extLst>
          </p:cNvPr>
          <p:cNvSpPr>
            <a:spLocks noGrp="1"/>
          </p:cNvSpPr>
          <p:nvPr userDrawn="1">
            <p:ph type="body" sz="quarter" idx="18"/>
          </p:nvPr>
        </p:nvSpPr>
        <p:spPr>
          <a:xfrm>
            <a:off x="6250229" y="2887039"/>
            <a:ext cx="2503621" cy="3602662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/>
          </a:p>
        </p:txBody>
      </p:sp>
      <p:sp>
        <p:nvSpPr>
          <p:cNvPr id="24" name="Segnaposto testo 9">
            <a:extLst>
              <a:ext uri="{FF2B5EF4-FFF2-40B4-BE49-F238E27FC236}">
                <a16:creationId xmlns:a16="http://schemas.microsoft.com/office/drawing/2014/main" id="{4F293ED1-7D64-49B8-81A0-5F5FB11E3592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250252" y="2239963"/>
            <a:ext cx="2503514" cy="441325"/>
          </a:xfrm>
        </p:spPr>
        <p:txBody>
          <a:bodyPr anchor="b">
            <a:norm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34980872-E501-48A5-8B13-B7016BEEE029}"/>
              </a:ext>
            </a:extLst>
          </p:cNvPr>
          <p:cNvSpPr>
            <a:spLocks noGrp="1"/>
          </p:cNvSpPr>
          <p:nvPr userDrawn="1">
            <p:ph type="body" sz="quarter" idx="20"/>
          </p:nvPr>
        </p:nvSpPr>
        <p:spPr>
          <a:xfrm>
            <a:off x="9157816" y="2887039"/>
            <a:ext cx="2503621" cy="3602662"/>
          </a:xfrm>
        </p:spPr>
        <p:txBody>
          <a:bodyPr>
            <a:normAutofit/>
          </a:bodyPr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it-IT"/>
          </a:p>
        </p:txBody>
      </p:sp>
      <p:sp>
        <p:nvSpPr>
          <p:cNvPr id="26" name="Segnaposto testo 9">
            <a:extLst>
              <a:ext uri="{FF2B5EF4-FFF2-40B4-BE49-F238E27FC236}">
                <a16:creationId xmlns:a16="http://schemas.microsoft.com/office/drawing/2014/main" id="{7359F283-E0AA-4871-A428-A58C8F3F0AAC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9157839" y="2239963"/>
            <a:ext cx="2503514" cy="441325"/>
          </a:xfrm>
        </p:spPr>
        <p:txBody>
          <a:bodyPr anchor="b">
            <a:normAutofit/>
          </a:bodyPr>
          <a:lstStyle>
            <a:lvl1pPr>
              <a:defRPr sz="1400" b="1">
                <a:latin typeface="+mj-lt"/>
              </a:defRPr>
            </a:lvl1pPr>
            <a:lvl2pPr>
              <a:defRPr b="1">
                <a:latin typeface="+mj-lt"/>
              </a:defRPr>
            </a:lvl2pPr>
            <a:lvl3pPr>
              <a:defRPr b="1">
                <a:latin typeface="+mj-lt"/>
              </a:defRPr>
            </a:lvl3pPr>
            <a:lvl4pPr>
              <a:defRPr b="1">
                <a:latin typeface="+mj-lt"/>
              </a:defRPr>
            </a:lvl4pPr>
            <a:lvl5pPr>
              <a:defRPr b="1">
                <a:latin typeface="+mj-lt"/>
              </a:defRPr>
            </a:lvl5pPr>
          </a:lstStyle>
          <a:p>
            <a:pPr lvl="0"/>
            <a:r>
              <a:rPr lang="it-IT"/>
              <a:t>TITOLO</a:t>
            </a:r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101D1BE9-9067-430D-A318-4BC1405F006A}"/>
              </a:ext>
            </a:extLst>
          </p:cNvPr>
          <p:cNvSpPr/>
          <p:nvPr userDrawn="1"/>
        </p:nvSpPr>
        <p:spPr>
          <a:xfrm>
            <a:off x="3223388" y="3544304"/>
            <a:ext cx="2869255" cy="2945397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F88114C5-1930-4807-8B76-4565A5FFB9B5}"/>
              </a:ext>
            </a:extLst>
          </p:cNvPr>
          <p:cNvSpPr/>
          <p:nvPr userDrawn="1"/>
        </p:nvSpPr>
        <p:spPr>
          <a:xfrm>
            <a:off x="6089680" y="3544304"/>
            <a:ext cx="2869255" cy="2945397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E2D6333A-9B81-4325-A926-22F5E403D75F}"/>
              </a:ext>
            </a:extLst>
          </p:cNvPr>
          <p:cNvSpPr/>
          <p:nvPr userDrawn="1"/>
        </p:nvSpPr>
        <p:spPr>
          <a:xfrm>
            <a:off x="8964764" y="3544304"/>
            <a:ext cx="2869255" cy="2945397"/>
          </a:xfrm>
          <a:prstGeom prst="ellipse">
            <a:avLst/>
          </a:prstGeom>
          <a:noFill/>
          <a:ln w="6350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10402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Evidenza _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3" y="1325365"/>
            <a:ext cx="11522075" cy="4222679"/>
          </a:xfrm>
        </p:spPr>
        <p:txBody>
          <a:bodyPr anchor="ctr"/>
          <a:lstStyle>
            <a:lvl1pPr>
              <a:defRPr sz="4000" b="0"/>
            </a:lvl1pPr>
          </a:lstStyle>
          <a:p>
            <a:r>
              <a:rPr lang="it-IT"/>
              <a:t>Inserire testo in evidenza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EEBF1-C957-4B8C-8DFF-03B40950BF11}" type="datetime1">
              <a:rPr lang="it-IT" smtClean="0"/>
              <a:t>26/06/2025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Collaborative Robotics - Course Presentation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6FCB4558-5B0B-4E68-99C0-73044CD4F7EE}"/>
              </a:ext>
            </a:extLst>
          </p:cNvPr>
          <p:cNvSpPr/>
          <p:nvPr userDrawn="1"/>
        </p:nvSpPr>
        <p:spPr>
          <a:xfrm>
            <a:off x="-1366766" y="1325366"/>
            <a:ext cx="4222679" cy="4222679"/>
          </a:xfrm>
          <a:prstGeom prst="ellipse">
            <a:avLst/>
          </a:prstGeom>
          <a:noFill/>
          <a:ln w="9525">
            <a:solidFill>
              <a:schemeClr val="accent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5CD3E5C6-1FD7-4A9E-A65F-282056577FB3}"/>
              </a:ext>
            </a:extLst>
          </p:cNvPr>
          <p:cNvCxnSpPr>
            <a:cxnSpLocks/>
          </p:cNvCxnSpPr>
          <p:nvPr userDrawn="1"/>
        </p:nvCxnSpPr>
        <p:spPr>
          <a:xfrm>
            <a:off x="0" y="1325366"/>
            <a:ext cx="12192000" cy="0"/>
          </a:xfrm>
          <a:prstGeom prst="line">
            <a:avLst/>
          </a:prstGeom>
          <a:ln w="9525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D9DB920E-F5AB-4AF8-BFFC-D380A2D7FEAE}"/>
              </a:ext>
            </a:extLst>
          </p:cNvPr>
          <p:cNvCxnSpPr>
            <a:cxnSpLocks/>
          </p:cNvCxnSpPr>
          <p:nvPr userDrawn="1"/>
        </p:nvCxnSpPr>
        <p:spPr>
          <a:xfrm>
            <a:off x="0" y="5548045"/>
            <a:ext cx="12192000" cy="0"/>
          </a:xfrm>
          <a:prstGeom prst="line">
            <a:avLst/>
          </a:prstGeom>
          <a:ln w="9525">
            <a:solidFill>
              <a:schemeClr val="accent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028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Evidenza _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3F10C0-5DFE-4F2B-84B3-498D1D283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771" y="1775639"/>
            <a:ext cx="10664455" cy="2317896"/>
          </a:xfrm>
          <a:ln>
            <a:noFill/>
          </a:ln>
        </p:spPr>
        <p:txBody>
          <a:bodyPr anchor="b"/>
          <a:lstStyle>
            <a:lvl1pPr algn="ctr"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it-IT"/>
              <a:t>Inserire testo in evidenza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E31426-2C15-4249-84C9-7FF9F8F23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D4325E-7988-4CAF-848C-5E90DE4E6299}" type="datetime1">
              <a:rPr lang="it-IT" smtClean="0"/>
              <a:t>26/06/2025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9023663-EBF6-4678-A4B6-3D84BCA8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Collaborative Robotics - Course Presentation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37DEFB-BB2F-4195-B6BA-04AAE853B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  <p:sp>
        <p:nvSpPr>
          <p:cNvPr id="9" name="Ovale 8">
            <a:extLst>
              <a:ext uri="{FF2B5EF4-FFF2-40B4-BE49-F238E27FC236}">
                <a16:creationId xmlns:a16="http://schemas.microsoft.com/office/drawing/2014/main" id="{6FCB4558-5B0B-4E68-99C0-73044CD4F7EE}"/>
              </a:ext>
            </a:extLst>
          </p:cNvPr>
          <p:cNvSpPr/>
          <p:nvPr userDrawn="1"/>
        </p:nvSpPr>
        <p:spPr>
          <a:xfrm>
            <a:off x="3233122" y="757946"/>
            <a:ext cx="5725755" cy="5725755"/>
          </a:xfrm>
          <a:prstGeom prst="ellipse">
            <a:avLst/>
          </a:prstGeom>
          <a:noFill/>
          <a:ln w="9525">
            <a:solidFill>
              <a:schemeClr val="bg1">
                <a:alpha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5CD3E5C6-1FD7-4A9E-A65F-282056577FB3}"/>
              </a:ext>
            </a:extLst>
          </p:cNvPr>
          <p:cNvCxnSpPr>
            <a:cxnSpLocks/>
          </p:cNvCxnSpPr>
          <p:nvPr userDrawn="1"/>
        </p:nvCxnSpPr>
        <p:spPr>
          <a:xfrm>
            <a:off x="0" y="729943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D9DB920E-F5AB-4AF8-BFFC-D380A2D7FEAE}"/>
              </a:ext>
            </a:extLst>
          </p:cNvPr>
          <p:cNvCxnSpPr>
            <a:cxnSpLocks/>
          </p:cNvCxnSpPr>
          <p:nvPr userDrawn="1"/>
        </p:nvCxnSpPr>
        <p:spPr>
          <a:xfrm>
            <a:off x="0" y="6483710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5FA801A9-B23D-4656-8AFA-3E413EDFA6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3588" y="4536830"/>
            <a:ext cx="10664825" cy="60190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61244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ttangolo 252"/>
          <p:cNvSpPr/>
          <p:nvPr userDrawn="1"/>
        </p:nvSpPr>
        <p:spPr>
          <a:xfrm>
            <a:off x="0" y="12813"/>
            <a:ext cx="12192000" cy="840400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09600" y="1600201"/>
            <a:ext cx="11098301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29" name="Rettangolo 128"/>
          <p:cNvSpPr/>
          <p:nvPr userDrawn="1"/>
        </p:nvSpPr>
        <p:spPr>
          <a:xfrm>
            <a:off x="0" y="6346379"/>
            <a:ext cx="12192000" cy="511621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130" name="CasellaDiTesto 129"/>
          <p:cNvSpPr txBox="1"/>
          <p:nvPr userDrawn="1"/>
        </p:nvSpPr>
        <p:spPr>
          <a:xfrm>
            <a:off x="210371" y="6479256"/>
            <a:ext cx="18614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>
                <a:solidFill>
                  <a:srgbClr val="FFFFFF"/>
                </a:solidFill>
                <a:latin typeface="Arial"/>
                <a:cs typeface="Arial"/>
              </a:rPr>
              <a:t>Collaborative </a:t>
            </a:r>
            <a:r>
              <a:rPr lang="it-IT" sz="1200" b="1" err="1">
                <a:solidFill>
                  <a:srgbClr val="FFFFFF"/>
                </a:solidFill>
                <a:latin typeface="Arial"/>
                <a:cs typeface="Arial"/>
              </a:rPr>
              <a:t>Robotics</a:t>
            </a:r>
            <a:endParaRPr lang="it-IT" sz="1200" b="1">
              <a:solidFill>
                <a:srgbClr val="FFFFFF"/>
              </a:solidFill>
              <a:latin typeface="Arial"/>
              <a:cs typeface="Arial"/>
            </a:endParaRPr>
          </a:p>
        </p:txBody>
      </p:sp>
      <p:grpSp>
        <p:nvGrpSpPr>
          <p:cNvPr id="132" name="Gruppo 131"/>
          <p:cNvGrpSpPr/>
          <p:nvPr userDrawn="1"/>
        </p:nvGrpSpPr>
        <p:grpSpPr>
          <a:xfrm>
            <a:off x="64010" y="673212"/>
            <a:ext cx="12048863" cy="180000"/>
            <a:chOff x="1218340" y="275867"/>
            <a:chExt cx="17715122" cy="567843"/>
          </a:xfrm>
        </p:grpSpPr>
        <p:cxnSp>
          <p:nvCxnSpPr>
            <p:cNvPr id="133" name="Connettore 1 132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ttore 1 133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ttore 1 134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ttore 1 135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ttore 1 136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ttore 1 137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ttore 1 138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nettore 1 139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ttore 1 140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ttore 1 141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ttore 1 142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ttore 1 143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ttore 1 144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ttore 1 145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ttore 1 146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ttore 1 147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ttore 1 148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nettore 1 149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nettore 1 150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nettore 1 151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ttore 1 152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Connettore 1 153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nettore 1 154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ttore 1 155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ttore 1 156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ttore 1 157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ttore 1 158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ttore 1 159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ttore 1 160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ttore 1 161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ttore 1 162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ttore 1 163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ttore 1 164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nettore 1 165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ttore 1 166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ttore 1 167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ttore 1 168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ttore 1 169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4" name="Picture 2" descr="Y:\IMMAGINE _COORDINATA_2014\PPT\modello1\loghi_PNG\03_Polimi_logotipo_bandiera-1riga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2868" y="6462129"/>
            <a:ext cx="2960496" cy="28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1447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ttangolo 252"/>
          <p:cNvSpPr/>
          <p:nvPr userDrawn="1"/>
        </p:nvSpPr>
        <p:spPr>
          <a:xfrm>
            <a:off x="0" y="1"/>
            <a:ext cx="12192000" cy="1269904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09600" y="1600201"/>
            <a:ext cx="11098301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29" name="Rettangolo 128"/>
          <p:cNvSpPr/>
          <p:nvPr userDrawn="1"/>
        </p:nvSpPr>
        <p:spPr>
          <a:xfrm>
            <a:off x="0" y="6126163"/>
            <a:ext cx="12192000" cy="731837"/>
          </a:xfrm>
          <a:prstGeom prst="rect">
            <a:avLst/>
          </a:prstGeom>
          <a:solidFill>
            <a:srgbClr val="728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800"/>
          </a:p>
        </p:txBody>
      </p:sp>
      <p:sp>
        <p:nvSpPr>
          <p:cNvPr id="130" name="CasellaDiTesto 129"/>
          <p:cNvSpPr txBox="1"/>
          <p:nvPr userDrawn="1"/>
        </p:nvSpPr>
        <p:spPr>
          <a:xfrm>
            <a:off x="210371" y="6363506"/>
            <a:ext cx="18614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200" b="1">
                <a:solidFill>
                  <a:srgbClr val="FFFFFF"/>
                </a:solidFill>
                <a:latin typeface="Arial"/>
                <a:cs typeface="Arial"/>
              </a:rPr>
              <a:t>Collaborative </a:t>
            </a:r>
            <a:r>
              <a:rPr lang="it-IT" sz="1200" b="1" err="1">
                <a:solidFill>
                  <a:srgbClr val="FFFFFF"/>
                </a:solidFill>
                <a:latin typeface="Arial"/>
                <a:cs typeface="Arial"/>
              </a:rPr>
              <a:t>Robotics</a:t>
            </a:r>
            <a:endParaRPr lang="it-IT" sz="1200" b="1">
              <a:solidFill>
                <a:srgbClr val="FFFFFF"/>
              </a:solidFill>
              <a:latin typeface="Arial"/>
              <a:cs typeface="Arial"/>
            </a:endParaRPr>
          </a:p>
        </p:txBody>
      </p:sp>
      <p:grpSp>
        <p:nvGrpSpPr>
          <p:cNvPr id="132" name="Gruppo 131"/>
          <p:cNvGrpSpPr/>
          <p:nvPr userDrawn="1"/>
        </p:nvGrpSpPr>
        <p:grpSpPr>
          <a:xfrm>
            <a:off x="64010" y="1089904"/>
            <a:ext cx="12048863" cy="180000"/>
            <a:chOff x="1218340" y="275867"/>
            <a:chExt cx="17715122" cy="567843"/>
          </a:xfrm>
        </p:grpSpPr>
        <p:cxnSp>
          <p:nvCxnSpPr>
            <p:cNvPr id="133" name="Connettore 1 132"/>
            <p:cNvCxnSpPr/>
            <p:nvPr userDrawn="1"/>
          </p:nvCxnSpPr>
          <p:spPr>
            <a:xfrm>
              <a:off x="12183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ttore 1 133"/>
            <p:cNvCxnSpPr/>
            <p:nvPr userDrawn="1"/>
          </p:nvCxnSpPr>
          <p:spPr>
            <a:xfrm>
              <a:off x="13672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ttore 1 134"/>
            <p:cNvCxnSpPr/>
            <p:nvPr userDrawn="1"/>
          </p:nvCxnSpPr>
          <p:spPr>
            <a:xfrm>
              <a:off x="15160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ttore 1 135"/>
            <p:cNvCxnSpPr/>
            <p:nvPr userDrawn="1"/>
          </p:nvCxnSpPr>
          <p:spPr>
            <a:xfrm>
              <a:off x="16649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ttore 1 136"/>
            <p:cNvCxnSpPr/>
            <p:nvPr userDrawn="1"/>
          </p:nvCxnSpPr>
          <p:spPr>
            <a:xfrm>
              <a:off x="18138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ttore 1 137"/>
            <p:cNvCxnSpPr/>
            <p:nvPr userDrawn="1"/>
          </p:nvCxnSpPr>
          <p:spPr>
            <a:xfrm>
              <a:off x="19626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ttore 1 138"/>
            <p:cNvCxnSpPr/>
            <p:nvPr userDrawn="1"/>
          </p:nvCxnSpPr>
          <p:spPr>
            <a:xfrm>
              <a:off x="21115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nettore 1 139"/>
            <p:cNvCxnSpPr/>
            <p:nvPr userDrawn="1"/>
          </p:nvCxnSpPr>
          <p:spPr>
            <a:xfrm>
              <a:off x="22604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ttore 1 140"/>
            <p:cNvCxnSpPr/>
            <p:nvPr userDrawn="1"/>
          </p:nvCxnSpPr>
          <p:spPr>
            <a:xfrm>
              <a:off x="24092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ttore 1 141"/>
            <p:cNvCxnSpPr/>
            <p:nvPr userDrawn="1"/>
          </p:nvCxnSpPr>
          <p:spPr>
            <a:xfrm>
              <a:off x="25581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ttore 1 142"/>
            <p:cNvCxnSpPr/>
            <p:nvPr userDrawn="1"/>
          </p:nvCxnSpPr>
          <p:spPr>
            <a:xfrm>
              <a:off x="27070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ttore 1 143"/>
            <p:cNvCxnSpPr/>
            <p:nvPr userDrawn="1"/>
          </p:nvCxnSpPr>
          <p:spPr>
            <a:xfrm>
              <a:off x="28558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ttore 1 144"/>
            <p:cNvCxnSpPr/>
            <p:nvPr userDrawn="1"/>
          </p:nvCxnSpPr>
          <p:spPr>
            <a:xfrm>
              <a:off x="30047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ttore 1 145"/>
            <p:cNvCxnSpPr/>
            <p:nvPr userDrawn="1"/>
          </p:nvCxnSpPr>
          <p:spPr>
            <a:xfrm>
              <a:off x="31536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ttore 1 146"/>
            <p:cNvCxnSpPr/>
            <p:nvPr userDrawn="1"/>
          </p:nvCxnSpPr>
          <p:spPr>
            <a:xfrm>
              <a:off x="33024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ttore 1 147"/>
            <p:cNvCxnSpPr/>
            <p:nvPr userDrawn="1"/>
          </p:nvCxnSpPr>
          <p:spPr>
            <a:xfrm>
              <a:off x="34513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ttore 1 148"/>
            <p:cNvCxnSpPr/>
            <p:nvPr userDrawn="1"/>
          </p:nvCxnSpPr>
          <p:spPr>
            <a:xfrm>
              <a:off x="36002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nettore 1 149"/>
            <p:cNvCxnSpPr/>
            <p:nvPr userDrawn="1"/>
          </p:nvCxnSpPr>
          <p:spPr>
            <a:xfrm>
              <a:off x="37490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nettore 1 150"/>
            <p:cNvCxnSpPr/>
            <p:nvPr userDrawn="1"/>
          </p:nvCxnSpPr>
          <p:spPr>
            <a:xfrm>
              <a:off x="38979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nettore 1 151"/>
            <p:cNvCxnSpPr/>
            <p:nvPr userDrawn="1"/>
          </p:nvCxnSpPr>
          <p:spPr>
            <a:xfrm>
              <a:off x="404681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ttore 1 152"/>
            <p:cNvCxnSpPr/>
            <p:nvPr userDrawn="1"/>
          </p:nvCxnSpPr>
          <p:spPr>
            <a:xfrm>
              <a:off x="419568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Connettore 1 153"/>
            <p:cNvCxnSpPr/>
            <p:nvPr userDrawn="1"/>
          </p:nvCxnSpPr>
          <p:spPr>
            <a:xfrm>
              <a:off x="434454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nettore 1 154"/>
            <p:cNvCxnSpPr/>
            <p:nvPr userDrawn="1"/>
          </p:nvCxnSpPr>
          <p:spPr>
            <a:xfrm>
              <a:off x="449341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ttore 1 155"/>
            <p:cNvCxnSpPr/>
            <p:nvPr userDrawn="1"/>
          </p:nvCxnSpPr>
          <p:spPr>
            <a:xfrm>
              <a:off x="464228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ttore 1 156"/>
            <p:cNvCxnSpPr/>
            <p:nvPr userDrawn="1"/>
          </p:nvCxnSpPr>
          <p:spPr>
            <a:xfrm>
              <a:off x="479114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ttore 1 157"/>
            <p:cNvCxnSpPr/>
            <p:nvPr userDrawn="1"/>
          </p:nvCxnSpPr>
          <p:spPr>
            <a:xfrm>
              <a:off x="494001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ttore 1 158"/>
            <p:cNvCxnSpPr/>
            <p:nvPr userDrawn="1"/>
          </p:nvCxnSpPr>
          <p:spPr>
            <a:xfrm>
              <a:off x="508888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ttore 1 159"/>
            <p:cNvCxnSpPr/>
            <p:nvPr userDrawn="1"/>
          </p:nvCxnSpPr>
          <p:spPr>
            <a:xfrm>
              <a:off x="523774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ttore 1 160"/>
            <p:cNvCxnSpPr/>
            <p:nvPr userDrawn="1"/>
          </p:nvCxnSpPr>
          <p:spPr>
            <a:xfrm>
              <a:off x="538661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ttore 1 161"/>
            <p:cNvCxnSpPr/>
            <p:nvPr userDrawn="1"/>
          </p:nvCxnSpPr>
          <p:spPr>
            <a:xfrm>
              <a:off x="553548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ttore 1 162"/>
            <p:cNvCxnSpPr/>
            <p:nvPr userDrawn="1"/>
          </p:nvCxnSpPr>
          <p:spPr>
            <a:xfrm>
              <a:off x="568435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ttore 1 163"/>
            <p:cNvCxnSpPr/>
            <p:nvPr userDrawn="1"/>
          </p:nvCxnSpPr>
          <p:spPr>
            <a:xfrm>
              <a:off x="583321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ttore 1 164"/>
            <p:cNvCxnSpPr/>
            <p:nvPr userDrawn="1"/>
          </p:nvCxnSpPr>
          <p:spPr>
            <a:xfrm>
              <a:off x="598208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nettore 1 165"/>
            <p:cNvCxnSpPr/>
            <p:nvPr userDrawn="1"/>
          </p:nvCxnSpPr>
          <p:spPr>
            <a:xfrm>
              <a:off x="613095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ttore 1 166"/>
            <p:cNvCxnSpPr/>
            <p:nvPr userDrawn="1"/>
          </p:nvCxnSpPr>
          <p:spPr>
            <a:xfrm>
              <a:off x="627981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ttore 1 167"/>
            <p:cNvCxnSpPr/>
            <p:nvPr userDrawn="1"/>
          </p:nvCxnSpPr>
          <p:spPr>
            <a:xfrm>
              <a:off x="642868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ttore 1 168"/>
            <p:cNvCxnSpPr/>
            <p:nvPr userDrawn="1"/>
          </p:nvCxnSpPr>
          <p:spPr>
            <a:xfrm>
              <a:off x="657755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ttore 1 169"/>
            <p:cNvCxnSpPr/>
            <p:nvPr userDrawn="1"/>
          </p:nvCxnSpPr>
          <p:spPr>
            <a:xfrm>
              <a:off x="672641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ttore 1 170"/>
            <p:cNvCxnSpPr/>
            <p:nvPr userDrawn="1"/>
          </p:nvCxnSpPr>
          <p:spPr>
            <a:xfrm>
              <a:off x="687528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nettore 1 171"/>
            <p:cNvCxnSpPr/>
            <p:nvPr userDrawn="1"/>
          </p:nvCxnSpPr>
          <p:spPr>
            <a:xfrm>
              <a:off x="702415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nettore 1 172"/>
            <p:cNvCxnSpPr/>
            <p:nvPr userDrawn="1"/>
          </p:nvCxnSpPr>
          <p:spPr>
            <a:xfrm>
              <a:off x="717302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ttore 1 173"/>
            <p:cNvCxnSpPr/>
            <p:nvPr userDrawn="1"/>
          </p:nvCxnSpPr>
          <p:spPr>
            <a:xfrm>
              <a:off x="732188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ttore 1 174"/>
            <p:cNvCxnSpPr/>
            <p:nvPr userDrawn="1"/>
          </p:nvCxnSpPr>
          <p:spPr>
            <a:xfrm>
              <a:off x="747075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ttore 1 175"/>
            <p:cNvCxnSpPr/>
            <p:nvPr userDrawn="1"/>
          </p:nvCxnSpPr>
          <p:spPr>
            <a:xfrm>
              <a:off x="761962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ttore 1 176"/>
            <p:cNvCxnSpPr/>
            <p:nvPr userDrawn="1"/>
          </p:nvCxnSpPr>
          <p:spPr>
            <a:xfrm>
              <a:off x="776848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ttore 1 177"/>
            <p:cNvCxnSpPr/>
            <p:nvPr userDrawn="1"/>
          </p:nvCxnSpPr>
          <p:spPr>
            <a:xfrm>
              <a:off x="791735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ttore 1 178"/>
            <p:cNvCxnSpPr/>
            <p:nvPr userDrawn="1"/>
          </p:nvCxnSpPr>
          <p:spPr>
            <a:xfrm>
              <a:off x="806622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ttore 1 179"/>
            <p:cNvCxnSpPr/>
            <p:nvPr userDrawn="1"/>
          </p:nvCxnSpPr>
          <p:spPr>
            <a:xfrm>
              <a:off x="821508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Connettore 1 180"/>
            <p:cNvCxnSpPr/>
            <p:nvPr userDrawn="1"/>
          </p:nvCxnSpPr>
          <p:spPr>
            <a:xfrm>
              <a:off x="836395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Connettore 1 181"/>
            <p:cNvCxnSpPr/>
            <p:nvPr userDrawn="1"/>
          </p:nvCxnSpPr>
          <p:spPr>
            <a:xfrm>
              <a:off x="851282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Connettore 1 182"/>
            <p:cNvCxnSpPr/>
            <p:nvPr userDrawn="1"/>
          </p:nvCxnSpPr>
          <p:spPr>
            <a:xfrm>
              <a:off x="866169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Connettore 1 183"/>
            <p:cNvCxnSpPr/>
            <p:nvPr userDrawn="1"/>
          </p:nvCxnSpPr>
          <p:spPr>
            <a:xfrm>
              <a:off x="881055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Connettore 1 184"/>
            <p:cNvCxnSpPr/>
            <p:nvPr userDrawn="1"/>
          </p:nvCxnSpPr>
          <p:spPr>
            <a:xfrm>
              <a:off x="895942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Connettore 1 185"/>
            <p:cNvCxnSpPr/>
            <p:nvPr userDrawn="1"/>
          </p:nvCxnSpPr>
          <p:spPr>
            <a:xfrm>
              <a:off x="910829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Connettore 1 186"/>
            <p:cNvCxnSpPr/>
            <p:nvPr userDrawn="1"/>
          </p:nvCxnSpPr>
          <p:spPr>
            <a:xfrm>
              <a:off x="925715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Connettore 1 187"/>
            <p:cNvCxnSpPr/>
            <p:nvPr userDrawn="1"/>
          </p:nvCxnSpPr>
          <p:spPr>
            <a:xfrm>
              <a:off x="940602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Connettore 1 188"/>
            <p:cNvCxnSpPr/>
            <p:nvPr userDrawn="1"/>
          </p:nvCxnSpPr>
          <p:spPr>
            <a:xfrm>
              <a:off x="955489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Connettore 1 189"/>
            <p:cNvCxnSpPr/>
            <p:nvPr userDrawn="1"/>
          </p:nvCxnSpPr>
          <p:spPr>
            <a:xfrm>
              <a:off x="970375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Connettore 1 190"/>
            <p:cNvCxnSpPr/>
            <p:nvPr userDrawn="1"/>
          </p:nvCxnSpPr>
          <p:spPr>
            <a:xfrm>
              <a:off x="985262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Connettore 1 191"/>
            <p:cNvCxnSpPr/>
            <p:nvPr userDrawn="1"/>
          </p:nvCxnSpPr>
          <p:spPr>
            <a:xfrm>
              <a:off x="1000149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Connettore 1 192"/>
            <p:cNvCxnSpPr/>
            <p:nvPr userDrawn="1"/>
          </p:nvCxnSpPr>
          <p:spPr>
            <a:xfrm>
              <a:off x="1015036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Connettore 1 193"/>
            <p:cNvCxnSpPr/>
            <p:nvPr userDrawn="1"/>
          </p:nvCxnSpPr>
          <p:spPr>
            <a:xfrm>
              <a:off x="1029922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Connettore 1 194"/>
            <p:cNvCxnSpPr/>
            <p:nvPr userDrawn="1"/>
          </p:nvCxnSpPr>
          <p:spPr>
            <a:xfrm>
              <a:off x="1044809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Connettore 1 195"/>
            <p:cNvCxnSpPr/>
            <p:nvPr userDrawn="1"/>
          </p:nvCxnSpPr>
          <p:spPr>
            <a:xfrm>
              <a:off x="1059696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Connettore 1 196"/>
            <p:cNvCxnSpPr/>
            <p:nvPr userDrawn="1"/>
          </p:nvCxnSpPr>
          <p:spPr>
            <a:xfrm>
              <a:off x="1074582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Connettore 1 197"/>
            <p:cNvCxnSpPr/>
            <p:nvPr userDrawn="1"/>
          </p:nvCxnSpPr>
          <p:spPr>
            <a:xfrm>
              <a:off x="1089469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Connettore 1 198"/>
            <p:cNvCxnSpPr/>
            <p:nvPr userDrawn="1"/>
          </p:nvCxnSpPr>
          <p:spPr>
            <a:xfrm>
              <a:off x="110435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ttore 1 199"/>
            <p:cNvCxnSpPr/>
            <p:nvPr userDrawn="1"/>
          </p:nvCxnSpPr>
          <p:spPr>
            <a:xfrm>
              <a:off x="1119242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ttore 1 200"/>
            <p:cNvCxnSpPr/>
            <p:nvPr userDrawn="1"/>
          </p:nvCxnSpPr>
          <p:spPr>
            <a:xfrm>
              <a:off x="1134129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ttore 1 201"/>
            <p:cNvCxnSpPr/>
            <p:nvPr userDrawn="1"/>
          </p:nvCxnSpPr>
          <p:spPr>
            <a:xfrm>
              <a:off x="1149016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Connettore 1 202"/>
            <p:cNvCxnSpPr/>
            <p:nvPr userDrawn="1"/>
          </p:nvCxnSpPr>
          <p:spPr>
            <a:xfrm>
              <a:off x="1163903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Connettore 1 203"/>
            <p:cNvCxnSpPr/>
            <p:nvPr userDrawn="1"/>
          </p:nvCxnSpPr>
          <p:spPr>
            <a:xfrm>
              <a:off x="1178789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Connettore 1 204"/>
            <p:cNvCxnSpPr/>
            <p:nvPr userDrawn="1"/>
          </p:nvCxnSpPr>
          <p:spPr>
            <a:xfrm>
              <a:off x="1193676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Connettore 1 205"/>
            <p:cNvCxnSpPr/>
            <p:nvPr userDrawn="1"/>
          </p:nvCxnSpPr>
          <p:spPr>
            <a:xfrm>
              <a:off x="1208563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Connettore 1 206"/>
            <p:cNvCxnSpPr/>
            <p:nvPr userDrawn="1"/>
          </p:nvCxnSpPr>
          <p:spPr>
            <a:xfrm>
              <a:off x="1223449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Connettore 1 207"/>
            <p:cNvCxnSpPr/>
            <p:nvPr userDrawn="1"/>
          </p:nvCxnSpPr>
          <p:spPr>
            <a:xfrm>
              <a:off x="1238336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Connettore 1 208"/>
            <p:cNvCxnSpPr/>
            <p:nvPr userDrawn="1"/>
          </p:nvCxnSpPr>
          <p:spPr>
            <a:xfrm>
              <a:off x="1253223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Connettore 1 209"/>
            <p:cNvCxnSpPr/>
            <p:nvPr userDrawn="1"/>
          </p:nvCxnSpPr>
          <p:spPr>
            <a:xfrm>
              <a:off x="1268109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Connettore 1 210"/>
            <p:cNvCxnSpPr/>
            <p:nvPr userDrawn="1"/>
          </p:nvCxnSpPr>
          <p:spPr>
            <a:xfrm>
              <a:off x="1282996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Connettore 1 211"/>
            <p:cNvCxnSpPr/>
            <p:nvPr userDrawn="1"/>
          </p:nvCxnSpPr>
          <p:spPr>
            <a:xfrm>
              <a:off x="1297883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Connettore 1 212"/>
            <p:cNvCxnSpPr/>
            <p:nvPr userDrawn="1"/>
          </p:nvCxnSpPr>
          <p:spPr>
            <a:xfrm>
              <a:off x="1312770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Connettore 1 213"/>
            <p:cNvCxnSpPr/>
            <p:nvPr userDrawn="1"/>
          </p:nvCxnSpPr>
          <p:spPr>
            <a:xfrm>
              <a:off x="1327656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Connettore 1 214"/>
            <p:cNvCxnSpPr/>
            <p:nvPr userDrawn="1"/>
          </p:nvCxnSpPr>
          <p:spPr>
            <a:xfrm>
              <a:off x="1342543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Connettore 1 215"/>
            <p:cNvCxnSpPr/>
            <p:nvPr userDrawn="1"/>
          </p:nvCxnSpPr>
          <p:spPr>
            <a:xfrm>
              <a:off x="1357430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Connettore 1 216"/>
            <p:cNvCxnSpPr/>
            <p:nvPr userDrawn="1"/>
          </p:nvCxnSpPr>
          <p:spPr>
            <a:xfrm>
              <a:off x="1372316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Connettore 1 217"/>
            <p:cNvCxnSpPr/>
            <p:nvPr userDrawn="1"/>
          </p:nvCxnSpPr>
          <p:spPr>
            <a:xfrm>
              <a:off x="1387203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Connettore 1 218"/>
            <p:cNvCxnSpPr/>
            <p:nvPr userDrawn="1"/>
          </p:nvCxnSpPr>
          <p:spPr>
            <a:xfrm>
              <a:off x="1402090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Connettore 1 219"/>
            <p:cNvCxnSpPr/>
            <p:nvPr userDrawn="1"/>
          </p:nvCxnSpPr>
          <p:spPr>
            <a:xfrm>
              <a:off x="1416976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ttore 1 220"/>
            <p:cNvCxnSpPr/>
            <p:nvPr userDrawn="1"/>
          </p:nvCxnSpPr>
          <p:spPr>
            <a:xfrm>
              <a:off x="1431863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Connettore 1 221"/>
            <p:cNvCxnSpPr/>
            <p:nvPr userDrawn="1"/>
          </p:nvCxnSpPr>
          <p:spPr>
            <a:xfrm>
              <a:off x="1446750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Connettore 1 222"/>
            <p:cNvCxnSpPr/>
            <p:nvPr userDrawn="1"/>
          </p:nvCxnSpPr>
          <p:spPr>
            <a:xfrm>
              <a:off x="1461637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Connettore 1 223"/>
            <p:cNvCxnSpPr/>
            <p:nvPr userDrawn="1"/>
          </p:nvCxnSpPr>
          <p:spPr>
            <a:xfrm>
              <a:off x="1476523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Connettore 1 224"/>
            <p:cNvCxnSpPr/>
            <p:nvPr userDrawn="1"/>
          </p:nvCxnSpPr>
          <p:spPr>
            <a:xfrm>
              <a:off x="1491410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ttore 1 225"/>
            <p:cNvCxnSpPr/>
            <p:nvPr userDrawn="1"/>
          </p:nvCxnSpPr>
          <p:spPr>
            <a:xfrm>
              <a:off x="1506297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Connettore 1 226"/>
            <p:cNvCxnSpPr/>
            <p:nvPr userDrawn="1"/>
          </p:nvCxnSpPr>
          <p:spPr>
            <a:xfrm>
              <a:off x="1521183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Connettore 1 227"/>
            <p:cNvCxnSpPr/>
            <p:nvPr userDrawn="1"/>
          </p:nvCxnSpPr>
          <p:spPr>
            <a:xfrm>
              <a:off x="1536070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Connettore 1 228"/>
            <p:cNvCxnSpPr/>
            <p:nvPr userDrawn="1"/>
          </p:nvCxnSpPr>
          <p:spPr>
            <a:xfrm>
              <a:off x="1550957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Connettore 1 229"/>
            <p:cNvCxnSpPr/>
            <p:nvPr userDrawn="1"/>
          </p:nvCxnSpPr>
          <p:spPr>
            <a:xfrm>
              <a:off x="1565843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ttore 1 230"/>
            <p:cNvCxnSpPr/>
            <p:nvPr userDrawn="1"/>
          </p:nvCxnSpPr>
          <p:spPr>
            <a:xfrm>
              <a:off x="1580730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ttore 1 231"/>
            <p:cNvCxnSpPr/>
            <p:nvPr userDrawn="1"/>
          </p:nvCxnSpPr>
          <p:spPr>
            <a:xfrm>
              <a:off x="1595617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ttore 1 232"/>
            <p:cNvCxnSpPr/>
            <p:nvPr userDrawn="1"/>
          </p:nvCxnSpPr>
          <p:spPr>
            <a:xfrm>
              <a:off x="1610504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ttore 1 233"/>
            <p:cNvCxnSpPr/>
            <p:nvPr userDrawn="1"/>
          </p:nvCxnSpPr>
          <p:spPr>
            <a:xfrm>
              <a:off x="1625390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ttore 1 234"/>
            <p:cNvCxnSpPr/>
            <p:nvPr userDrawn="1"/>
          </p:nvCxnSpPr>
          <p:spPr>
            <a:xfrm>
              <a:off x="1640277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ttore 1 235"/>
            <p:cNvCxnSpPr/>
            <p:nvPr userDrawn="1"/>
          </p:nvCxnSpPr>
          <p:spPr>
            <a:xfrm>
              <a:off x="1655164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Connettore 1 236"/>
            <p:cNvCxnSpPr/>
            <p:nvPr userDrawn="1"/>
          </p:nvCxnSpPr>
          <p:spPr>
            <a:xfrm>
              <a:off x="1670050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Connettore 1 237"/>
            <p:cNvCxnSpPr/>
            <p:nvPr userDrawn="1"/>
          </p:nvCxnSpPr>
          <p:spPr>
            <a:xfrm>
              <a:off x="1684937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ttore 1 238"/>
            <p:cNvCxnSpPr/>
            <p:nvPr userDrawn="1"/>
          </p:nvCxnSpPr>
          <p:spPr>
            <a:xfrm>
              <a:off x="1699824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Connettore 1 239"/>
            <p:cNvCxnSpPr/>
            <p:nvPr userDrawn="1"/>
          </p:nvCxnSpPr>
          <p:spPr>
            <a:xfrm>
              <a:off x="1714710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ttore 1 240"/>
            <p:cNvCxnSpPr/>
            <p:nvPr userDrawn="1"/>
          </p:nvCxnSpPr>
          <p:spPr>
            <a:xfrm>
              <a:off x="1729597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Connettore 1 241"/>
            <p:cNvCxnSpPr/>
            <p:nvPr userDrawn="1"/>
          </p:nvCxnSpPr>
          <p:spPr>
            <a:xfrm>
              <a:off x="17444843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Connettore 1 242"/>
            <p:cNvCxnSpPr/>
            <p:nvPr userDrawn="1"/>
          </p:nvCxnSpPr>
          <p:spPr>
            <a:xfrm>
              <a:off x="17593710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Connettore 1 243"/>
            <p:cNvCxnSpPr/>
            <p:nvPr userDrawn="1"/>
          </p:nvCxnSpPr>
          <p:spPr>
            <a:xfrm>
              <a:off x="17742577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Connettore 1 244"/>
            <p:cNvCxnSpPr/>
            <p:nvPr userDrawn="1"/>
          </p:nvCxnSpPr>
          <p:spPr>
            <a:xfrm>
              <a:off x="17891444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ttore 1 245"/>
            <p:cNvCxnSpPr/>
            <p:nvPr userDrawn="1"/>
          </p:nvCxnSpPr>
          <p:spPr>
            <a:xfrm>
              <a:off x="18040311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Connettore 1 246"/>
            <p:cNvCxnSpPr/>
            <p:nvPr userDrawn="1"/>
          </p:nvCxnSpPr>
          <p:spPr>
            <a:xfrm>
              <a:off x="18189178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Connettore 1 247"/>
            <p:cNvCxnSpPr/>
            <p:nvPr userDrawn="1"/>
          </p:nvCxnSpPr>
          <p:spPr>
            <a:xfrm>
              <a:off x="18338045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ttore 1 248"/>
            <p:cNvCxnSpPr/>
            <p:nvPr userDrawn="1"/>
          </p:nvCxnSpPr>
          <p:spPr>
            <a:xfrm>
              <a:off x="1848691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Connettore 1 249"/>
            <p:cNvCxnSpPr/>
            <p:nvPr userDrawn="1"/>
          </p:nvCxnSpPr>
          <p:spPr>
            <a:xfrm>
              <a:off x="18635779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ttore 1 250"/>
            <p:cNvCxnSpPr/>
            <p:nvPr userDrawn="1"/>
          </p:nvCxnSpPr>
          <p:spPr>
            <a:xfrm>
              <a:off x="18784646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Connettore 1 251"/>
            <p:cNvCxnSpPr/>
            <p:nvPr userDrawn="1"/>
          </p:nvCxnSpPr>
          <p:spPr>
            <a:xfrm>
              <a:off x="18933462" y="275867"/>
              <a:ext cx="0" cy="567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54" name="Picture 2" descr="Y:\IMMAGINE _COORDINATA_2014\PPT\modello1\loghi_PNG\03_Polimi_logotipo_bandiera-1riga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2868" y="6346379"/>
            <a:ext cx="2960496" cy="28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80592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udente-6.jpg">
            <a:extLst>
              <a:ext uri="{FF2B5EF4-FFF2-40B4-BE49-F238E27FC236}">
                <a16:creationId xmlns:a16="http://schemas.microsoft.com/office/drawing/2014/main" id="{9A8088A1-BE02-A45C-F2B7-D9182C7D25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" t="901" r="14721" b="26146"/>
          <a:stretch/>
        </p:blipFill>
        <p:spPr>
          <a:xfrm>
            <a:off x="1" y="-15446"/>
            <a:ext cx="12202569" cy="6873447"/>
          </a:xfrm>
          <a:prstGeom prst="rect">
            <a:avLst/>
          </a:prstGeom>
        </p:spPr>
      </p:pic>
      <p:sp>
        <p:nvSpPr>
          <p:cNvPr id="13" name="Rettangolo">
            <a:extLst>
              <a:ext uri="{FF2B5EF4-FFF2-40B4-BE49-F238E27FC236}">
                <a16:creationId xmlns:a16="http://schemas.microsoft.com/office/drawing/2014/main" id="{C0958222-67A2-407E-B29D-7EAE366C03C4}"/>
              </a:ext>
            </a:extLst>
          </p:cNvPr>
          <p:cNvSpPr/>
          <p:nvPr userDrawn="1"/>
        </p:nvSpPr>
        <p:spPr>
          <a:xfrm>
            <a:off x="-9775" y="0"/>
            <a:ext cx="12212345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46000">
                <a:schemeClr val="accent1">
                  <a:alpha val="40000"/>
                </a:schemeClr>
              </a:gs>
              <a:gs pos="72000">
                <a:schemeClr val="accent1"/>
              </a:gs>
            </a:gsLst>
            <a:lin ang="5400000" scaled="0"/>
            <a:tileRect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Linea">
            <a:extLst>
              <a:ext uri="{FF2B5EF4-FFF2-40B4-BE49-F238E27FC236}">
                <a16:creationId xmlns:a16="http://schemas.microsoft.com/office/drawing/2014/main" id="{B39406AE-79B6-49A1-923B-123760D8505F}"/>
              </a:ext>
            </a:extLst>
          </p:cNvPr>
          <p:cNvSpPr/>
          <p:nvPr userDrawn="1"/>
        </p:nvSpPr>
        <p:spPr>
          <a:xfrm>
            <a:off x="0" y="1980994"/>
            <a:ext cx="12192795" cy="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>
              <a:latin typeface="Manrope" pitchFamily="2" charset="0"/>
            </a:endParaRPr>
          </a:p>
        </p:txBody>
      </p:sp>
      <p:sp>
        <p:nvSpPr>
          <p:cNvPr id="17" name="Linea">
            <a:extLst>
              <a:ext uri="{FF2B5EF4-FFF2-40B4-BE49-F238E27FC236}">
                <a16:creationId xmlns:a16="http://schemas.microsoft.com/office/drawing/2014/main" id="{DCC9F3C9-7921-43F1-BB63-5744C63E565E}"/>
              </a:ext>
            </a:extLst>
          </p:cNvPr>
          <p:cNvSpPr/>
          <p:nvPr userDrawn="1"/>
        </p:nvSpPr>
        <p:spPr>
          <a:xfrm flipV="1">
            <a:off x="10715224" y="15448"/>
            <a:ext cx="0" cy="6827108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>
              <a:latin typeface="Manrope" pitchFamily="2" charset="0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A37EF6FA-9E02-465C-BF2C-F79206AB583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15" y="340536"/>
            <a:ext cx="2520000" cy="1099885"/>
          </a:xfrm>
          <a:prstGeom prst="rect">
            <a:avLst/>
          </a:prstGeom>
        </p:spPr>
      </p:pic>
      <p:sp>
        <p:nvSpPr>
          <p:cNvPr id="10" name="Ovale 9">
            <a:extLst>
              <a:ext uri="{FF2B5EF4-FFF2-40B4-BE49-F238E27FC236}">
                <a16:creationId xmlns:a16="http://schemas.microsoft.com/office/drawing/2014/main" id="{1CCADD42-EE9E-4858-B6FB-01BA6E38FAD3}"/>
              </a:ext>
            </a:extLst>
          </p:cNvPr>
          <p:cNvSpPr/>
          <p:nvPr userDrawn="1"/>
        </p:nvSpPr>
        <p:spPr>
          <a:xfrm rot="20927104">
            <a:off x="-172754" y="1980994"/>
            <a:ext cx="10887979" cy="10887270"/>
          </a:xfrm>
          <a:prstGeom prst="ellipse">
            <a:avLst/>
          </a:prstGeom>
          <a:gradFill flip="none" rotWithShape="1">
            <a:gsLst>
              <a:gs pos="9000">
                <a:schemeClr val="bg1">
                  <a:alpha val="40000"/>
                </a:scheme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900">
              <a:latin typeface="Manrope" pitchFamily="2" charset="0"/>
            </a:endParaRPr>
          </a:p>
        </p:txBody>
      </p:sp>
      <p:sp>
        <p:nvSpPr>
          <p:cNvPr id="15" name="Tema / Titolo / Docente  |  00. 00. 0000">
            <a:extLst>
              <a:ext uri="{FF2B5EF4-FFF2-40B4-BE49-F238E27FC236}">
                <a16:creationId xmlns:a16="http://schemas.microsoft.com/office/drawing/2014/main" id="{43EB2AAE-2F64-43C5-B8E8-F199350D7390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5929933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>
              <a:lnSpc>
                <a:spcPct val="100000"/>
              </a:lnSpc>
              <a:defRPr sz="120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00. 00. 0000  |  Relatore</a:t>
            </a:r>
          </a:p>
        </p:txBody>
      </p:sp>
      <p:sp>
        <p:nvSpPr>
          <p:cNvPr id="16" name="Titolo 5">
            <a:extLst>
              <a:ext uri="{FF2B5EF4-FFF2-40B4-BE49-F238E27FC236}">
                <a16:creationId xmlns:a16="http://schemas.microsoft.com/office/drawing/2014/main" id="{E8F7923B-B8EC-4C6A-A6CA-70D16747DB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376" y="3448466"/>
            <a:ext cx="6953096" cy="2108271"/>
          </a:xfrm>
          <a:prstGeom prst="rect">
            <a:avLst/>
          </a:prstGeom>
        </p:spPr>
        <p:txBody>
          <a:bodyPr lIns="0" tIns="360000" rIns="0" bIns="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Inserire titolo</a:t>
            </a:r>
            <a:br>
              <a:rPr lang="it-IT"/>
            </a:br>
            <a:r>
              <a:rPr lang="it-IT"/>
              <a:t>Presentazione</a:t>
            </a:r>
          </a:p>
        </p:txBody>
      </p:sp>
      <p:sp>
        <p:nvSpPr>
          <p:cNvPr id="18" name="Segnaposto testo 11">
            <a:extLst>
              <a:ext uri="{FF2B5EF4-FFF2-40B4-BE49-F238E27FC236}">
                <a16:creationId xmlns:a16="http://schemas.microsoft.com/office/drawing/2014/main" id="{7B2691BB-C18A-4BDF-B8C5-3FE9669646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0710" y="2898987"/>
            <a:ext cx="4833938" cy="392112"/>
          </a:xfrm>
        </p:spPr>
        <p:txBody>
          <a:bodyPr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Sottotitolo</a:t>
            </a:r>
          </a:p>
        </p:txBody>
      </p:sp>
    </p:spTree>
    <p:extLst>
      <p:ext uri="{BB962C8B-B14F-4D97-AF65-F5344CB8AC3E}">
        <p14:creationId xmlns:p14="http://schemas.microsoft.com/office/powerpoint/2010/main" val="34653869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bg>
      <p:bgPr>
        <a:gradFill>
          <a:gsLst>
            <a:gs pos="0">
              <a:schemeClr val="tx1"/>
            </a:gs>
            <a:gs pos="100000">
              <a:srgbClr val="102C5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ma / Titolo / Docente  |  00. 00. 0000">
            <a:extLst>
              <a:ext uri="{FF2B5EF4-FFF2-40B4-BE49-F238E27FC236}">
                <a16:creationId xmlns:a16="http://schemas.microsoft.com/office/drawing/2014/main" id="{99FF4CA3-BA67-0511-3FE3-11769597A30E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5929933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>
              <a:lnSpc>
                <a:spcPct val="100000"/>
              </a:lnSpc>
              <a:defRPr sz="1200">
                <a:solidFill>
                  <a:srgbClr val="FFFFFF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00. 00. 0000  |  Relatore</a:t>
            </a:r>
          </a:p>
        </p:txBody>
      </p:sp>
      <p:sp>
        <p:nvSpPr>
          <p:cNvPr id="3" name="Titolo 5">
            <a:extLst>
              <a:ext uri="{FF2B5EF4-FFF2-40B4-BE49-F238E27FC236}">
                <a16:creationId xmlns:a16="http://schemas.microsoft.com/office/drawing/2014/main" id="{5660309B-4011-4FF9-71E9-5BC51EF56D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287" y="2853390"/>
            <a:ext cx="10986218" cy="2324100"/>
          </a:xfrm>
        </p:spPr>
        <p:txBody>
          <a:bodyPr lIns="0" tIns="360000" rIns="0" bIns="0" anchor="t"/>
          <a:lstStyle>
            <a:lvl1pPr>
              <a:defRPr lang="it-IT" dirty="0">
                <a:solidFill>
                  <a:schemeClr val="bg1"/>
                </a:solidFill>
              </a:defRPr>
            </a:lvl1pPr>
          </a:lstStyle>
          <a:p>
            <a:r>
              <a:rPr lang="it-IT"/>
              <a:t>Inserire titolo</a:t>
            </a:r>
          </a:p>
        </p:txBody>
      </p:sp>
      <p:sp>
        <p:nvSpPr>
          <p:cNvPr id="5" name="Cerchio">
            <a:extLst>
              <a:ext uri="{FF2B5EF4-FFF2-40B4-BE49-F238E27FC236}">
                <a16:creationId xmlns:a16="http://schemas.microsoft.com/office/drawing/2014/main" id="{5F9D2376-F92C-70CC-7E4A-0F195E3EA543}"/>
              </a:ext>
            </a:extLst>
          </p:cNvPr>
          <p:cNvSpPr/>
          <p:nvPr userDrawn="1"/>
        </p:nvSpPr>
        <p:spPr>
          <a:xfrm rot="10800000">
            <a:off x="7559558" y="-1156784"/>
            <a:ext cx="4010434" cy="4010172"/>
          </a:xfrm>
          <a:prstGeom prst="ellipse">
            <a:avLst/>
          </a:prstGeom>
          <a:gradFill flip="none" rotWithShape="1">
            <a:gsLst>
              <a:gs pos="14000">
                <a:srgbClr val="FFFFFF">
                  <a:alpha val="30368"/>
                </a:srgbClr>
              </a:gs>
              <a:gs pos="13661">
                <a:srgbClr val="8896A9">
                  <a:alpha val="15184"/>
                </a:srgb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6" name="Cerchio">
            <a:extLst>
              <a:ext uri="{FF2B5EF4-FFF2-40B4-BE49-F238E27FC236}">
                <a16:creationId xmlns:a16="http://schemas.microsoft.com/office/drawing/2014/main" id="{A0BCD1D3-187F-0F81-48F7-30E4CB14B416}"/>
              </a:ext>
            </a:extLst>
          </p:cNvPr>
          <p:cNvSpPr/>
          <p:nvPr userDrawn="1"/>
        </p:nvSpPr>
        <p:spPr>
          <a:xfrm>
            <a:off x="7559559" y="2853390"/>
            <a:ext cx="4010432" cy="4010171"/>
          </a:xfrm>
          <a:prstGeom prst="ellipse">
            <a:avLst/>
          </a:prstGeom>
          <a:gradFill flip="none" rotWithShape="1">
            <a:gsLst>
              <a:gs pos="14000">
                <a:srgbClr val="FFFFFF">
                  <a:alpha val="30000"/>
                </a:srgbClr>
              </a:gs>
              <a:gs pos="13661">
                <a:srgbClr val="8896A9">
                  <a:alpha val="14846"/>
                </a:srgb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>
                    <a:alpha val="20092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>
              <a:latin typeface="Manrope" pitchFamily="2" charset="0"/>
              <a:cs typeface="Arial" panose="020B0604020202020204" pitchFamily="34" charset="0"/>
            </a:endParaRP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2B7B3A0A-3A1B-42DE-B9AE-23655BAD3745}"/>
              </a:ext>
            </a:extLst>
          </p:cNvPr>
          <p:cNvCxnSpPr>
            <a:cxnSpLocks/>
          </p:cNvCxnSpPr>
          <p:nvPr userDrawn="1"/>
        </p:nvCxnSpPr>
        <p:spPr>
          <a:xfrm>
            <a:off x="11569992" y="0"/>
            <a:ext cx="0" cy="685800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FD11F552-5459-4905-94FE-760C82166453}"/>
              </a:ext>
            </a:extLst>
          </p:cNvPr>
          <p:cNvCxnSpPr>
            <a:cxnSpLocks/>
          </p:cNvCxnSpPr>
          <p:nvPr userDrawn="1"/>
        </p:nvCxnSpPr>
        <p:spPr>
          <a:xfrm>
            <a:off x="7534019" y="0"/>
            <a:ext cx="0" cy="685800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FFD66269-DBF7-485E-8F18-092A9E8BABC4}"/>
              </a:ext>
            </a:extLst>
          </p:cNvPr>
          <p:cNvCxnSpPr>
            <a:cxnSpLocks/>
          </p:cNvCxnSpPr>
          <p:nvPr userDrawn="1"/>
        </p:nvCxnSpPr>
        <p:spPr>
          <a:xfrm>
            <a:off x="0" y="2853390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magine 11">
            <a:extLst>
              <a:ext uri="{FF2B5EF4-FFF2-40B4-BE49-F238E27FC236}">
                <a16:creationId xmlns:a16="http://schemas.microsoft.com/office/drawing/2014/main" id="{17ADE777-6F12-4FCD-980D-1255A25F2D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15" y="340536"/>
            <a:ext cx="2520000" cy="109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5856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">
    <p:bg>
      <p:bgPr>
        <a:gradFill>
          <a:gsLst>
            <a:gs pos="0">
              <a:schemeClr val="tx1"/>
            </a:gs>
            <a:gs pos="100000">
              <a:srgbClr val="102C5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vale 35">
            <a:extLst>
              <a:ext uri="{FF2B5EF4-FFF2-40B4-BE49-F238E27FC236}">
                <a16:creationId xmlns:a16="http://schemas.microsoft.com/office/drawing/2014/main" id="{51B3AA80-97EC-50CB-4FE0-29FF43A159AF}"/>
              </a:ext>
            </a:extLst>
          </p:cNvPr>
          <p:cNvSpPr/>
          <p:nvPr userDrawn="1"/>
        </p:nvSpPr>
        <p:spPr>
          <a:xfrm>
            <a:off x="2609" y="-5443635"/>
            <a:ext cx="10887979" cy="10887270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11000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>
              <a:latin typeface="Manrope" pitchFamily="2" charset="0"/>
            </a:endParaRPr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0F01AAD3-5366-6929-C4BA-2E51CD3F31D4}"/>
              </a:ext>
            </a:extLst>
          </p:cNvPr>
          <p:cNvSpPr/>
          <p:nvPr userDrawn="1"/>
        </p:nvSpPr>
        <p:spPr>
          <a:xfrm rot="19314398">
            <a:off x="2609" y="5468773"/>
            <a:ext cx="10887979" cy="10887270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10301"/>
                </a:schemeClr>
              </a:gs>
              <a:gs pos="82000">
                <a:schemeClr val="accent3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Linea">
            <a:extLst>
              <a:ext uri="{FF2B5EF4-FFF2-40B4-BE49-F238E27FC236}">
                <a16:creationId xmlns:a16="http://schemas.microsoft.com/office/drawing/2014/main" id="{2889EA06-D03D-AD37-B610-762B18DC9D96}"/>
              </a:ext>
            </a:extLst>
          </p:cNvPr>
          <p:cNvSpPr/>
          <p:nvPr userDrawn="1"/>
        </p:nvSpPr>
        <p:spPr>
          <a:xfrm rot="10800000" flipH="1">
            <a:off x="10895557" y="1057"/>
            <a:ext cx="1" cy="6855889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399" tIns="25399" rIns="25399" bIns="25399" anchor="ctr"/>
          <a:lstStyle/>
          <a:p>
            <a:endParaRPr sz="1200">
              <a:latin typeface="Manrope" pitchFamily="2" charset="0"/>
            </a:endParaRPr>
          </a:p>
        </p:txBody>
      </p:sp>
      <p:sp>
        <p:nvSpPr>
          <p:cNvPr id="11" name="Linea">
            <a:extLst>
              <a:ext uri="{FF2B5EF4-FFF2-40B4-BE49-F238E27FC236}">
                <a16:creationId xmlns:a16="http://schemas.microsoft.com/office/drawing/2014/main" id="{1C01A8D5-245E-26D8-2ECA-82D4764647AF}"/>
              </a:ext>
            </a:extLst>
          </p:cNvPr>
          <p:cNvSpPr/>
          <p:nvPr userDrawn="1"/>
        </p:nvSpPr>
        <p:spPr>
          <a:xfrm rot="10800000">
            <a:off x="-3064" y="5436688"/>
            <a:ext cx="12198128" cy="1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399" tIns="25399" rIns="25399" bIns="25399" anchor="ctr"/>
          <a:lstStyle/>
          <a:p>
            <a:endParaRPr sz="1200">
              <a:latin typeface="Manrope" pitchFamily="2" charset="0"/>
            </a:endParaRPr>
          </a:p>
        </p:txBody>
      </p:sp>
      <p:sp>
        <p:nvSpPr>
          <p:cNvPr id="24" name="Titolo 5">
            <a:extLst>
              <a:ext uri="{FF2B5EF4-FFF2-40B4-BE49-F238E27FC236}">
                <a16:creationId xmlns:a16="http://schemas.microsoft.com/office/drawing/2014/main" id="{7A3C36CA-9D5D-490C-3E31-571AF7EC5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376" y="2970949"/>
            <a:ext cx="10297220" cy="1979441"/>
          </a:xfrm>
          <a:prstGeom prst="rect">
            <a:avLst/>
          </a:prstGeom>
        </p:spPr>
        <p:txBody>
          <a:bodyPr lIns="0" tIns="360000" rIns="0" bIns="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Inserire titolo</a:t>
            </a:r>
            <a:br>
              <a:rPr lang="it-IT"/>
            </a:br>
            <a:r>
              <a:rPr lang="it-IT"/>
              <a:t>Presentazione</a:t>
            </a:r>
          </a:p>
        </p:txBody>
      </p:sp>
      <p:sp>
        <p:nvSpPr>
          <p:cNvPr id="25" name="Tema / Titolo / Docente  |  00. 00. 0000">
            <a:extLst>
              <a:ext uri="{FF2B5EF4-FFF2-40B4-BE49-F238E27FC236}">
                <a16:creationId xmlns:a16="http://schemas.microsoft.com/office/drawing/2014/main" id="{A4A528BE-7AD2-13B5-15DC-484153FDCFB1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5929933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00. 00. 0000  |  Relatore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E13B68B-5E70-4386-A49F-885614E5E9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15" y="340536"/>
            <a:ext cx="2520000" cy="109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5012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bg>
      <p:bgPr>
        <a:gradFill>
          <a:gsLst>
            <a:gs pos="68000">
              <a:schemeClr val="accent3"/>
            </a:gs>
            <a:gs pos="100000">
              <a:schemeClr val="bg1"/>
            </a:gs>
            <a:gs pos="27000">
              <a:schemeClr val="accent1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">
            <a:extLst>
              <a:ext uri="{FF2B5EF4-FFF2-40B4-BE49-F238E27FC236}">
                <a16:creationId xmlns:a16="http://schemas.microsoft.com/office/drawing/2014/main" id="{5904BB58-3F14-9C88-2C51-FC53AD74ECDB}"/>
              </a:ext>
            </a:extLst>
          </p:cNvPr>
          <p:cNvSpPr/>
          <p:nvPr userDrawn="1"/>
        </p:nvSpPr>
        <p:spPr>
          <a:xfrm>
            <a:off x="-13900" y="5890078"/>
            <a:ext cx="12220596" cy="97807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 anchor="ctr"/>
          <a:lstStyle>
            <a:lvl1pPr algn="ctr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sz="160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grpSp>
        <p:nvGrpSpPr>
          <p:cNvPr id="35" name="Raggruppa">
            <a:extLst>
              <a:ext uri="{FF2B5EF4-FFF2-40B4-BE49-F238E27FC236}">
                <a16:creationId xmlns:a16="http://schemas.microsoft.com/office/drawing/2014/main" id="{10E0AFDC-3F66-1CFB-E987-27D87A91FC3E}"/>
              </a:ext>
            </a:extLst>
          </p:cNvPr>
          <p:cNvGrpSpPr/>
          <p:nvPr userDrawn="1"/>
        </p:nvGrpSpPr>
        <p:grpSpPr>
          <a:xfrm>
            <a:off x="2454737" y="6112429"/>
            <a:ext cx="774301" cy="512711"/>
            <a:chOff x="55030" y="-1"/>
            <a:chExt cx="1548497" cy="1025419"/>
          </a:xfrm>
        </p:grpSpPr>
        <p:sp>
          <p:nvSpPr>
            <p:cNvPr id="36" name="Dicitura 01">
              <a:extLst>
                <a:ext uri="{FF2B5EF4-FFF2-40B4-BE49-F238E27FC236}">
                  <a16:creationId xmlns:a16="http://schemas.microsoft.com/office/drawing/2014/main" id="{10073F5C-DD0F-6D06-4F37-6385373A1AB7}"/>
                </a:ext>
              </a:extLst>
            </p:cNvPr>
            <p:cNvSpPr txBox="1"/>
            <p:nvPr/>
          </p:nvSpPr>
          <p:spPr>
            <a:xfrm>
              <a:off x="55030" y="102541"/>
              <a:ext cx="1391313" cy="4821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r">
                <a:defRPr sz="2200">
                  <a:solidFill>
                    <a:srgbClr val="102C53"/>
                  </a:solidFill>
                </a:defRPr>
              </a:lvl1pPr>
            </a:lstStyle>
            <a:p>
              <a:r>
                <a:rPr sz="900" b="1" err="1">
                  <a:latin typeface="Manrope" pitchFamily="2" charset="0"/>
                </a:rPr>
                <a:t>Dicitura</a:t>
              </a:r>
              <a:r>
                <a:rPr sz="900" b="1">
                  <a:latin typeface="Manrope" pitchFamily="2" charset="0"/>
                </a:rPr>
                <a:t> 01</a:t>
              </a:r>
            </a:p>
          </p:txBody>
        </p:sp>
        <p:sp>
          <p:nvSpPr>
            <p:cNvPr id="37" name="Linea">
              <a:extLst>
                <a:ext uri="{FF2B5EF4-FFF2-40B4-BE49-F238E27FC236}">
                  <a16:creationId xmlns:a16="http://schemas.microsoft.com/office/drawing/2014/main" id="{A2D93BEA-CDAB-B761-4314-7A4D96C6DDEB}"/>
                </a:ext>
              </a:extLst>
            </p:cNvPr>
            <p:cNvSpPr/>
            <p:nvPr/>
          </p:nvSpPr>
          <p:spPr>
            <a:xfrm flipV="1">
              <a:off x="1603526" y="-1"/>
              <a:ext cx="1" cy="1025419"/>
            </a:xfrm>
            <a:prstGeom prst="line">
              <a:avLst/>
            </a:prstGeom>
            <a:noFill/>
            <a:ln w="9525" cap="flat">
              <a:solidFill>
                <a:srgbClr val="102C53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 sz="338">
                <a:latin typeface="Manrope" pitchFamily="2" charset="0"/>
              </a:endParaRPr>
            </a:p>
          </p:txBody>
        </p:sp>
      </p:grpSp>
      <p:grpSp>
        <p:nvGrpSpPr>
          <p:cNvPr id="38" name="Raggruppa">
            <a:extLst>
              <a:ext uri="{FF2B5EF4-FFF2-40B4-BE49-F238E27FC236}">
                <a16:creationId xmlns:a16="http://schemas.microsoft.com/office/drawing/2014/main" id="{56DCEED6-6F0E-CCBB-2279-C15A32771039}"/>
              </a:ext>
            </a:extLst>
          </p:cNvPr>
          <p:cNvGrpSpPr/>
          <p:nvPr userDrawn="1"/>
        </p:nvGrpSpPr>
        <p:grpSpPr>
          <a:xfrm>
            <a:off x="6067169" y="6112429"/>
            <a:ext cx="790072" cy="512711"/>
            <a:chOff x="70058" y="-1"/>
            <a:chExt cx="1580036" cy="1025419"/>
          </a:xfrm>
        </p:grpSpPr>
        <p:sp>
          <p:nvSpPr>
            <p:cNvPr id="39" name="Dicitura 02">
              <a:extLst>
                <a:ext uri="{FF2B5EF4-FFF2-40B4-BE49-F238E27FC236}">
                  <a16:creationId xmlns:a16="http://schemas.microsoft.com/office/drawing/2014/main" id="{65F304E2-7E9C-B774-6D16-605FDABF18A3}"/>
                </a:ext>
              </a:extLst>
            </p:cNvPr>
            <p:cNvSpPr txBox="1"/>
            <p:nvPr/>
          </p:nvSpPr>
          <p:spPr>
            <a:xfrm>
              <a:off x="70058" y="102541"/>
              <a:ext cx="1426577" cy="4821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r">
                <a:defRPr sz="2200">
                  <a:solidFill>
                    <a:srgbClr val="102C53"/>
                  </a:solidFill>
                </a:defRPr>
              </a:lvl1pPr>
            </a:lstStyle>
            <a:p>
              <a:r>
                <a:rPr sz="900" b="1" err="1">
                  <a:latin typeface="Manrope" pitchFamily="2" charset="0"/>
                </a:rPr>
                <a:t>Dicitura</a:t>
              </a:r>
              <a:r>
                <a:rPr sz="900" b="1">
                  <a:latin typeface="Manrope" pitchFamily="2" charset="0"/>
                </a:rPr>
                <a:t> 02</a:t>
              </a:r>
            </a:p>
          </p:txBody>
        </p:sp>
        <p:sp>
          <p:nvSpPr>
            <p:cNvPr id="40" name="Linea">
              <a:extLst>
                <a:ext uri="{FF2B5EF4-FFF2-40B4-BE49-F238E27FC236}">
                  <a16:creationId xmlns:a16="http://schemas.microsoft.com/office/drawing/2014/main" id="{0D3513D8-03DF-07FB-C95C-75AB43EA944A}"/>
                </a:ext>
              </a:extLst>
            </p:cNvPr>
            <p:cNvSpPr/>
            <p:nvPr/>
          </p:nvSpPr>
          <p:spPr>
            <a:xfrm flipV="1">
              <a:off x="1650093" y="-1"/>
              <a:ext cx="1" cy="1025419"/>
            </a:xfrm>
            <a:prstGeom prst="line">
              <a:avLst/>
            </a:prstGeom>
            <a:noFill/>
            <a:ln w="9525" cap="flat">
              <a:solidFill>
                <a:srgbClr val="102C53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 sz="338">
                <a:latin typeface="Manrope" pitchFamily="2" charset="0"/>
              </a:endParaRPr>
            </a:p>
          </p:txBody>
        </p:sp>
      </p:grpSp>
      <p:grpSp>
        <p:nvGrpSpPr>
          <p:cNvPr id="41" name="Raggruppa">
            <a:extLst>
              <a:ext uri="{FF2B5EF4-FFF2-40B4-BE49-F238E27FC236}">
                <a16:creationId xmlns:a16="http://schemas.microsoft.com/office/drawing/2014/main" id="{EE4E4B32-B5F8-3F30-EE38-C91ECC226870}"/>
              </a:ext>
            </a:extLst>
          </p:cNvPr>
          <p:cNvGrpSpPr/>
          <p:nvPr userDrawn="1"/>
        </p:nvGrpSpPr>
        <p:grpSpPr>
          <a:xfrm>
            <a:off x="7104925" y="6152538"/>
            <a:ext cx="979517" cy="453158"/>
            <a:chOff x="60711" y="0"/>
            <a:chExt cx="1958904" cy="906313"/>
          </a:xfrm>
        </p:grpSpPr>
        <p:sp>
          <p:nvSpPr>
            <p:cNvPr id="42" name="Logo">
              <a:extLst>
                <a:ext uri="{FF2B5EF4-FFF2-40B4-BE49-F238E27FC236}">
                  <a16:creationId xmlns:a16="http://schemas.microsoft.com/office/drawing/2014/main" id="{01F912F9-4CA7-0309-4362-4AE504D449B0}"/>
                </a:ext>
              </a:extLst>
            </p:cNvPr>
            <p:cNvSpPr txBox="1"/>
            <p:nvPr/>
          </p:nvSpPr>
          <p:spPr>
            <a:xfrm>
              <a:off x="996967" y="135122"/>
              <a:ext cx="1022648" cy="6360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>
                  <a:solidFill>
                    <a:srgbClr val="D5D5D5"/>
                  </a:solidFill>
                </a:defRPr>
              </a:lvl1pPr>
            </a:lstStyle>
            <a:p>
              <a:r>
                <a:rPr sz="1400">
                  <a:latin typeface="Manrope" pitchFamily="2" charset="0"/>
                </a:rPr>
                <a:t>Logo</a:t>
              </a:r>
            </a:p>
          </p:txBody>
        </p:sp>
        <p:sp>
          <p:nvSpPr>
            <p:cNvPr id="43" name="Poligono">
              <a:extLst>
                <a:ext uri="{FF2B5EF4-FFF2-40B4-BE49-F238E27FC236}">
                  <a16:creationId xmlns:a16="http://schemas.microsoft.com/office/drawing/2014/main" id="{1A2CDB77-2460-9096-7611-C3E31F3AB038}"/>
                </a:ext>
              </a:extLst>
            </p:cNvPr>
            <p:cNvSpPr/>
            <p:nvPr/>
          </p:nvSpPr>
          <p:spPr>
            <a:xfrm>
              <a:off x="60711" y="0"/>
              <a:ext cx="784891" cy="906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5400"/>
                  </a:lnTo>
                  <a:lnTo>
                    <a:pt x="21600" y="16200"/>
                  </a:lnTo>
                  <a:lnTo>
                    <a:pt x="10800" y="21600"/>
                  </a:lnTo>
                  <a:lnTo>
                    <a:pt x="0" y="162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D5D5D5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412756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4" name="Raggruppa">
            <a:extLst>
              <a:ext uri="{FF2B5EF4-FFF2-40B4-BE49-F238E27FC236}">
                <a16:creationId xmlns:a16="http://schemas.microsoft.com/office/drawing/2014/main" id="{E9DC9E88-ED5E-A322-CEF0-BA8C7730DD17}"/>
              </a:ext>
            </a:extLst>
          </p:cNvPr>
          <p:cNvGrpSpPr/>
          <p:nvPr userDrawn="1"/>
        </p:nvGrpSpPr>
        <p:grpSpPr>
          <a:xfrm>
            <a:off x="3478116" y="6125021"/>
            <a:ext cx="2345580" cy="508191"/>
            <a:chOff x="-1" y="0"/>
            <a:chExt cx="4690853" cy="1016381"/>
          </a:xfrm>
        </p:grpSpPr>
        <p:grpSp>
          <p:nvGrpSpPr>
            <p:cNvPr id="45" name="Raggruppa">
              <a:extLst>
                <a:ext uri="{FF2B5EF4-FFF2-40B4-BE49-F238E27FC236}">
                  <a16:creationId xmlns:a16="http://schemas.microsoft.com/office/drawing/2014/main" id="{0AAB06EA-BD72-204E-2331-5ADA684865D6}"/>
                </a:ext>
              </a:extLst>
            </p:cNvPr>
            <p:cNvGrpSpPr/>
            <p:nvPr/>
          </p:nvGrpSpPr>
          <p:grpSpPr>
            <a:xfrm>
              <a:off x="-1" y="0"/>
              <a:ext cx="2032314" cy="1016381"/>
              <a:chOff x="0" y="0"/>
              <a:chExt cx="2032313" cy="1016380"/>
            </a:xfrm>
          </p:grpSpPr>
          <p:sp>
            <p:nvSpPr>
              <p:cNvPr id="49" name="Logo">
                <a:extLst>
                  <a:ext uri="{FF2B5EF4-FFF2-40B4-BE49-F238E27FC236}">
                    <a16:creationId xmlns:a16="http://schemas.microsoft.com/office/drawing/2014/main" id="{E2A46CB7-6126-FAF4-587A-DD55008E4667}"/>
                  </a:ext>
                </a:extLst>
              </p:cNvPr>
              <p:cNvSpPr txBox="1"/>
              <p:nvPr/>
            </p:nvSpPr>
            <p:spPr>
              <a:xfrm>
                <a:off x="1009665" y="190150"/>
                <a:ext cx="1022648" cy="63607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800">
                    <a:solidFill>
                      <a:srgbClr val="D5D5D5"/>
                    </a:solidFill>
                  </a:defRPr>
                </a:lvl1pPr>
              </a:lstStyle>
              <a:p>
                <a:r>
                  <a:rPr sz="1400">
                    <a:latin typeface="Manrope" pitchFamily="2" charset="0"/>
                  </a:rPr>
                  <a:t>Logo</a:t>
                </a:r>
              </a:p>
            </p:txBody>
          </p:sp>
          <p:sp>
            <p:nvSpPr>
              <p:cNvPr id="50" name="Triangolo">
                <a:extLst>
                  <a:ext uri="{FF2B5EF4-FFF2-40B4-BE49-F238E27FC236}">
                    <a16:creationId xmlns:a16="http://schemas.microsoft.com/office/drawing/2014/main" id="{49414913-DF6E-3124-0037-4413F4E9DBA5}"/>
                  </a:ext>
                </a:extLst>
              </p:cNvPr>
              <p:cNvSpPr/>
              <p:nvPr/>
            </p:nvSpPr>
            <p:spPr>
              <a:xfrm>
                <a:off x="0" y="0"/>
                <a:ext cx="1016380" cy="10163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D5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412756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6" name="Raggruppa">
              <a:extLst>
                <a:ext uri="{FF2B5EF4-FFF2-40B4-BE49-F238E27FC236}">
                  <a16:creationId xmlns:a16="http://schemas.microsoft.com/office/drawing/2014/main" id="{2E1D7F5F-ABE7-5DE5-9E9B-5271458A6691}"/>
                </a:ext>
              </a:extLst>
            </p:cNvPr>
            <p:cNvGrpSpPr/>
            <p:nvPr/>
          </p:nvGrpSpPr>
          <p:grpSpPr>
            <a:xfrm>
              <a:off x="2519023" y="0"/>
              <a:ext cx="2171829" cy="1016381"/>
              <a:chOff x="0" y="0"/>
              <a:chExt cx="2171826" cy="1016380"/>
            </a:xfrm>
          </p:grpSpPr>
          <p:sp>
            <p:nvSpPr>
              <p:cNvPr id="47" name="Logo">
                <a:extLst>
                  <a:ext uri="{FF2B5EF4-FFF2-40B4-BE49-F238E27FC236}">
                    <a16:creationId xmlns:a16="http://schemas.microsoft.com/office/drawing/2014/main" id="{FB792114-1E03-A8B8-F9F6-0BD1E522B30C}"/>
                  </a:ext>
                </a:extLst>
              </p:cNvPr>
              <p:cNvSpPr txBox="1"/>
              <p:nvPr/>
            </p:nvSpPr>
            <p:spPr>
              <a:xfrm>
                <a:off x="1149178" y="190150"/>
                <a:ext cx="1022648" cy="63607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800">
                    <a:solidFill>
                      <a:srgbClr val="D5D5D5"/>
                    </a:solidFill>
                  </a:defRPr>
                </a:lvl1pPr>
              </a:lstStyle>
              <a:p>
                <a:r>
                  <a:rPr sz="1400">
                    <a:latin typeface="Manrope" pitchFamily="2" charset="0"/>
                  </a:rPr>
                  <a:t>Logo</a:t>
                </a:r>
              </a:p>
            </p:txBody>
          </p:sp>
          <p:sp>
            <p:nvSpPr>
              <p:cNvPr id="48" name="Rettangolo arrotondato">
                <a:extLst>
                  <a:ext uri="{FF2B5EF4-FFF2-40B4-BE49-F238E27FC236}">
                    <a16:creationId xmlns:a16="http://schemas.microsoft.com/office/drawing/2014/main" id="{51D7D47B-E4A9-117B-C867-618C7B14273D}"/>
                  </a:ext>
                </a:extLst>
              </p:cNvPr>
              <p:cNvSpPr/>
              <p:nvPr/>
            </p:nvSpPr>
            <p:spPr>
              <a:xfrm>
                <a:off x="0" y="0"/>
                <a:ext cx="1016380" cy="1016380"/>
              </a:xfrm>
              <a:prstGeom prst="roundRect">
                <a:avLst>
                  <a:gd name="adj" fmla="val 9826"/>
                </a:avLst>
              </a:prstGeom>
              <a:solidFill>
                <a:srgbClr val="D5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412756">
                  <a:defRPr sz="3200">
                    <a:solidFill>
                      <a:srgbClr val="D5D5D5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51" name="Immagine 50">
            <a:extLst>
              <a:ext uri="{FF2B5EF4-FFF2-40B4-BE49-F238E27FC236}">
                <a16:creationId xmlns:a16="http://schemas.microsoft.com/office/drawing/2014/main" id="{181E7BAF-676D-D668-15AC-6903A8FCDE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934" y="6123318"/>
            <a:ext cx="1548101" cy="499859"/>
          </a:xfrm>
          <a:prstGeom prst="rect">
            <a:avLst/>
          </a:prstGeom>
        </p:spPr>
      </p:pic>
      <p:sp>
        <p:nvSpPr>
          <p:cNvPr id="52" name="Titolo 5">
            <a:extLst>
              <a:ext uri="{FF2B5EF4-FFF2-40B4-BE49-F238E27FC236}">
                <a16:creationId xmlns:a16="http://schemas.microsoft.com/office/drawing/2014/main" id="{FAD942FF-4AE3-BA4F-0D20-F8F6CDA75D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287" y="1873912"/>
            <a:ext cx="10986218" cy="2324100"/>
          </a:xfrm>
          <a:prstGeom prst="rect">
            <a:avLst/>
          </a:prstGeom>
        </p:spPr>
        <p:txBody>
          <a:bodyPr lIns="0" tIns="360000" rIns="0" bIns="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Inserire titolo</a:t>
            </a:r>
          </a:p>
        </p:txBody>
      </p:sp>
      <p:sp>
        <p:nvSpPr>
          <p:cNvPr id="53" name="Tema / Titolo / Docente  |  00. 00. 0000">
            <a:extLst>
              <a:ext uri="{FF2B5EF4-FFF2-40B4-BE49-F238E27FC236}">
                <a16:creationId xmlns:a16="http://schemas.microsoft.com/office/drawing/2014/main" id="{21E39AD4-D17D-DA18-8557-753A1598EDBB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494701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00. 00. 0000  |  Relatore</a:t>
            </a:r>
          </a:p>
        </p:txBody>
      </p:sp>
      <p:sp>
        <p:nvSpPr>
          <p:cNvPr id="31" name="Cerchio">
            <a:extLst>
              <a:ext uri="{FF2B5EF4-FFF2-40B4-BE49-F238E27FC236}">
                <a16:creationId xmlns:a16="http://schemas.microsoft.com/office/drawing/2014/main" id="{A9903704-CFC7-476C-9852-F48766C69614}"/>
              </a:ext>
            </a:extLst>
          </p:cNvPr>
          <p:cNvSpPr/>
          <p:nvPr userDrawn="1"/>
        </p:nvSpPr>
        <p:spPr>
          <a:xfrm rot="10800000">
            <a:off x="7559558" y="-2130267"/>
            <a:ext cx="4010434" cy="4010172"/>
          </a:xfrm>
          <a:prstGeom prst="ellipse">
            <a:avLst/>
          </a:prstGeom>
          <a:gradFill flip="none" rotWithShape="1">
            <a:gsLst>
              <a:gs pos="14000">
                <a:srgbClr val="FFFFFF">
                  <a:alpha val="30368"/>
                </a:srgbClr>
              </a:gs>
              <a:gs pos="13661">
                <a:srgbClr val="8896A9">
                  <a:alpha val="15184"/>
                </a:srgb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32" name="Cerchio">
            <a:extLst>
              <a:ext uri="{FF2B5EF4-FFF2-40B4-BE49-F238E27FC236}">
                <a16:creationId xmlns:a16="http://schemas.microsoft.com/office/drawing/2014/main" id="{A6756836-4360-4832-91E9-DC1FED362D89}"/>
              </a:ext>
            </a:extLst>
          </p:cNvPr>
          <p:cNvSpPr/>
          <p:nvPr userDrawn="1"/>
        </p:nvSpPr>
        <p:spPr>
          <a:xfrm>
            <a:off x="7559559" y="1879907"/>
            <a:ext cx="4010432" cy="4010171"/>
          </a:xfrm>
          <a:prstGeom prst="ellipse">
            <a:avLst/>
          </a:prstGeom>
          <a:gradFill flip="none" rotWithShape="1">
            <a:gsLst>
              <a:gs pos="14000">
                <a:srgbClr val="FFFFFF">
                  <a:alpha val="30000"/>
                </a:srgbClr>
              </a:gs>
              <a:gs pos="13661">
                <a:srgbClr val="8896A9">
                  <a:alpha val="14846"/>
                </a:srgb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>
                    <a:alpha val="20092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>
              <a:latin typeface="Manrope" pitchFamily="2" charset="0"/>
              <a:cs typeface="Arial" panose="020B0604020202020204" pitchFamily="34" charset="0"/>
            </a:endParaRPr>
          </a:p>
        </p:txBody>
      </p:sp>
      <p:cxnSp>
        <p:nvCxnSpPr>
          <p:cNvPr id="33" name="Connettore diritto 32">
            <a:extLst>
              <a:ext uri="{FF2B5EF4-FFF2-40B4-BE49-F238E27FC236}">
                <a16:creationId xmlns:a16="http://schemas.microsoft.com/office/drawing/2014/main" id="{21D738D7-7E88-4675-A0EF-E3BAD613F5D5}"/>
              </a:ext>
            </a:extLst>
          </p:cNvPr>
          <p:cNvCxnSpPr>
            <a:cxnSpLocks/>
          </p:cNvCxnSpPr>
          <p:nvPr userDrawn="1"/>
        </p:nvCxnSpPr>
        <p:spPr>
          <a:xfrm>
            <a:off x="11569992" y="-973483"/>
            <a:ext cx="0" cy="685800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diritto 53">
            <a:extLst>
              <a:ext uri="{FF2B5EF4-FFF2-40B4-BE49-F238E27FC236}">
                <a16:creationId xmlns:a16="http://schemas.microsoft.com/office/drawing/2014/main" id="{F9039971-82D3-47A9-A22B-57F88091170C}"/>
              </a:ext>
            </a:extLst>
          </p:cNvPr>
          <p:cNvCxnSpPr>
            <a:cxnSpLocks/>
          </p:cNvCxnSpPr>
          <p:nvPr userDrawn="1"/>
        </p:nvCxnSpPr>
        <p:spPr>
          <a:xfrm>
            <a:off x="7534019" y="-973483"/>
            <a:ext cx="0" cy="685800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ttore diritto 54">
            <a:extLst>
              <a:ext uri="{FF2B5EF4-FFF2-40B4-BE49-F238E27FC236}">
                <a16:creationId xmlns:a16="http://schemas.microsoft.com/office/drawing/2014/main" id="{646E7D75-6D87-4823-9E66-BDAA6D07313A}"/>
              </a:ext>
            </a:extLst>
          </p:cNvPr>
          <p:cNvCxnSpPr>
            <a:cxnSpLocks/>
          </p:cNvCxnSpPr>
          <p:nvPr userDrawn="1"/>
        </p:nvCxnSpPr>
        <p:spPr>
          <a:xfrm>
            <a:off x="0" y="1879907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5006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D">
    <p:bg>
      <p:bgPr>
        <a:gradFill>
          <a:gsLst>
            <a:gs pos="100000">
              <a:srgbClr val="8795A8"/>
            </a:gs>
            <a:gs pos="27000">
              <a:srgbClr val="102C5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e 3">
            <a:extLst>
              <a:ext uri="{FF2B5EF4-FFF2-40B4-BE49-F238E27FC236}">
                <a16:creationId xmlns:a16="http://schemas.microsoft.com/office/drawing/2014/main" id="{0F18E289-8097-CB41-B2E0-E50D794D361D}"/>
              </a:ext>
            </a:extLst>
          </p:cNvPr>
          <p:cNvSpPr/>
          <p:nvPr userDrawn="1"/>
        </p:nvSpPr>
        <p:spPr>
          <a:xfrm>
            <a:off x="2609" y="1424519"/>
            <a:ext cx="10887979" cy="10887270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15412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>
              <a:latin typeface="Manrope" pitchFamily="2" charset="0"/>
            </a:endParaRPr>
          </a:p>
        </p:txBody>
      </p:sp>
      <p:sp>
        <p:nvSpPr>
          <p:cNvPr id="34" name="t">
            <a:extLst>
              <a:ext uri="{FF2B5EF4-FFF2-40B4-BE49-F238E27FC236}">
                <a16:creationId xmlns:a16="http://schemas.microsoft.com/office/drawing/2014/main" id="{5904BB58-3F14-9C88-2C51-FC53AD74ECDB}"/>
              </a:ext>
            </a:extLst>
          </p:cNvPr>
          <p:cNvSpPr/>
          <p:nvPr userDrawn="1"/>
        </p:nvSpPr>
        <p:spPr>
          <a:xfrm>
            <a:off x="-13900" y="5890078"/>
            <a:ext cx="12220596" cy="97807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25400" tIns="25400" rIns="25400" bIns="25400" anchor="ctr"/>
          <a:lstStyle>
            <a:lvl1pPr algn="ctr"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sz="160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</a:p>
        </p:txBody>
      </p:sp>
      <p:grpSp>
        <p:nvGrpSpPr>
          <p:cNvPr id="35" name="Raggruppa">
            <a:extLst>
              <a:ext uri="{FF2B5EF4-FFF2-40B4-BE49-F238E27FC236}">
                <a16:creationId xmlns:a16="http://schemas.microsoft.com/office/drawing/2014/main" id="{10E0AFDC-3F66-1CFB-E987-27D87A91FC3E}"/>
              </a:ext>
            </a:extLst>
          </p:cNvPr>
          <p:cNvGrpSpPr/>
          <p:nvPr userDrawn="1"/>
        </p:nvGrpSpPr>
        <p:grpSpPr>
          <a:xfrm>
            <a:off x="2454737" y="6112429"/>
            <a:ext cx="774301" cy="512711"/>
            <a:chOff x="55030" y="-1"/>
            <a:chExt cx="1548497" cy="1025419"/>
          </a:xfrm>
        </p:grpSpPr>
        <p:sp>
          <p:nvSpPr>
            <p:cNvPr id="36" name="Dicitura 01">
              <a:extLst>
                <a:ext uri="{FF2B5EF4-FFF2-40B4-BE49-F238E27FC236}">
                  <a16:creationId xmlns:a16="http://schemas.microsoft.com/office/drawing/2014/main" id="{10073F5C-DD0F-6D06-4F37-6385373A1AB7}"/>
                </a:ext>
              </a:extLst>
            </p:cNvPr>
            <p:cNvSpPr txBox="1"/>
            <p:nvPr/>
          </p:nvSpPr>
          <p:spPr>
            <a:xfrm>
              <a:off x="55030" y="102541"/>
              <a:ext cx="1391313" cy="4821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r">
                <a:defRPr sz="2200">
                  <a:solidFill>
                    <a:srgbClr val="102C53"/>
                  </a:solidFill>
                </a:defRPr>
              </a:lvl1pPr>
            </a:lstStyle>
            <a:p>
              <a:r>
                <a:rPr sz="900" b="1" err="1">
                  <a:latin typeface="Manrope" pitchFamily="2" charset="0"/>
                </a:rPr>
                <a:t>Dicitura</a:t>
              </a:r>
              <a:r>
                <a:rPr sz="900" b="1">
                  <a:latin typeface="Manrope" pitchFamily="2" charset="0"/>
                </a:rPr>
                <a:t> 01</a:t>
              </a:r>
            </a:p>
          </p:txBody>
        </p:sp>
        <p:sp>
          <p:nvSpPr>
            <p:cNvPr id="37" name="Linea">
              <a:extLst>
                <a:ext uri="{FF2B5EF4-FFF2-40B4-BE49-F238E27FC236}">
                  <a16:creationId xmlns:a16="http://schemas.microsoft.com/office/drawing/2014/main" id="{A2D93BEA-CDAB-B761-4314-7A4D96C6DDEB}"/>
                </a:ext>
              </a:extLst>
            </p:cNvPr>
            <p:cNvSpPr/>
            <p:nvPr/>
          </p:nvSpPr>
          <p:spPr>
            <a:xfrm flipV="1">
              <a:off x="1603526" y="-1"/>
              <a:ext cx="1" cy="1025419"/>
            </a:xfrm>
            <a:prstGeom prst="line">
              <a:avLst/>
            </a:prstGeom>
            <a:noFill/>
            <a:ln w="9525" cap="flat">
              <a:solidFill>
                <a:srgbClr val="102C53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 sz="338">
                <a:latin typeface="Manrope" pitchFamily="2" charset="0"/>
              </a:endParaRPr>
            </a:p>
          </p:txBody>
        </p:sp>
      </p:grpSp>
      <p:grpSp>
        <p:nvGrpSpPr>
          <p:cNvPr id="38" name="Raggruppa">
            <a:extLst>
              <a:ext uri="{FF2B5EF4-FFF2-40B4-BE49-F238E27FC236}">
                <a16:creationId xmlns:a16="http://schemas.microsoft.com/office/drawing/2014/main" id="{56DCEED6-6F0E-CCBB-2279-C15A32771039}"/>
              </a:ext>
            </a:extLst>
          </p:cNvPr>
          <p:cNvGrpSpPr/>
          <p:nvPr userDrawn="1"/>
        </p:nvGrpSpPr>
        <p:grpSpPr>
          <a:xfrm>
            <a:off x="6067169" y="6112429"/>
            <a:ext cx="790072" cy="512711"/>
            <a:chOff x="70058" y="-1"/>
            <a:chExt cx="1580036" cy="1025419"/>
          </a:xfrm>
        </p:grpSpPr>
        <p:sp>
          <p:nvSpPr>
            <p:cNvPr id="39" name="Dicitura 02">
              <a:extLst>
                <a:ext uri="{FF2B5EF4-FFF2-40B4-BE49-F238E27FC236}">
                  <a16:creationId xmlns:a16="http://schemas.microsoft.com/office/drawing/2014/main" id="{65F304E2-7E9C-B774-6D16-605FDABF18A3}"/>
                </a:ext>
              </a:extLst>
            </p:cNvPr>
            <p:cNvSpPr txBox="1"/>
            <p:nvPr/>
          </p:nvSpPr>
          <p:spPr>
            <a:xfrm>
              <a:off x="70058" y="102541"/>
              <a:ext cx="1426577" cy="4821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algn="r">
                <a:defRPr sz="2200">
                  <a:solidFill>
                    <a:srgbClr val="102C53"/>
                  </a:solidFill>
                </a:defRPr>
              </a:lvl1pPr>
            </a:lstStyle>
            <a:p>
              <a:r>
                <a:rPr sz="900" b="1" err="1">
                  <a:latin typeface="Manrope" pitchFamily="2" charset="0"/>
                </a:rPr>
                <a:t>Dicitura</a:t>
              </a:r>
              <a:r>
                <a:rPr sz="900" b="1">
                  <a:latin typeface="Manrope" pitchFamily="2" charset="0"/>
                </a:rPr>
                <a:t> 02</a:t>
              </a:r>
            </a:p>
          </p:txBody>
        </p:sp>
        <p:sp>
          <p:nvSpPr>
            <p:cNvPr id="40" name="Linea">
              <a:extLst>
                <a:ext uri="{FF2B5EF4-FFF2-40B4-BE49-F238E27FC236}">
                  <a16:creationId xmlns:a16="http://schemas.microsoft.com/office/drawing/2014/main" id="{0D3513D8-03DF-07FB-C95C-75AB43EA944A}"/>
                </a:ext>
              </a:extLst>
            </p:cNvPr>
            <p:cNvSpPr/>
            <p:nvPr/>
          </p:nvSpPr>
          <p:spPr>
            <a:xfrm flipV="1">
              <a:off x="1650093" y="-1"/>
              <a:ext cx="1" cy="1025419"/>
            </a:xfrm>
            <a:prstGeom prst="line">
              <a:avLst/>
            </a:prstGeom>
            <a:noFill/>
            <a:ln w="9525" cap="flat">
              <a:solidFill>
                <a:srgbClr val="102C53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 sz="338">
                <a:latin typeface="Manrope" pitchFamily="2" charset="0"/>
              </a:endParaRPr>
            </a:p>
          </p:txBody>
        </p:sp>
      </p:grpSp>
      <p:grpSp>
        <p:nvGrpSpPr>
          <p:cNvPr id="41" name="Raggruppa">
            <a:extLst>
              <a:ext uri="{FF2B5EF4-FFF2-40B4-BE49-F238E27FC236}">
                <a16:creationId xmlns:a16="http://schemas.microsoft.com/office/drawing/2014/main" id="{EE4E4B32-B5F8-3F30-EE38-C91ECC226870}"/>
              </a:ext>
            </a:extLst>
          </p:cNvPr>
          <p:cNvGrpSpPr/>
          <p:nvPr userDrawn="1"/>
        </p:nvGrpSpPr>
        <p:grpSpPr>
          <a:xfrm>
            <a:off x="7104925" y="6152538"/>
            <a:ext cx="979517" cy="453158"/>
            <a:chOff x="60711" y="0"/>
            <a:chExt cx="1958904" cy="906313"/>
          </a:xfrm>
        </p:grpSpPr>
        <p:sp>
          <p:nvSpPr>
            <p:cNvPr id="42" name="Logo">
              <a:extLst>
                <a:ext uri="{FF2B5EF4-FFF2-40B4-BE49-F238E27FC236}">
                  <a16:creationId xmlns:a16="http://schemas.microsoft.com/office/drawing/2014/main" id="{01F912F9-4CA7-0309-4362-4AE504D449B0}"/>
                </a:ext>
              </a:extLst>
            </p:cNvPr>
            <p:cNvSpPr txBox="1"/>
            <p:nvPr/>
          </p:nvSpPr>
          <p:spPr>
            <a:xfrm>
              <a:off x="996967" y="135122"/>
              <a:ext cx="1022648" cy="6360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>
                  <a:solidFill>
                    <a:srgbClr val="D5D5D5"/>
                  </a:solidFill>
                </a:defRPr>
              </a:lvl1pPr>
            </a:lstStyle>
            <a:p>
              <a:r>
                <a:rPr sz="1400">
                  <a:latin typeface="Manrope" pitchFamily="2" charset="0"/>
                </a:rPr>
                <a:t>Logo</a:t>
              </a:r>
            </a:p>
          </p:txBody>
        </p:sp>
        <p:sp>
          <p:nvSpPr>
            <p:cNvPr id="43" name="Poligono">
              <a:extLst>
                <a:ext uri="{FF2B5EF4-FFF2-40B4-BE49-F238E27FC236}">
                  <a16:creationId xmlns:a16="http://schemas.microsoft.com/office/drawing/2014/main" id="{1A2CDB77-2460-9096-7611-C3E31F3AB038}"/>
                </a:ext>
              </a:extLst>
            </p:cNvPr>
            <p:cNvSpPr/>
            <p:nvPr/>
          </p:nvSpPr>
          <p:spPr>
            <a:xfrm>
              <a:off x="60711" y="0"/>
              <a:ext cx="784891" cy="906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5400"/>
                  </a:lnTo>
                  <a:lnTo>
                    <a:pt x="21600" y="16200"/>
                  </a:lnTo>
                  <a:lnTo>
                    <a:pt x="10800" y="21600"/>
                  </a:lnTo>
                  <a:lnTo>
                    <a:pt x="0" y="16200"/>
                  </a:lnTo>
                  <a:lnTo>
                    <a:pt x="0" y="5400"/>
                  </a:lnTo>
                  <a:close/>
                </a:path>
              </a:pathLst>
            </a:custGeom>
            <a:solidFill>
              <a:srgbClr val="D5D5D5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412756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4" name="Raggruppa">
            <a:extLst>
              <a:ext uri="{FF2B5EF4-FFF2-40B4-BE49-F238E27FC236}">
                <a16:creationId xmlns:a16="http://schemas.microsoft.com/office/drawing/2014/main" id="{E9DC9E88-ED5E-A322-CEF0-BA8C7730DD17}"/>
              </a:ext>
            </a:extLst>
          </p:cNvPr>
          <p:cNvGrpSpPr/>
          <p:nvPr userDrawn="1"/>
        </p:nvGrpSpPr>
        <p:grpSpPr>
          <a:xfrm>
            <a:off x="3478116" y="6125021"/>
            <a:ext cx="2345580" cy="508191"/>
            <a:chOff x="-1" y="0"/>
            <a:chExt cx="4690853" cy="1016381"/>
          </a:xfrm>
        </p:grpSpPr>
        <p:grpSp>
          <p:nvGrpSpPr>
            <p:cNvPr id="45" name="Raggruppa">
              <a:extLst>
                <a:ext uri="{FF2B5EF4-FFF2-40B4-BE49-F238E27FC236}">
                  <a16:creationId xmlns:a16="http://schemas.microsoft.com/office/drawing/2014/main" id="{0AAB06EA-BD72-204E-2331-5ADA684865D6}"/>
                </a:ext>
              </a:extLst>
            </p:cNvPr>
            <p:cNvGrpSpPr/>
            <p:nvPr/>
          </p:nvGrpSpPr>
          <p:grpSpPr>
            <a:xfrm>
              <a:off x="-1" y="0"/>
              <a:ext cx="2032314" cy="1016381"/>
              <a:chOff x="0" y="0"/>
              <a:chExt cx="2032313" cy="1016380"/>
            </a:xfrm>
          </p:grpSpPr>
          <p:sp>
            <p:nvSpPr>
              <p:cNvPr id="49" name="Logo">
                <a:extLst>
                  <a:ext uri="{FF2B5EF4-FFF2-40B4-BE49-F238E27FC236}">
                    <a16:creationId xmlns:a16="http://schemas.microsoft.com/office/drawing/2014/main" id="{E2A46CB7-6126-FAF4-587A-DD55008E4667}"/>
                  </a:ext>
                </a:extLst>
              </p:cNvPr>
              <p:cNvSpPr txBox="1"/>
              <p:nvPr/>
            </p:nvSpPr>
            <p:spPr>
              <a:xfrm>
                <a:off x="1009665" y="190150"/>
                <a:ext cx="1022648" cy="63607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800">
                    <a:solidFill>
                      <a:srgbClr val="D5D5D5"/>
                    </a:solidFill>
                  </a:defRPr>
                </a:lvl1pPr>
              </a:lstStyle>
              <a:p>
                <a:r>
                  <a:rPr sz="1400">
                    <a:latin typeface="Manrope" pitchFamily="2" charset="0"/>
                  </a:rPr>
                  <a:t>Logo</a:t>
                </a:r>
              </a:p>
            </p:txBody>
          </p:sp>
          <p:sp>
            <p:nvSpPr>
              <p:cNvPr id="50" name="Triangolo">
                <a:extLst>
                  <a:ext uri="{FF2B5EF4-FFF2-40B4-BE49-F238E27FC236}">
                    <a16:creationId xmlns:a16="http://schemas.microsoft.com/office/drawing/2014/main" id="{49414913-DF6E-3124-0037-4413F4E9DBA5}"/>
                  </a:ext>
                </a:extLst>
              </p:cNvPr>
              <p:cNvSpPr/>
              <p:nvPr/>
            </p:nvSpPr>
            <p:spPr>
              <a:xfrm>
                <a:off x="0" y="0"/>
                <a:ext cx="1016380" cy="10163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D5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412756"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6" name="Raggruppa">
              <a:extLst>
                <a:ext uri="{FF2B5EF4-FFF2-40B4-BE49-F238E27FC236}">
                  <a16:creationId xmlns:a16="http://schemas.microsoft.com/office/drawing/2014/main" id="{2E1D7F5F-ABE7-5DE5-9E9B-5271458A6691}"/>
                </a:ext>
              </a:extLst>
            </p:cNvPr>
            <p:cNvGrpSpPr/>
            <p:nvPr/>
          </p:nvGrpSpPr>
          <p:grpSpPr>
            <a:xfrm>
              <a:off x="2519023" y="0"/>
              <a:ext cx="2171829" cy="1016381"/>
              <a:chOff x="0" y="0"/>
              <a:chExt cx="2171826" cy="1016380"/>
            </a:xfrm>
          </p:grpSpPr>
          <p:sp>
            <p:nvSpPr>
              <p:cNvPr id="47" name="Logo">
                <a:extLst>
                  <a:ext uri="{FF2B5EF4-FFF2-40B4-BE49-F238E27FC236}">
                    <a16:creationId xmlns:a16="http://schemas.microsoft.com/office/drawing/2014/main" id="{FB792114-1E03-A8B8-F9F6-0BD1E522B30C}"/>
                  </a:ext>
                </a:extLst>
              </p:cNvPr>
              <p:cNvSpPr txBox="1"/>
              <p:nvPr/>
            </p:nvSpPr>
            <p:spPr>
              <a:xfrm>
                <a:off x="1149178" y="190150"/>
                <a:ext cx="1022648" cy="63607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800">
                    <a:solidFill>
                      <a:srgbClr val="D5D5D5"/>
                    </a:solidFill>
                  </a:defRPr>
                </a:lvl1pPr>
              </a:lstStyle>
              <a:p>
                <a:r>
                  <a:rPr sz="1400">
                    <a:latin typeface="Manrope" pitchFamily="2" charset="0"/>
                  </a:rPr>
                  <a:t>Logo</a:t>
                </a:r>
              </a:p>
            </p:txBody>
          </p:sp>
          <p:sp>
            <p:nvSpPr>
              <p:cNvPr id="48" name="Rettangolo arrotondato">
                <a:extLst>
                  <a:ext uri="{FF2B5EF4-FFF2-40B4-BE49-F238E27FC236}">
                    <a16:creationId xmlns:a16="http://schemas.microsoft.com/office/drawing/2014/main" id="{51D7D47B-E4A9-117B-C867-618C7B14273D}"/>
                  </a:ext>
                </a:extLst>
              </p:cNvPr>
              <p:cNvSpPr/>
              <p:nvPr/>
            </p:nvSpPr>
            <p:spPr>
              <a:xfrm>
                <a:off x="0" y="0"/>
                <a:ext cx="1016380" cy="1016380"/>
              </a:xfrm>
              <a:prstGeom prst="roundRect">
                <a:avLst>
                  <a:gd name="adj" fmla="val 9826"/>
                </a:avLst>
              </a:prstGeom>
              <a:solidFill>
                <a:srgbClr val="D5D5D5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412756">
                  <a:defRPr sz="3200">
                    <a:solidFill>
                      <a:srgbClr val="D5D5D5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 sz="16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51" name="Immagine 50">
            <a:extLst>
              <a:ext uri="{FF2B5EF4-FFF2-40B4-BE49-F238E27FC236}">
                <a16:creationId xmlns:a16="http://schemas.microsoft.com/office/drawing/2014/main" id="{181E7BAF-676D-D668-15AC-6903A8FCDE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934" y="6123318"/>
            <a:ext cx="1548101" cy="499859"/>
          </a:xfrm>
          <a:prstGeom prst="rect">
            <a:avLst/>
          </a:prstGeom>
        </p:spPr>
      </p:pic>
      <p:sp>
        <p:nvSpPr>
          <p:cNvPr id="52" name="Titolo 5">
            <a:extLst>
              <a:ext uri="{FF2B5EF4-FFF2-40B4-BE49-F238E27FC236}">
                <a16:creationId xmlns:a16="http://schemas.microsoft.com/office/drawing/2014/main" id="{FAD942FF-4AE3-BA4F-0D20-F8F6CDA75D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287" y="1873912"/>
            <a:ext cx="10986218" cy="2324100"/>
          </a:xfrm>
          <a:prstGeom prst="rect">
            <a:avLst/>
          </a:prstGeom>
        </p:spPr>
        <p:txBody>
          <a:bodyPr lIns="0" tIns="360000" rIns="0" bIns="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Inserire titolo</a:t>
            </a:r>
          </a:p>
        </p:txBody>
      </p:sp>
      <p:sp>
        <p:nvSpPr>
          <p:cNvPr id="53" name="Tema / Titolo / Docente  |  00. 00. 0000">
            <a:extLst>
              <a:ext uri="{FF2B5EF4-FFF2-40B4-BE49-F238E27FC236}">
                <a16:creationId xmlns:a16="http://schemas.microsoft.com/office/drawing/2014/main" id="{21E39AD4-D17D-DA18-8557-753A1598EDBB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494701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00. 00. 0000  |  Relatore</a:t>
            </a:r>
          </a:p>
        </p:txBody>
      </p:sp>
      <p:sp>
        <p:nvSpPr>
          <p:cNvPr id="62" name="Linea">
            <a:extLst>
              <a:ext uri="{FF2B5EF4-FFF2-40B4-BE49-F238E27FC236}">
                <a16:creationId xmlns:a16="http://schemas.microsoft.com/office/drawing/2014/main" id="{54CC51DA-C723-F8DB-C158-F298D04F09C3}"/>
              </a:ext>
            </a:extLst>
          </p:cNvPr>
          <p:cNvSpPr/>
          <p:nvPr userDrawn="1"/>
        </p:nvSpPr>
        <p:spPr>
          <a:xfrm>
            <a:off x="0" y="1416971"/>
            <a:ext cx="12192795" cy="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>
              <a:latin typeface="Manrope" pitchFamily="2" charset="0"/>
            </a:endParaRPr>
          </a:p>
        </p:txBody>
      </p:sp>
      <p:sp>
        <p:nvSpPr>
          <p:cNvPr id="3" name="Linea">
            <a:extLst>
              <a:ext uri="{FF2B5EF4-FFF2-40B4-BE49-F238E27FC236}">
                <a16:creationId xmlns:a16="http://schemas.microsoft.com/office/drawing/2014/main" id="{212AA810-2E06-6DB2-CF2D-E8B825DA18E6}"/>
              </a:ext>
            </a:extLst>
          </p:cNvPr>
          <p:cNvSpPr/>
          <p:nvPr userDrawn="1"/>
        </p:nvSpPr>
        <p:spPr>
          <a:xfrm rot="10800000" flipH="1">
            <a:off x="10895557" y="-1590"/>
            <a:ext cx="1" cy="6855889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399" tIns="25399" rIns="25399" bIns="25399" anchor="ctr"/>
          <a:lstStyle/>
          <a:p>
            <a:endParaRPr sz="1200">
              <a:latin typeface="Manrope" pitchFamily="2" charset="0"/>
            </a:endParaRPr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1526C403-D8EF-49F4-AE98-8D0CC36DA1EF}"/>
              </a:ext>
            </a:extLst>
          </p:cNvPr>
          <p:cNvSpPr/>
          <p:nvPr userDrawn="1"/>
        </p:nvSpPr>
        <p:spPr>
          <a:xfrm>
            <a:off x="2609" y="-9484154"/>
            <a:ext cx="10887979" cy="10887270"/>
          </a:xfrm>
          <a:prstGeom prst="ellipse">
            <a:avLst/>
          </a:prstGeom>
          <a:gradFill flip="none" rotWithShape="1">
            <a:gsLst>
              <a:gs pos="38000">
                <a:schemeClr val="tx1">
                  <a:lumMod val="0"/>
                  <a:lumOff val="100000"/>
                  <a:alpha val="15412"/>
                </a:schemeClr>
              </a:gs>
              <a:gs pos="82000">
                <a:schemeClr val="accent3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900">
              <a:latin typeface="Manrop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52675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ea">
            <a:extLst>
              <a:ext uri="{FF2B5EF4-FFF2-40B4-BE49-F238E27FC236}">
                <a16:creationId xmlns:a16="http://schemas.microsoft.com/office/drawing/2014/main" id="{06A5565B-3792-761F-D5E8-89E83049F337}"/>
              </a:ext>
            </a:extLst>
          </p:cNvPr>
          <p:cNvSpPr/>
          <p:nvPr userDrawn="1"/>
        </p:nvSpPr>
        <p:spPr>
          <a:xfrm>
            <a:off x="0" y="3429000"/>
            <a:ext cx="12192795" cy="0"/>
          </a:xfrm>
          <a:prstGeom prst="line">
            <a:avLst/>
          </a:prstGeom>
          <a:ln w="6350">
            <a:solidFill>
              <a:srgbClr val="102C53"/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>
              <a:latin typeface="Manrope" pitchFamily="2" charset="0"/>
            </a:endParaRPr>
          </a:p>
        </p:txBody>
      </p:sp>
      <p:sp>
        <p:nvSpPr>
          <p:cNvPr id="12" name="Linea">
            <a:extLst>
              <a:ext uri="{FF2B5EF4-FFF2-40B4-BE49-F238E27FC236}">
                <a16:creationId xmlns:a16="http://schemas.microsoft.com/office/drawing/2014/main" id="{39CEE595-3918-20DF-0A93-E1BE36E4BCF4}"/>
              </a:ext>
            </a:extLst>
          </p:cNvPr>
          <p:cNvSpPr/>
          <p:nvPr userDrawn="1"/>
        </p:nvSpPr>
        <p:spPr>
          <a:xfrm flipV="1">
            <a:off x="11566815" y="15448"/>
            <a:ext cx="0" cy="6827108"/>
          </a:xfrm>
          <a:prstGeom prst="line">
            <a:avLst/>
          </a:prstGeom>
          <a:ln w="6350">
            <a:solidFill>
              <a:srgbClr val="102C53"/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>
              <a:latin typeface="Manrope" pitchFamily="2" charset="0"/>
            </a:endParaRPr>
          </a:p>
        </p:txBody>
      </p:sp>
      <p:sp>
        <p:nvSpPr>
          <p:cNvPr id="13" name="Linea">
            <a:extLst>
              <a:ext uri="{FF2B5EF4-FFF2-40B4-BE49-F238E27FC236}">
                <a16:creationId xmlns:a16="http://schemas.microsoft.com/office/drawing/2014/main" id="{1FF15F9B-EC12-8E00-194B-C92BF9532474}"/>
              </a:ext>
            </a:extLst>
          </p:cNvPr>
          <p:cNvSpPr/>
          <p:nvPr userDrawn="1"/>
        </p:nvSpPr>
        <p:spPr>
          <a:xfrm flipV="1">
            <a:off x="7562733" y="15448"/>
            <a:ext cx="0" cy="6827108"/>
          </a:xfrm>
          <a:prstGeom prst="line">
            <a:avLst/>
          </a:prstGeom>
          <a:ln w="6350">
            <a:solidFill>
              <a:srgbClr val="102C53"/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>
              <a:latin typeface="Manrope" pitchFamily="2" charset="0"/>
            </a:endParaRPr>
          </a:p>
        </p:txBody>
      </p:sp>
      <p:sp>
        <p:nvSpPr>
          <p:cNvPr id="14" name="Tema / Titolo / Docente  |  00. 00. 0000">
            <a:extLst>
              <a:ext uri="{FF2B5EF4-FFF2-40B4-BE49-F238E27FC236}">
                <a16:creationId xmlns:a16="http://schemas.microsoft.com/office/drawing/2014/main" id="{1DCB0E58-CB34-9BB0-27A9-F358FEB81E9A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5929933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 marL="0" indent="0">
              <a:lnSpc>
                <a:spcPct val="100000"/>
              </a:lnSpc>
              <a:buNone/>
              <a:defRPr sz="1200">
                <a:solidFill>
                  <a:schemeClr val="tx2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00. 00. 0000  |  Relatore</a:t>
            </a:r>
          </a:p>
        </p:txBody>
      </p:sp>
      <p:sp>
        <p:nvSpPr>
          <p:cNvPr id="17" name="Titolo 5">
            <a:extLst>
              <a:ext uri="{FF2B5EF4-FFF2-40B4-BE49-F238E27FC236}">
                <a16:creationId xmlns:a16="http://schemas.microsoft.com/office/drawing/2014/main" id="{4DAF60AC-FCFA-4F79-8AA6-85AC61BFA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287" y="3429000"/>
            <a:ext cx="6953096" cy="2324100"/>
          </a:xfrm>
          <a:prstGeom prst="rect">
            <a:avLst/>
          </a:prstGeom>
        </p:spPr>
        <p:txBody>
          <a:bodyPr lIns="0" tIns="360000" rIns="0" bIns="0"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Inserire titolo</a:t>
            </a:r>
            <a:br>
              <a:rPr lang="it-IT"/>
            </a:br>
            <a:r>
              <a:rPr lang="it-IT"/>
              <a:t>Presentazione</a:t>
            </a:r>
          </a:p>
        </p:txBody>
      </p:sp>
      <p:sp>
        <p:nvSpPr>
          <p:cNvPr id="21" name="Cerchio">
            <a:extLst>
              <a:ext uri="{FF2B5EF4-FFF2-40B4-BE49-F238E27FC236}">
                <a16:creationId xmlns:a16="http://schemas.microsoft.com/office/drawing/2014/main" id="{6E7576C8-25DA-044B-E1DD-8104EE1A54CF}"/>
              </a:ext>
            </a:extLst>
          </p:cNvPr>
          <p:cNvSpPr/>
          <p:nvPr userDrawn="1"/>
        </p:nvSpPr>
        <p:spPr>
          <a:xfrm rot="5400000">
            <a:off x="7572787" y="-581302"/>
            <a:ext cx="4010172" cy="4010432"/>
          </a:xfrm>
          <a:prstGeom prst="ellipse">
            <a:avLst/>
          </a:prstGeom>
          <a:gradFill flip="none" rotWithShape="1">
            <a:gsLst>
              <a:gs pos="85000">
                <a:srgbClr val="FFFFFF">
                  <a:alpha val="0"/>
                </a:srgbClr>
              </a:gs>
              <a:gs pos="0">
                <a:srgbClr val="8795A8"/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22" name="Cerchio">
            <a:extLst>
              <a:ext uri="{FF2B5EF4-FFF2-40B4-BE49-F238E27FC236}">
                <a16:creationId xmlns:a16="http://schemas.microsoft.com/office/drawing/2014/main" id="{30211EF7-C505-8055-D080-3F3D88BB6BE8}"/>
              </a:ext>
            </a:extLst>
          </p:cNvPr>
          <p:cNvSpPr/>
          <p:nvPr userDrawn="1"/>
        </p:nvSpPr>
        <p:spPr>
          <a:xfrm rot="16200000">
            <a:off x="7572787" y="3428871"/>
            <a:ext cx="4010172" cy="4010432"/>
          </a:xfrm>
          <a:prstGeom prst="ellipse">
            <a:avLst/>
          </a:prstGeom>
          <a:gradFill flip="none" rotWithShape="1">
            <a:gsLst>
              <a:gs pos="85000">
                <a:srgbClr val="FFFFFF">
                  <a:alpha val="0"/>
                </a:srgbClr>
              </a:gs>
              <a:gs pos="0">
                <a:srgbClr val="8795A8"/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latin typeface="Manrope" pitchFamily="2" charset="0"/>
              <a:cs typeface="Arial" panose="020B0604020202020204" pitchFamily="34" charset="0"/>
            </a:endParaRP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A737DCA1-8034-4460-9A29-E445D90EE9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59" y="558879"/>
            <a:ext cx="2124000" cy="68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7884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F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studente-6.jpg">
            <a:extLst>
              <a:ext uri="{FF2B5EF4-FFF2-40B4-BE49-F238E27FC236}">
                <a16:creationId xmlns:a16="http://schemas.microsoft.com/office/drawing/2014/main" id="{DA0DDB76-F351-4164-94AE-C6D2D1E45F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8" b="7868"/>
          <a:stretch/>
        </p:blipFill>
        <p:spPr>
          <a:xfrm>
            <a:off x="1" y="-15446"/>
            <a:ext cx="12202569" cy="6873447"/>
          </a:xfrm>
          <a:prstGeom prst="rect">
            <a:avLst/>
          </a:prstGeom>
        </p:spPr>
      </p:pic>
      <p:sp>
        <p:nvSpPr>
          <p:cNvPr id="12" name="Rettangolo">
            <a:extLst>
              <a:ext uri="{FF2B5EF4-FFF2-40B4-BE49-F238E27FC236}">
                <a16:creationId xmlns:a16="http://schemas.microsoft.com/office/drawing/2014/main" id="{A66CE9DD-F14C-4A96-8D86-1FA07F6449E0}"/>
              </a:ext>
            </a:extLst>
          </p:cNvPr>
          <p:cNvSpPr/>
          <p:nvPr userDrawn="1"/>
        </p:nvSpPr>
        <p:spPr>
          <a:xfrm>
            <a:off x="0" y="0"/>
            <a:ext cx="12212345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72000">
                <a:srgbClr val="FFFFFF"/>
              </a:gs>
            </a:gsLst>
            <a:lin ang="5400000" scaled="0"/>
            <a:tileRect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Linea">
            <a:extLst>
              <a:ext uri="{FF2B5EF4-FFF2-40B4-BE49-F238E27FC236}">
                <a16:creationId xmlns:a16="http://schemas.microsoft.com/office/drawing/2014/main" id="{B39406AE-79B6-49A1-923B-123760D8505F}"/>
              </a:ext>
            </a:extLst>
          </p:cNvPr>
          <p:cNvSpPr/>
          <p:nvPr userDrawn="1"/>
        </p:nvSpPr>
        <p:spPr>
          <a:xfrm>
            <a:off x="0" y="1980994"/>
            <a:ext cx="12192795" cy="0"/>
          </a:xfrm>
          <a:prstGeom prst="line">
            <a:avLst/>
          </a:prstGeom>
          <a:ln w="6350">
            <a:solidFill>
              <a:schemeClr val="accent1">
                <a:alpha val="50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>
              <a:latin typeface="Manrope" pitchFamily="2" charset="0"/>
            </a:endParaRPr>
          </a:p>
        </p:txBody>
      </p:sp>
      <p:sp>
        <p:nvSpPr>
          <p:cNvPr id="17" name="Linea">
            <a:extLst>
              <a:ext uri="{FF2B5EF4-FFF2-40B4-BE49-F238E27FC236}">
                <a16:creationId xmlns:a16="http://schemas.microsoft.com/office/drawing/2014/main" id="{DCC9F3C9-7921-43F1-BB63-5744C63E565E}"/>
              </a:ext>
            </a:extLst>
          </p:cNvPr>
          <p:cNvSpPr/>
          <p:nvPr userDrawn="1"/>
        </p:nvSpPr>
        <p:spPr>
          <a:xfrm flipV="1">
            <a:off x="10715224" y="15448"/>
            <a:ext cx="0" cy="6827108"/>
          </a:xfrm>
          <a:prstGeom prst="line">
            <a:avLst/>
          </a:prstGeom>
          <a:ln w="6350">
            <a:solidFill>
              <a:schemeClr val="tx2">
                <a:alpha val="50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>
              <a:latin typeface="Manrope" pitchFamily="2" charset="0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A37EF6FA-9E02-465C-BF2C-F79206AB583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15" y="340536"/>
            <a:ext cx="2520000" cy="1099885"/>
          </a:xfrm>
          <a:prstGeom prst="rect">
            <a:avLst/>
          </a:prstGeom>
        </p:spPr>
      </p:pic>
      <p:sp>
        <p:nvSpPr>
          <p:cNvPr id="10" name="Ovale 9">
            <a:extLst>
              <a:ext uri="{FF2B5EF4-FFF2-40B4-BE49-F238E27FC236}">
                <a16:creationId xmlns:a16="http://schemas.microsoft.com/office/drawing/2014/main" id="{1CCADD42-EE9E-4858-B6FB-01BA6E38FAD3}"/>
              </a:ext>
            </a:extLst>
          </p:cNvPr>
          <p:cNvSpPr/>
          <p:nvPr userDrawn="1"/>
        </p:nvSpPr>
        <p:spPr>
          <a:xfrm rot="18900000">
            <a:off x="-172754" y="1980994"/>
            <a:ext cx="10887979" cy="10887270"/>
          </a:xfrm>
          <a:prstGeom prst="ellipse">
            <a:avLst/>
          </a:prstGeom>
          <a:gradFill flip="none" rotWithShape="1">
            <a:gsLst>
              <a:gs pos="85000">
                <a:srgbClr val="FFFFFF">
                  <a:alpha val="0"/>
                </a:srgbClr>
              </a:gs>
              <a:gs pos="0">
                <a:schemeClr val="accent3"/>
              </a:gs>
              <a:gs pos="10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lvl="0" algn="ctr" defTabSz="412756"/>
            <a:endParaRPr lang="it-IT" sz="1600">
              <a:solidFill>
                <a:srgbClr val="FFFFFF"/>
              </a:solidFill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15" name="Tema / Titolo / Docente  |  00. 00. 0000">
            <a:extLst>
              <a:ext uri="{FF2B5EF4-FFF2-40B4-BE49-F238E27FC236}">
                <a16:creationId xmlns:a16="http://schemas.microsoft.com/office/drawing/2014/main" id="{43EB2AAE-2F64-43C5-B8E8-F199350D7390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5929933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>
              <a:lnSpc>
                <a:spcPct val="100000"/>
              </a:lnSpc>
              <a:defRPr sz="1200">
                <a:solidFill>
                  <a:schemeClr val="tx2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00. 00. 0000  |  Relatore</a:t>
            </a:r>
          </a:p>
        </p:txBody>
      </p:sp>
      <p:sp>
        <p:nvSpPr>
          <p:cNvPr id="16" name="Titolo 5">
            <a:extLst>
              <a:ext uri="{FF2B5EF4-FFF2-40B4-BE49-F238E27FC236}">
                <a16:creationId xmlns:a16="http://schemas.microsoft.com/office/drawing/2014/main" id="{E8F7923B-B8EC-4C6A-A6CA-70D16747DB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376" y="3448466"/>
            <a:ext cx="6953096" cy="2108271"/>
          </a:xfrm>
          <a:prstGeom prst="rect">
            <a:avLst/>
          </a:prstGeom>
        </p:spPr>
        <p:txBody>
          <a:bodyPr lIns="0" tIns="360000" rIns="0" bIns="0"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/>
              <a:t>Inserire titolo</a:t>
            </a:r>
            <a:br>
              <a:rPr lang="it-IT"/>
            </a:br>
            <a:r>
              <a:rPr lang="it-IT"/>
              <a:t>Presentazione</a:t>
            </a:r>
          </a:p>
        </p:txBody>
      </p:sp>
      <p:sp>
        <p:nvSpPr>
          <p:cNvPr id="18" name="Segnaposto testo 11">
            <a:extLst>
              <a:ext uri="{FF2B5EF4-FFF2-40B4-BE49-F238E27FC236}">
                <a16:creationId xmlns:a16="http://schemas.microsoft.com/office/drawing/2014/main" id="{7B2691BB-C18A-4BDF-B8C5-3FE9669646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0710" y="2898987"/>
            <a:ext cx="4833938" cy="392112"/>
          </a:xfrm>
        </p:spPr>
        <p:txBody>
          <a:bodyPr>
            <a:noAutofit/>
          </a:bodyPr>
          <a:lstStyle>
            <a:lvl1pPr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Sottotitolo</a:t>
            </a:r>
          </a:p>
        </p:txBody>
      </p:sp>
    </p:spTree>
    <p:extLst>
      <p:ext uri="{BB962C8B-B14F-4D97-AF65-F5344CB8AC3E}">
        <p14:creationId xmlns:p14="http://schemas.microsoft.com/office/powerpoint/2010/main" val="15475574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tudente-6.jpg">
            <a:extLst>
              <a:ext uri="{FF2B5EF4-FFF2-40B4-BE49-F238E27FC236}">
                <a16:creationId xmlns:a16="http://schemas.microsoft.com/office/drawing/2014/main" id="{9A8088A1-BE02-A45C-F2B7-D9182C7D25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" t="901" r="14721" b="26146"/>
          <a:stretch/>
        </p:blipFill>
        <p:spPr>
          <a:xfrm>
            <a:off x="1" y="-15446"/>
            <a:ext cx="12202569" cy="6873447"/>
          </a:xfrm>
          <a:prstGeom prst="rect">
            <a:avLst/>
          </a:prstGeom>
        </p:spPr>
      </p:pic>
      <p:sp>
        <p:nvSpPr>
          <p:cNvPr id="13" name="Rettangolo">
            <a:extLst>
              <a:ext uri="{FF2B5EF4-FFF2-40B4-BE49-F238E27FC236}">
                <a16:creationId xmlns:a16="http://schemas.microsoft.com/office/drawing/2014/main" id="{C0958222-67A2-407E-B29D-7EAE366C03C4}"/>
              </a:ext>
            </a:extLst>
          </p:cNvPr>
          <p:cNvSpPr/>
          <p:nvPr userDrawn="1"/>
        </p:nvSpPr>
        <p:spPr>
          <a:xfrm>
            <a:off x="-9775" y="0"/>
            <a:ext cx="12212345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46000">
                <a:schemeClr val="accent1">
                  <a:alpha val="40000"/>
                </a:schemeClr>
              </a:gs>
              <a:gs pos="72000">
                <a:schemeClr val="accent1"/>
              </a:gs>
            </a:gsLst>
            <a:lin ang="5400000" scaled="0"/>
            <a:tileRect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Linea">
            <a:extLst>
              <a:ext uri="{FF2B5EF4-FFF2-40B4-BE49-F238E27FC236}">
                <a16:creationId xmlns:a16="http://schemas.microsoft.com/office/drawing/2014/main" id="{B39406AE-79B6-49A1-923B-123760D8505F}"/>
              </a:ext>
            </a:extLst>
          </p:cNvPr>
          <p:cNvSpPr/>
          <p:nvPr userDrawn="1"/>
        </p:nvSpPr>
        <p:spPr>
          <a:xfrm>
            <a:off x="0" y="1980994"/>
            <a:ext cx="12192795" cy="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>
              <a:latin typeface="Manrope" pitchFamily="2" charset="0"/>
            </a:endParaRPr>
          </a:p>
        </p:txBody>
      </p:sp>
      <p:sp>
        <p:nvSpPr>
          <p:cNvPr id="17" name="Linea">
            <a:extLst>
              <a:ext uri="{FF2B5EF4-FFF2-40B4-BE49-F238E27FC236}">
                <a16:creationId xmlns:a16="http://schemas.microsoft.com/office/drawing/2014/main" id="{DCC9F3C9-7921-43F1-BB63-5744C63E565E}"/>
              </a:ext>
            </a:extLst>
          </p:cNvPr>
          <p:cNvSpPr/>
          <p:nvPr userDrawn="1"/>
        </p:nvSpPr>
        <p:spPr>
          <a:xfrm flipV="1">
            <a:off x="10715224" y="15448"/>
            <a:ext cx="0" cy="6827108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  <a:miter lim="400000"/>
          </a:ln>
        </p:spPr>
        <p:txBody>
          <a:bodyPr lIns="25400" tIns="25400" rIns="25400" bIns="25400" anchor="ctr"/>
          <a:lstStyle/>
          <a:p>
            <a:endParaRPr sz="338">
              <a:latin typeface="Manrope" pitchFamily="2" charset="0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A37EF6FA-9E02-465C-BF2C-F79206AB583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15" y="340536"/>
            <a:ext cx="2520000" cy="1099885"/>
          </a:xfrm>
          <a:prstGeom prst="rect">
            <a:avLst/>
          </a:prstGeom>
        </p:spPr>
      </p:pic>
      <p:sp>
        <p:nvSpPr>
          <p:cNvPr id="10" name="Ovale 9">
            <a:extLst>
              <a:ext uri="{FF2B5EF4-FFF2-40B4-BE49-F238E27FC236}">
                <a16:creationId xmlns:a16="http://schemas.microsoft.com/office/drawing/2014/main" id="{1CCADD42-EE9E-4858-B6FB-01BA6E38FAD3}"/>
              </a:ext>
            </a:extLst>
          </p:cNvPr>
          <p:cNvSpPr/>
          <p:nvPr userDrawn="1"/>
        </p:nvSpPr>
        <p:spPr>
          <a:xfrm rot="20927104">
            <a:off x="-172754" y="1980994"/>
            <a:ext cx="10887979" cy="10887270"/>
          </a:xfrm>
          <a:prstGeom prst="ellipse">
            <a:avLst/>
          </a:prstGeom>
          <a:gradFill flip="none" rotWithShape="1">
            <a:gsLst>
              <a:gs pos="9000">
                <a:schemeClr val="bg1">
                  <a:alpha val="40000"/>
                </a:schemeClr>
              </a:gs>
              <a:gs pos="80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it-IT" sz="900">
              <a:latin typeface="Manrope" pitchFamily="2" charset="0"/>
            </a:endParaRPr>
          </a:p>
        </p:txBody>
      </p:sp>
      <p:sp>
        <p:nvSpPr>
          <p:cNvPr id="15" name="Tema / Titolo / Docente  |  00. 00. 0000">
            <a:extLst>
              <a:ext uri="{FF2B5EF4-FFF2-40B4-BE49-F238E27FC236}">
                <a16:creationId xmlns:a16="http://schemas.microsoft.com/office/drawing/2014/main" id="{43EB2AAE-2F64-43C5-B8E8-F199350D7390}"/>
              </a:ext>
            </a:extLst>
          </p:cNvPr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0710" y="5929933"/>
            <a:ext cx="4078060" cy="318490"/>
          </a:xfrm>
          <a:prstGeom prst="rect">
            <a:avLst/>
          </a:prstGeom>
        </p:spPr>
        <p:txBody>
          <a:bodyPr lIns="45719" tIns="45719" rIns="45719" bIns="45719">
            <a:noAutofit/>
          </a:bodyPr>
          <a:lstStyle>
            <a:lvl1pPr>
              <a:lnSpc>
                <a:spcPct val="100000"/>
              </a:lnSpc>
              <a:defRPr sz="1200">
                <a:solidFill>
                  <a:schemeClr val="bg1"/>
                </a:solidFill>
                <a:latin typeface="Manrope" pitchFamily="2" charset="0"/>
              </a:defRPr>
            </a:lvl1pPr>
          </a:lstStyle>
          <a:p>
            <a:pPr marL="0" marR="0" lvl="0" indent="0" algn="l" defTabSz="4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00. 00. 0000  |  Relatore</a:t>
            </a:r>
          </a:p>
        </p:txBody>
      </p:sp>
      <p:sp>
        <p:nvSpPr>
          <p:cNvPr id="16" name="Titolo 5">
            <a:extLst>
              <a:ext uri="{FF2B5EF4-FFF2-40B4-BE49-F238E27FC236}">
                <a16:creationId xmlns:a16="http://schemas.microsoft.com/office/drawing/2014/main" id="{E8F7923B-B8EC-4C6A-A6CA-70D16747DB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376" y="3448466"/>
            <a:ext cx="6953096" cy="2108271"/>
          </a:xfrm>
          <a:prstGeom prst="rect">
            <a:avLst/>
          </a:prstGeom>
        </p:spPr>
        <p:txBody>
          <a:bodyPr lIns="0" tIns="360000" rIns="0" bIns="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Inserire titolo</a:t>
            </a:r>
            <a:br>
              <a:rPr lang="it-IT"/>
            </a:br>
            <a:r>
              <a:rPr lang="it-IT"/>
              <a:t>Presentazione</a:t>
            </a:r>
          </a:p>
        </p:txBody>
      </p:sp>
      <p:sp>
        <p:nvSpPr>
          <p:cNvPr id="18" name="Segnaposto testo 11">
            <a:extLst>
              <a:ext uri="{FF2B5EF4-FFF2-40B4-BE49-F238E27FC236}">
                <a16:creationId xmlns:a16="http://schemas.microsoft.com/office/drawing/2014/main" id="{7B2691BB-C18A-4BDF-B8C5-3FE9669646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0710" y="2898987"/>
            <a:ext cx="4833938" cy="392112"/>
          </a:xfrm>
        </p:spPr>
        <p:txBody>
          <a:bodyPr>
            <a:noAutofit/>
          </a:bodyPr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it-IT"/>
              <a:t>Sottotitolo</a:t>
            </a:r>
          </a:p>
        </p:txBody>
      </p:sp>
    </p:spTree>
    <p:extLst>
      <p:ext uri="{BB962C8B-B14F-4D97-AF65-F5344CB8AC3E}">
        <p14:creationId xmlns:p14="http://schemas.microsoft.com/office/powerpoint/2010/main" val="419684233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Finale">
    <p:bg>
      <p:bgPr>
        <a:gradFill>
          <a:gsLst>
            <a:gs pos="0">
              <a:schemeClr val="tx1"/>
            </a:gs>
            <a:gs pos="100000">
              <a:srgbClr val="102C5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D92CDFEA-FF7C-9DA5-4228-4AE0B1E8FB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164" y="274034"/>
            <a:ext cx="3114203" cy="1359232"/>
          </a:xfrm>
          <a:prstGeom prst="rect">
            <a:avLst/>
          </a:prstGeom>
        </p:spPr>
      </p:pic>
      <p:sp>
        <p:nvSpPr>
          <p:cNvPr id="5" name="Cerchio">
            <a:extLst>
              <a:ext uri="{FF2B5EF4-FFF2-40B4-BE49-F238E27FC236}">
                <a16:creationId xmlns:a16="http://schemas.microsoft.com/office/drawing/2014/main" id="{5F9D2376-F92C-70CC-7E4A-0F195E3EA543}"/>
              </a:ext>
            </a:extLst>
          </p:cNvPr>
          <p:cNvSpPr/>
          <p:nvPr userDrawn="1"/>
        </p:nvSpPr>
        <p:spPr>
          <a:xfrm rot="10800000">
            <a:off x="7559558" y="-1156784"/>
            <a:ext cx="4010434" cy="4010172"/>
          </a:xfrm>
          <a:prstGeom prst="ellipse">
            <a:avLst/>
          </a:prstGeom>
          <a:gradFill flip="none" rotWithShape="1">
            <a:gsLst>
              <a:gs pos="14000">
                <a:srgbClr val="FFFFFF">
                  <a:alpha val="30368"/>
                </a:srgbClr>
              </a:gs>
              <a:gs pos="13661">
                <a:srgbClr val="8896A9">
                  <a:alpha val="15184"/>
                </a:srgb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>
              <a:latin typeface="Manrope" pitchFamily="2" charset="0"/>
              <a:cs typeface="Arial" panose="020B0604020202020204" pitchFamily="34" charset="0"/>
            </a:endParaRPr>
          </a:p>
        </p:txBody>
      </p:sp>
      <p:sp>
        <p:nvSpPr>
          <p:cNvPr id="6" name="Cerchio">
            <a:extLst>
              <a:ext uri="{FF2B5EF4-FFF2-40B4-BE49-F238E27FC236}">
                <a16:creationId xmlns:a16="http://schemas.microsoft.com/office/drawing/2014/main" id="{A0BCD1D3-187F-0F81-48F7-30E4CB14B416}"/>
              </a:ext>
            </a:extLst>
          </p:cNvPr>
          <p:cNvSpPr/>
          <p:nvPr userDrawn="1"/>
        </p:nvSpPr>
        <p:spPr>
          <a:xfrm>
            <a:off x="7559559" y="2853390"/>
            <a:ext cx="4010432" cy="4010171"/>
          </a:xfrm>
          <a:prstGeom prst="ellipse">
            <a:avLst/>
          </a:prstGeom>
          <a:gradFill flip="none" rotWithShape="1">
            <a:gsLst>
              <a:gs pos="14000">
                <a:srgbClr val="FFFFFF">
                  <a:alpha val="30000"/>
                </a:srgbClr>
              </a:gs>
              <a:gs pos="13661">
                <a:srgbClr val="8896A9">
                  <a:alpha val="14846"/>
                </a:srgb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6">
              <a:defRPr sz="3200">
                <a:solidFill>
                  <a:srgbClr val="FFFFFF">
                    <a:alpha val="20092"/>
                  </a:srgb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 b="0" i="0">
              <a:latin typeface="Manrope" pitchFamily="2" charset="0"/>
              <a:cs typeface="Arial" panose="020B0604020202020204" pitchFamily="34" charset="0"/>
            </a:endParaRP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2B7B3A0A-3A1B-42DE-B9AE-23655BAD3745}"/>
              </a:ext>
            </a:extLst>
          </p:cNvPr>
          <p:cNvCxnSpPr>
            <a:cxnSpLocks/>
          </p:cNvCxnSpPr>
          <p:nvPr userDrawn="1"/>
        </p:nvCxnSpPr>
        <p:spPr>
          <a:xfrm>
            <a:off x="11569992" y="0"/>
            <a:ext cx="0" cy="685800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FD11F552-5459-4905-94FE-760C82166453}"/>
              </a:ext>
            </a:extLst>
          </p:cNvPr>
          <p:cNvCxnSpPr>
            <a:cxnSpLocks/>
          </p:cNvCxnSpPr>
          <p:nvPr userDrawn="1"/>
        </p:nvCxnSpPr>
        <p:spPr>
          <a:xfrm>
            <a:off x="7534019" y="0"/>
            <a:ext cx="0" cy="6858000"/>
          </a:xfrm>
          <a:prstGeom prst="line">
            <a:avLst/>
          </a:prstGeom>
          <a:ln w="635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FFD66269-DBF7-485E-8F18-092A9E8BABC4}"/>
              </a:ext>
            </a:extLst>
          </p:cNvPr>
          <p:cNvCxnSpPr>
            <a:cxnSpLocks/>
          </p:cNvCxnSpPr>
          <p:nvPr userDrawn="1"/>
        </p:nvCxnSpPr>
        <p:spPr>
          <a:xfrm>
            <a:off x="0" y="2853390"/>
            <a:ext cx="12192000" cy="0"/>
          </a:xfrm>
          <a:prstGeom prst="line">
            <a:avLst/>
          </a:prstGeom>
          <a:ln w="9525">
            <a:solidFill>
              <a:schemeClr val="bg1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1109DBD9-E7E8-4D94-8FA4-DE3F5B0CDE0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5" y="5600723"/>
            <a:ext cx="3866418" cy="647700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B687397-6A15-4CE0-9CC3-0FF15282E829}"/>
              </a:ext>
            </a:extLst>
          </p:cNvPr>
          <p:cNvSpPr txBox="1"/>
          <p:nvPr userDrawn="1"/>
        </p:nvSpPr>
        <p:spPr>
          <a:xfrm>
            <a:off x="534085" y="5022987"/>
            <a:ext cx="39324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b="1">
                <a:solidFill>
                  <a:schemeClr val="bg1"/>
                </a:solidFill>
              </a:rPr>
              <a:t>Contatti</a:t>
            </a:r>
          </a:p>
        </p:txBody>
      </p:sp>
    </p:spTree>
    <p:extLst>
      <p:ext uri="{BB962C8B-B14F-4D97-AF65-F5344CB8AC3E}">
        <p14:creationId xmlns:p14="http://schemas.microsoft.com/office/powerpoint/2010/main" val="4114000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1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93F0EDA-05BE-4DD7-962F-394BE0791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08073"/>
            <a:ext cx="11522075" cy="84008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it-IT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F0C82C2-529C-45CC-B0FD-8E1A68BA4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2060575"/>
            <a:ext cx="11522075" cy="44291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0"/>
            <a:r>
              <a:rPr lang="it-IT"/>
              <a:t>Secondo livello</a:t>
            </a:r>
          </a:p>
          <a:p>
            <a:pPr lvl="0"/>
            <a:r>
              <a:rPr lang="it-IT"/>
              <a:t>Terzo livello</a:t>
            </a:r>
          </a:p>
          <a:p>
            <a:pPr lvl="0"/>
            <a:r>
              <a:rPr lang="it-IT"/>
              <a:t>Quarto livello</a:t>
            </a:r>
          </a:p>
          <a:p>
            <a:pPr lvl="0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C0DE2DC-DBA6-437E-BB4E-13D6007AE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4964" y="39688"/>
            <a:ext cx="2383298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CAD6D760-8E05-43AE-9051-774E250DAEED}" type="datetime1">
              <a:rPr lang="it-IT" smtClean="0"/>
              <a:t>26/06/2025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2393C94-ABEE-455B-B13B-0EB6402D37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16275" y="39688"/>
            <a:ext cx="41148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it-IT" b="1"/>
              <a:t>Collaborative Robotics - Course Presentation</a:t>
            </a: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A960919-4893-43E8-BAF3-C8C59F419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4538" y="39688"/>
            <a:ext cx="10425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135EEA2-8D42-4D46-95A6-66E65FDC5EB1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21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0" r:id="rId3"/>
    <p:sldLayoutId id="2147483717" r:id="rId4"/>
    <p:sldLayoutId id="2147483681" r:id="rId5"/>
    <p:sldLayoutId id="2147483682" r:id="rId6"/>
    <p:sldLayoutId id="2147483719" r:id="rId7"/>
    <p:sldLayoutId id="2147483671" r:id="rId8"/>
    <p:sldLayoutId id="2147483726" r:id="rId9"/>
    <p:sldLayoutId id="2147483727" r:id="rId10"/>
    <p:sldLayoutId id="2147483662" r:id="rId11"/>
    <p:sldLayoutId id="2147483670" r:id="rId12"/>
    <p:sldLayoutId id="2147483720" r:id="rId13"/>
    <p:sldLayoutId id="2147483672" r:id="rId14"/>
    <p:sldLayoutId id="2147483677" r:id="rId15"/>
    <p:sldLayoutId id="2147483678" r:id="rId16"/>
    <p:sldLayoutId id="2147483721" r:id="rId17"/>
    <p:sldLayoutId id="2147483723" r:id="rId18"/>
    <p:sldLayoutId id="2147483724" r:id="rId19"/>
    <p:sldLayoutId id="2147483673" r:id="rId20"/>
    <p:sldLayoutId id="2147483674" r:id="rId21"/>
    <p:sldLayoutId id="2147483725" r:id="rId22"/>
    <p:sldLayoutId id="2147483675" r:id="rId23"/>
    <p:sldLayoutId id="2147483676" r:id="rId24"/>
    <p:sldLayoutId id="2147483730" r:id="rId25"/>
    <p:sldLayoutId id="2147483731" r:id="rId26"/>
    <p:sldLayoutId id="2147483732" r:id="rId27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lang="it-IT" sz="16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6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6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469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pos="2026" userDrawn="1">
          <p15:clr>
            <a:srgbClr val="F26B43"/>
          </p15:clr>
        </p15:guide>
        <p15:guide id="4" pos="1799" userDrawn="1">
          <p15:clr>
            <a:srgbClr val="F26B43"/>
          </p15:clr>
        </p15:guide>
        <p15:guide id="5" orient="horz" pos="1298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  <p15:guide id="7" orient="horz" pos="255" userDrawn="1">
          <p15:clr>
            <a:srgbClr val="F26B43"/>
          </p15:clr>
        </p15:guide>
        <p15:guide id="8" orient="horz" pos="981" userDrawn="1">
          <p15:clr>
            <a:srgbClr val="F26B43"/>
          </p15:clr>
        </p15:guide>
        <p15:guide id="9" orient="horz" pos="504" userDrawn="1">
          <p15:clr>
            <a:srgbClr val="F26B43"/>
          </p15:clr>
        </p15:guide>
        <p15:guide id="10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93F0EDA-05BE-4DD7-962F-394BE0791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808073"/>
            <a:ext cx="11522075" cy="84008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endParaRPr lang="it-IT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F0C82C2-529C-45CC-B0FD-8E1A68BA4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963" y="2060575"/>
            <a:ext cx="11522075" cy="442912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4066552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12" r:id="rId2"/>
    <p:sldLayoutId id="2147483705" r:id="rId3"/>
    <p:sldLayoutId id="2147483706" r:id="rId4"/>
    <p:sldLayoutId id="2147483709" r:id="rId5"/>
    <p:sldLayoutId id="2147483714" r:id="rId6"/>
    <p:sldLayoutId id="2147483729" r:id="rId7"/>
    <p:sldLayoutId id="2147483715" r:id="rId8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lang="it-IT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4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lang="it-IT" sz="14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469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pos="2026" userDrawn="1">
          <p15:clr>
            <a:srgbClr val="F26B43"/>
          </p15:clr>
        </p15:guide>
        <p15:guide id="4" pos="1799" userDrawn="1">
          <p15:clr>
            <a:srgbClr val="F26B43"/>
          </p15:clr>
        </p15:guide>
        <p15:guide id="5" orient="horz" pos="1298" userDrawn="1">
          <p15:clr>
            <a:srgbClr val="F26B43"/>
          </p15:clr>
        </p15:guide>
        <p15:guide id="6" orient="horz" pos="4088" userDrawn="1">
          <p15:clr>
            <a:srgbClr val="F26B43"/>
          </p15:clr>
        </p15:guide>
        <p15:guide id="7" orient="horz" pos="255" userDrawn="1">
          <p15:clr>
            <a:srgbClr val="F26B43"/>
          </p15:clr>
        </p15:guide>
        <p15:guide id="8" orient="horz" pos="981" userDrawn="1">
          <p15:clr>
            <a:srgbClr val="F26B43"/>
          </p15:clr>
        </p15:guide>
        <p15:guide id="9" orient="horz" pos="504" userDrawn="1">
          <p15:clr>
            <a:srgbClr val="F26B43"/>
          </p15:clr>
        </p15:guide>
        <p15:guide id="10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10" Type="http://schemas.microsoft.com/office/2007/relationships/hdphoto" Target="../media/hdphoto3.wdp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6" Type="http://schemas.microsoft.com/office/2007/relationships/hdphoto" Target="../media/hdphoto4.wdp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itttai.com/en/technologies/itttai-technologies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4" Type="http://schemas.microsoft.com/office/2007/relationships/hdphoto" Target="../media/hdphoto5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4" Type="http://schemas.microsoft.com/office/2007/relationships/hdphoto" Target="../media/hdphoto6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rvicemed.it/prodotti/sistemi-antidecubito-attivi-ad-aria/flow-advance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www.nurse24.it/dossier/wound-care/sistema-antidecubito-flow-advance-ad-altissim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6" Type="http://schemas.microsoft.com/office/2007/relationships/hdphoto" Target="../media/hdphoto7.wdp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1.png"/><Relationship Id="rId5" Type="http://schemas.openxmlformats.org/officeDocument/2006/relationships/image" Target="../media/image25.pn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42.png"/><Relationship Id="rId7" Type="http://schemas.openxmlformats.org/officeDocument/2006/relationships/image" Target="../media/image4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6" Type="http://schemas.microsoft.com/office/2007/relationships/hdphoto" Target="../media/hdphoto9.wdp"/><Relationship Id="rId5" Type="http://schemas.openxmlformats.org/officeDocument/2006/relationships/image" Target="../media/image43.png"/><Relationship Id="rId10" Type="http://schemas.microsoft.com/office/2007/relationships/hdphoto" Target="../media/hdphoto1.wdp"/><Relationship Id="rId4" Type="http://schemas.microsoft.com/office/2007/relationships/hdphoto" Target="../media/hdphoto8.wdp"/><Relationship Id="rId9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8" Type="http://schemas.microsoft.com/office/2007/relationships/hdphoto" Target="../media/hdphoto9.wdp"/><Relationship Id="rId3" Type="http://schemas.openxmlformats.org/officeDocument/2006/relationships/image" Target="../media/image7.png"/><Relationship Id="rId7" Type="http://schemas.openxmlformats.org/officeDocument/2006/relationships/image" Target="../media/image4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6" Type="http://schemas.microsoft.com/office/2007/relationships/hdphoto" Target="../media/hdphoto8.wdp"/><Relationship Id="rId5" Type="http://schemas.openxmlformats.org/officeDocument/2006/relationships/image" Target="../media/image42.png"/><Relationship Id="rId10" Type="http://schemas.microsoft.com/office/2007/relationships/hdphoto" Target="../media/hdphoto6.wdp"/><Relationship Id="rId4" Type="http://schemas.microsoft.com/office/2007/relationships/hdphoto" Target="../media/hdphoto1.wdp"/><Relationship Id="rId9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8" Type="http://schemas.microsoft.com/office/2007/relationships/hdphoto" Target="../media/hdphoto12.wdp"/><Relationship Id="rId3" Type="http://schemas.openxmlformats.org/officeDocument/2006/relationships/image" Target="../media/image53.png"/><Relationship Id="rId7" Type="http://schemas.openxmlformats.org/officeDocument/2006/relationships/image" Target="../media/image55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Relationship Id="rId6" Type="http://schemas.microsoft.com/office/2007/relationships/hdphoto" Target="../media/hdphoto11.wdp"/><Relationship Id="rId5" Type="http://schemas.openxmlformats.org/officeDocument/2006/relationships/image" Target="../media/image54.png"/><Relationship Id="rId4" Type="http://schemas.microsoft.com/office/2007/relationships/hdphoto" Target="../media/hdphoto10.wdp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026BBB7E-2B72-48A5-B8AC-092CE1F3CB5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26.06.2025</a:t>
            </a:r>
          </a:p>
          <a:p>
            <a:endParaRPr lang="en-US" dirty="0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139C8332-124C-4AAA-8F96-961CED6E6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376" y="3433718"/>
            <a:ext cx="10084456" cy="2108271"/>
          </a:xfrm>
        </p:spPr>
        <p:txBody>
          <a:bodyPr/>
          <a:lstStyle/>
          <a:p>
            <a:r>
              <a:rPr lang="en-US" dirty="0"/>
              <a:t>Paralympics and Sport rehabilitation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E8F3106-4004-41D3-BA3F-38D2275DDBC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Academic Year 2024-2025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380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Connettore diritto 40">
            <a:extLst>
              <a:ext uri="{FF2B5EF4-FFF2-40B4-BE49-F238E27FC236}">
                <a16:creationId xmlns:a16="http://schemas.microsoft.com/office/drawing/2014/main" id="{0A8E157A-6617-8BAD-2DE1-4DBE78CF5E8D}"/>
              </a:ext>
            </a:extLst>
          </p:cNvPr>
          <p:cNvCxnSpPr>
            <a:cxnSpLocks/>
            <a:stCxn id="17" idx="2"/>
            <a:endCxn id="18" idx="2"/>
          </p:cNvCxnSpPr>
          <p:nvPr/>
        </p:nvCxnSpPr>
        <p:spPr>
          <a:xfrm>
            <a:off x="6472073" y="4668292"/>
            <a:ext cx="3136923" cy="0"/>
          </a:xfrm>
          <a:prstGeom prst="line">
            <a:avLst/>
          </a:prstGeom>
          <a:ln w="76200">
            <a:solidFill>
              <a:schemeClr val="accent6">
                <a:lumMod val="1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9F921F1-17B0-49B1-BE1B-E6336170F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2</a:t>
            </a:fld>
            <a:endParaRPr lang="it-IT"/>
          </a:p>
        </p:txBody>
      </p:sp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C92DA093-077C-E526-EA49-BE073FE0E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288309"/>
              </p:ext>
            </p:extLst>
          </p:nvPr>
        </p:nvGraphicFramePr>
        <p:xfrm>
          <a:off x="3636418" y="1517828"/>
          <a:ext cx="5869192" cy="1776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92613">
                  <a:extLst>
                    <a:ext uri="{9D8B030D-6E8A-4147-A177-3AD203B41FA5}">
                      <a16:colId xmlns:a16="http://schemas.microsoft.com/office/drawing/2014/main" val="2338965354"/>
                    </a:ext>
                  </a:extLst>
                </a:gridCol>
                <a:gridCol w="1276579">
                  <a:extLst>
                    <a:ext uri="{9D8B030D-6E8A-4147-A177-3AD203B41FA5}">
                      <a16:colId xmlns:a16="http://schemas.microsoft.com/office/drawing/2014/main" val="1914930574"/>
                    </a:ext>
                  </a:extLst>
                </a:gridCol>
              </a:tblGrid>
              <a:tr h="355260">
                <a:tc>
                  <a:txBody>
                    <a:bodyPr/>
                    <a:lstStyle/>
                    <a:p>
                      <a:pPr algn="r"/>
                      <a:r>
                        <a:rPr lang="en-US" sz="1600" b="0" i="0" u="none" strike="noStrike" dirty="0">
                          <a:solidFill>
                            <a:srgbClr val="1A1A1A"/>
                          </a:solidFill>
                          <a:effectLst/>
                          <a:ea typeface="Noto Sans" panose="020B0502040504020204" pitchFamily="34" charset="0"/>
                          <a:cs typeface="Calibri" panose="020F0502020204030204" pitchFamily="34" charset="0"/>
                        </a:rPr>
                        <a:t>Amari Giacomo</a:t>
                      </a:r>
                      <a:endParaRPr lang="en-US" sz="1600" dirty="0">
                        <a:solidFill>
                          <a:srgbClr val="1A1A1A"/>
                        </a:solidFill>
                        <a:ea typeface="Noto Sans" panose="020B050204050402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u="none" strike="noStrike" dirty="0">
                          <a:solidFill>
                            <a:srgbClr val="1A1A1A"/>
                          </a:solidFill>
                          <a:effectLst/>
                          <a:ea typeface="Noto Sans" panose="020B0502040504020204" pitchFamily="34" charset="0"/>
                          <a:cs typeface="Calibri" panose="020F0502020204030204" pitchFamily="34" charset="0"/>
                        </a:rPr>
                        <a:t>10698309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77023087"/>
                  </a:ext>
                </a:extLst>
              </a:tr>
              <a:tr h="35526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ea typeface="Noto Sans" panose="020B0502040504020204" pitchFamily="34" charset="0"/>
                          <a:cs typeface="Calibri" panose="020F0502020204030204" pitchFamily="34" charset="0"/>
                        </a:rPr>
                        <a:t>Milazzo Alessandro Giuseppe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10766415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3432067"/>
                  </a:ext>
                </a:extLst>
              </a:tr>
              <a:tr h="35526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ea typeface="Noto Sans" panose="020B0502040504020204" pitchFamily="34" charset="0"/>
                          <a:cs typeface="Calibri" panose="020F0502020204030204" pitchFamily="34" charset="0"/>
                        </a:rPr>
                        <a:t>Traversi Gloria </a:t>
                      </a:r>
                      <a:endParaRPr lang="it-IT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sz="1600" dirty="0"/>
                        <a:t>10816956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1013812"/>
                  </a:ext>
                </a:extLst>
              </a:tr>
              <a:tr h="35526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ea typeface="Noto Sans" panose="020B0502040504020204" pitchFamily="34" charset="0"/>
                          <a:cs typeface="Calibri" panose="020F0502020204030204" pitchFamily="34" charset="0"/>
                        </a:rPr>
                        <a:t>Usai Chiara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1A1A1A"/>
                          </a:solidFill>
                          <a:ea typeface="Noto Sans" panose="020B0502040504020204" pitchFamily="34" charset="0"/>
                          <a:cs typeface="Calibri" panose="020F0502020204030204" pitchFamily="34" charset="0"/>
                        </a:rPr>
                        <a:t>11005835</a:t>
                      </a:r>
                      <a:endParaRPr lang="it-IT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1958661"/>
                  </a:ext>
                </a:extLst>
              </a:tr>
              <a:tr h="35526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ea typeface="Noto Sans" panose="020B0502040504020204" pitchFamily="34" charset="0"/>
                          <a:cs typeface="Calibri" panose="020F0502020204030204" pitchFamily="34" charset="0"/>
                        </a:rPr>
                        <a:t>Zanoni Chiara</a:t>
                      </a:r>
                      <a:endParaRPr lang="it-IT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A1A1A"/>
                          </a:solidFill>
                          <a:ea typeface="Noto Sans" panose="020B0502040504020204" pitchFamily="34" charset="0"/>
                          <a:cs typeface="Calibri" panose="020F0502020204030204" pitchFamily="34" charset="0"/>
                        </a:rPr>
                        <a:t>10784594</a:t>
                      </a:r>
                      <a:endParaRPr lang="en-US" sz="1600" dirty="0">
                        <a:ea typeface="Noto Sans" panose="020B050204050402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68509879"/>
                  </a:ext>
                </a:extLst>
              </a:tr>
            </a:tbl>
          </a:graphicData>
        </a:graphic>
      </p:graphicFrame>
      <p:pic>
        <p:nvPicPr>
          <p:cNvPr id="1026" name="Picture 2" descr="Meeting ">
            <a:extLst>
              <a:ext uri="{FF2B5EF4-FFF2-40B4-BE49-F238E27FC236}">
                <a16:creationId xmlns:a16="http://schemas.microsoft.com/office/drawing/2014/main" id="{4D0C16BA-5E93-41EE-BD3C-FAF764343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8927" y="1507807"/>
            <a:ext cx="1776300" cy="17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ttangolo 23">
            <a:extLst>
              <a:ext uri="{FF2B5EF4-FFF2-40B4-BE49-F238E27FC236}">
                <a16:creationId xmlns:a16="http://schemas.microsoft.com/office/drawing/2014/main" id="{AD822D2D-8AD7-B839-2F50-21D7459041E5}"/>
              </a:ext>
            </a:extLst>
          </p:cNvPr>
          <p:cNvSpPr/>
          <p:nvPr/>
        </p:nvSpPr>
        <p:spPr>
          <a:xfrm>
            <a:off x="334962" y="6025149"/>
            <a:ext cx="2179637" cy="523049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chemeClr val="bg1"/>
                </a:solidFill>
              </a:rPr>
              <a:t>Introduction</a:t>
            </a:r>
            <a:endParaRPr lang="it-IT" sz="1600" dirty="0">
              <a:solidFill>
                <a:schemeClr val="bg1"/>
              </a:solidFill>
            </a:endParaRP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46E88DD4-3E9F-884E-6C58-654E8F2B0920}"/>
              </a:ext>
            </a:extLst>
          </p:cNvPr>
          <p:cNvSpPr/>
          <p:nvPr/>
        </p:nvSpPr>
        <p:spPr>
          <a:xfrm>
            <a:off x="2670572" y="6025149"/>
            <a:ext cx="2179637" cy="523049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Project </a:t>
            </a:r>
            <a:r>
              <a:rPr lang="it-IT" sz="1600" dirty="0" err="1"/>
              <a:t>proposal</a:t>
            </a:r>
            <a:endParaRPr lang="it-IT" sz="1600" dirty="0"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7251E45F-31FE-4938-7A8C-EFB50C329DE5}"/>
              </a:ext>
            </a:extLst>
          </p:cNvPr>
          <p:cNvSpPr/>
          <p:nvPr/>
        </p:nvSpPr>
        <p:spPr>
          <a:xfrm>
            <a:off x="5006182" y="6025149"/>
            <a:ext cx="2179637" cy="523049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Project design</a:t>
            </a:r>
          </a:p>
        </p:txBody>
      </p:sp>
      <p:sp>
        <p:nvSpPr>
          <p:cNvPr id="1032" name="Rettangolo 1031">
            <a:extLst>
              <a:ext uri="{FF2B5EF4-FFF2-40B4-BE49-F238E27FC236}">
                <a16:creationId xmlns:a16="http://schemas.microsoft.com/office/drawing/2014/main" id="{D5279ACD-EF95-EA61-00DF-AB116E6F13A8}"/>
              </a:ext>
            </a:extLst>
          </p:cNvPr>
          <p:cNvSpPr/>
          <p:nvPr/>
        </p:nvSpPr>
        <p:spPr>
          <a:xfrm>
            <a:off x="3023674" y="4203388"/>
            <a:ext cx="1346241" cy="3453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rgbClr val="69698C"/>
                </a:solidFill>
              </a:rPr>
              <a:t>08.04.2025</a:t>
            </a:r>
            <a:endParaRPr lang="it-IT" dirty="0">
              <a:solidFill>
                <a:srgbClr val="69698C"/>
              </a:solidFill>
            </a:endParaRPr>
          </a:p>
        </p:txBody>
      </p:sp>
      <p:sp>
        <p:nvSpPr>
          <p:cNvPr id="1035" name="Rettangolo 1034">
            <a:extLst>
              <a:ext uri="{FF2B5EF4-FFF2-40B4-BE49-F238E27FC236}">
                <a16:creationId xmlns:a16="http://schemas.microsoft.com/office/drawing/2014/main" id="{36CF566E-B26D-2150-7963-241FEFF4AD62}"/>
              </a:ext>
            </a:extLst>
          </p:cNvPr>
          <p:cNvSpPr/>
          <p:nvPr/>
        </p:nvSpPr>
        <p:spPr>
          <a:xfrm>
            <a:off x="1613984" y="4420813"/>
            <a:ext cx="1012810" cy="3453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accent6">
                    <a:lumMod val="75000"/>
                  </a:schemeClr>
                </a:solidFill>
              </a:rPr>
              <a:t>25.03.2025</a:t>
            </a:r>
          </a:p>
        </p:txBody>
      </p:sp>
      <p:sp>
        <p:nvSpPr>
          <p:cNvPr id="1036" name="Rettangolo 1035">
            <a:extLst>
              <a:ext uri="{FF2B5EF4-FFF2-40B4-BE49-F238E27FC236}">
                <a16:creationId xmlns:a16="http://schemas.microsoft.com/office/drawing/2014/main" id="{332C7E32-3385-3989-A48C-41EFAA5F7C54}"/>
              </a:ext>
            </a:extLst>
          </p:cNvPr>
          <p:cNvSpPr/>
          <p:nvPr/>
        </p:nvSpPr>
        <p:spPr>
          <a:xfrm>
            <a:off x="1612171" y="4606513"/>
            <a:ext cx="1068150" cy="3453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accent6">
                    <a:lumMod val="75000"/>
                  </a:schemeClr>
                </a:solidFill>
              </a:rPr>
              <a:t>Focus group</a:t>
            </a:r>
          </a:p>
        </p:txBody>
      </p:sp>
      <p:sp>
        <p:nvSpPr>
          <p:cNvPr id="1037" name="Rettangolo 1036">
            <a:extLst>
              <a:ext uri="{FF2B5EF4-FFF2-40B4-BE49-F238E27FC236}">
                <a16:creationId xmlns:a16="http://schemas.microsoft.com/office/drawing/2014/main" id="{A2AF8B0F-FB95-3F74-BB1B-B53EC4E2B2A6}"/>
              </a:ext>
            </a:extLst>
          </p:cNvPr>
          <p:cNvSpPr/>
          <p:nvPr/>
        </p:nvSpPr>
        <p:spPr>
          <a:xfrm>
            <a:off x="3102030" y="4739345"/>
            <a:ext cx="1293583" cy="423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>
                <a:solidFill>
                  <a:srgbClr val="69698C"/>
                </a:solidFill>
              </a:rPr>
              <a:t>Proposal</a:t>
            </a:r>
            <a:endParaRPr lang="it-IT" dirty="0">
              <a:solidFill>
                <a:srgbClr val="69698C"/>
              </a:solidFill>
            </a:endParaRPr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4FDE91EA-743E-BF40-D74E-A47EE38A8F55}"/>
              </a:ext>
            </a:extLst>
          </p:cNvPr>
          <p:cNvSpPr>
            <a:spLocks noChangeAspect="1"/>
          </p:cNvSpPr>
          <p:nvPr/>
        </p:nvSpPr>
        <p:spPr>
          <a:xfrm>
            <a:off x="2663674" y="4533292"/>
            <a:ext cx="270000" cy="270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0791D809-387A-8113-D01E-DAA4308183F9}"/>
              </a:ext>
            </a:extLst>
          </p:cNvPr>
          <p:cNvSpPr>
            <a:spLocks noChangeAspect="1"/>
          </p:cNvSpPr>
          <p:nvPr/>
        </p:nvSpPr>
        <p:spPr>
          <a:xfrm>
            <a:off x="6472073" y="4353292"/>
            <a:ext cx="630000" cy="630000"/>
          </a:xfrm>
          <a:prstGeom prst="ellipse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C00000"/>
              </a:solidFill>
            </a:endParaRPr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0F4690AF-3B31-A08E-601A-E0899A195499}"/>
              </a:ext>
            </a:extLst>
          </p:cNvPr>
          <p:cNvSpPr>
            <a:spLocks noChangeAspect="1"/>
          </p:cNvSpPr>
          <p:nvPr/>
        </p:nvSpPr>
        <p:spPr>
          <a:xfrm>
            <a:off x="9608996" y="4308292"/>
            <a:ext cx="720000" cy="720000"/>
          </a:xfrm>
          <a:prstGeom prst="ellipse">
            <a:avLst/>
          </a:prstGeom>
          <a:solidFill>
            <a:schemeClr val="accent6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49" name="Connettore diritto 48">
            <a:extLst>
              <a:ext uri="{FF2B5EF4-FFF2-40B4-BE49-F238E27FC236}">
                <a16:creationId xmlns:a16="http://schemas.microsoft.com/office/drawing/2014/main" id="{15E3E211-0BA2-2AF8-8C46-1EF7EB41D89C}"/>
              </a:ext>
            </a:extLst>
          </p:cNvPr>
          <p:cNvCxnSpPr>
            <a:cxnSpLocks/>
            <a:stCxn id="16" idx="6"/>
          </p:cNvCxnSpPr>
          <p:nvPr/>
        </p:nvCxnSpPr>
        <p:spPr>
          <a:xfrm>
            <a:off x="2933674" y="4668292"/>
            <a:ext cx="1154420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Ovale 51">
            <a:extLst>
              <a:ext uri="{FF2B5EF4-FFF2-40B4-BE49-F238E27FC236}">
                <a16:creationId xmlns:a16="http://schemas.microsoft.com/office/drawing/2014/main" id="{0205E811-291D-0382-33EE-A8676E3D5914}"/>
              </a:ext>
            </a:extLst>
          </p:cNvPr>
          <p:cNvSpPr>
            <a:spLocks noChangeAspect="1"/>
          </p:cNvSpPr>
          <p:nvPr/>
        </p:nvSpPr>
        <p:spPr>
          <a:xfrm>
            <a:off x="3537812" y="4488292"/>
            <a:ext cx="360000" cy="3600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C00000"/>
              </a:solidFill>
            </a:endParaRPr>
          </a:p>
        </p:txBody>
      </p:sp>
      <p:cxnSp>
        <p:nvCxnSpPr>
          <p:cNvPr id="54" name="Connettore diritto 53">
            <a:extLst>
              <a:ext uri="{FF2B5EF4-FFF2-40B4-BE49-F238E27FC236}">
                <a16:creationId xmlns:a16="http://schemas.microsoft.com/office/drawing/2014/main" id="{864069B8-440D-882F-C47F-CE40441A5933}"/>
              </a:ext>
            </a:extLst>
          </p:cNvPr>
          <p:cNvCxnSpPr>
            <a:cxnSpLocks/>
            <a:stCxn id="52" idx="6"/>
            <a:endCxn id="17" idx="2"/>
          </p:cNvCxnSpPr>
          <p:nvPr/>
        </p:nvCxnSpPr>
        <p:spPr>
          <a:xfrm>
            <a:off x="3897812" y="4668292"/>
            <a:ext cx="2574261" cy="0"/>
          </a:xfrm>
          <a:prstGeom prst="line">
            <a:avLst/>
          </a:prstGeom>
          <a:ln w="57150">
            <a:solidFill>
              <a:schemeClr val="accent6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tangolo 2">
            <a:extLst>
              <a:ext uri="{FF2B5EF4-FFF2-40B4-BE49-F238E27FC236}">
                <a16:creationId xmlns:a16="http://schemas.microsoft.com/office/drawing/2014/main" id="{556E45DB-2CC3-21D8-896F-65EF9E6180D2}"/>
              </a:ext>
            </a:extLst>
          </p:cNvPr>
          <p:cNvSpPr/>
          <p:nvPr/>
        </p:nvSpPr>
        <p:spPr>
          <a:xfrm>
            <a:off x="9036590" y="3846996"/>
            <a:ext cx="1776300" cy="3453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rgbClr val="233D60"/>
                </a:solidFill>
              </a:rPr>
              <a:t>26.06.2025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E9A0079D-4C7F-46C1-5B3D-13FD760B70D3}"/>
              </a:ext>
            </a:extLst>
          </p:cNvPr>
          <p:cNvSpPr/>
          <p:nvPr/>
        </p:nvSpPr>
        <p:spPr>
          <a:xfrm>
            <a:off x="9178533" y="5028292"/>
            <a:ext cx="1654686" cy="423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>
                <a:solidFill>
                  <a:srgbClr val="233D60"/>
                </a:solidFill>
              </a:rPr>
              <a:t>Final</a:t>
            </a:r>
            <a:r>
              <a:rPr lang="it-IT" dirty="0">
                <a:solidFill>
                  <a:srgbClr val="233D60"/>
                </a:solidFill>
              </a:rPr>
              <a:t> work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B13F4F46-92F4-1A6E-72DD-48ECD8C343C9}"/>
              </a:ext>
            </a:extLst>
          </p:cNvPr>
          <p:cNvSpPr/>
          <p:nvPr/>
        </p:nvSpPr>
        <p:spPr>
          <a:xfrm>
            <a:off x="7341792" y="6038673"/>
            <a:ext cx="2179637" cy="523049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/>
              <a:t>Challenges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8C3D5893-0178-176D-EDC4-AA46FEA2D8C4}"/>
              </a:ext>
            </a:extLst>
          </p:cNvPr>
          <p:cNvSpPr/>
          <p:nvPr/>
        </p:nvSpPr>
        <p:spPr>
          <a:xfrm>
            <a:off x="9677401" y="6039864"/>
            <a:ext cx="2179637" cy="523049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/>
              <a:t>Conclusion</a:t>
            </a:r>
            <a:endParaRPr lang="it-IT" sz="1600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E4285FAC-A0CA-49C4-1D4D-A9C38A0D3CF3}"/>
              </a:ext>
            </a:extLst>
          </p:cNvPr>
          <p:cNvSpPr txBox="1">
            <a:spLocks/>
          </p:cNvSpPr>
          <p:nvPr/>
        </p:nvSpPr>
        <p:spPr>
          <a:xfrm>
            <a:off x="385921" y="312908"/>
            <a:ext cx="11420157" cy="5230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Cushion with Independent Air Chambers + Pressure-Sensitive Mat</a:t>
            </a:r>
          </a:p>
        </p:txBody>
      </p:sp>
      <p:pic>
        <p:nvPicPr>
          <p:cNvPr id="6" name="Picture 2" descr="Icona stilizzata persona con capelli lunghi e scuri su bicicletta reclinata">
            <a:extLst>
              <a:ext uri="{FF2B5EF4-FFF2-40B4-BE49-F238E27FC236}">
                <a16:creationId xmlns:a16="http://schemas.microsoft.com/office/drawing/2014/main" id="{AC3E922F-E381-48E5-3CA1-C5E9C3D087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61" b="89844" l="5176" r="95898">
                        <a14:foregroundMark x1="21289" y1="50977" x2="21289" y2="50977"/>
                        <a14:foregroundMark x1="5273" y1="54883" x2="5273" y2="55371"/>
                        <a14:foregroundMark x1="6152" y1="58594" x2="6152" y2="58594"/>
                        <a14:foregroundMark x1="93945" y1="46973" x2="93945" y2="46973"/>
                        <a14:foregroundMark x1="95898" y1="39160" x2="95898" y2="39160"/>
                        <a14:foregroundMark x1="76660" y1="57129" x2="76660" y2="57129"/>
                        <a14:foregroundMark x1="55078" y1="54102" x2="55078" y2="5410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7627" y="3981900"/>
            <a:ext cx="969418" cy="96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cona stilizzata persona con capelli lunghi e scuri su bicicletta reclinata">
            <a:extLst>
              <a:ext uri="{FF2B5EF4-FFF2-40B4-BE49-F238E27FC236}">
                <a16:creationId xmlns:a16="http://schemas.microsoft.com/office/drawing/2014/main" id="{962737E2-0CF1-E94B-54A2-F3C34351E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61" b="89844" l="5176" r="95898">
                        <a14:foregroundMark x1="21289" y1="50977" x2="21289" y2="50977"/>
                        <a14:foregroundMark x1="5273" y1="54883" x2="5273" y2="55371"/>
                        <a14:foregroundMark x1="6152" y1="58594" x2="6152" y2="58594"/>
                        <a14:foregroundMark x1="93945" y1="46973" x2="93945" y2="46973"/>
                        <a14:foregroundMark x1="95898" y1="39160" x2="95898" y2="39160"/>
                        <a14:foregroundMark x1="76660" y1="57129" x2="76660" y2="57129"/>
                        <a14:foregroundMark x1="55078" y1="54102" x2="55078" y2="5410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18679" y="1094197"/>
            <a:ext cx="1826454" cy="1826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magine 10" descr="Immagine che contiene giocattolo, Animazione, cartone animato, persona&#10;&#10;Il contenuto generato dall'IA potrebbe non essere corretto.">
            <a:extLst>
              <a:ext uri="{FF2B5EF4-FFF2-40B4-BE49-F238E27FC236}">
                <a16:creationId xmlns:a16="http://schemas.microsoft.com/office/drawing/2014/main" id="{20113C89-5AD8-13B6-A181-179E6BF946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118678" y="2601718"/>
            <a:ext cx="1826453" cy="1826453"/>
          </a:xfrm>
          <a:prstGeom prst="rect">
            <a:avLst/>
          </a:prstGeom>
        </p:spPr>
      </p:pic>
      <p:pic>
        <p:nvPicPr>
          <p:cNvPr id="12" name="Picture 10" descr="Icona persona stilizzata con braccio rosa chiaro, faccia rosa chiaro e piede marroncino chiaro">
            <a:extLst>
              <a:ext uri="{FF2B5EF4-FFF2-40B4-BE49-F238E27FC236}">
                <a16:creationId xmlns:a16="http://schemas.microsoft.com/office/drawing/2014/main" id="{76E61CE7-7675-DD27-87C9-9BC0811757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961" b="89844" l="5273" r="94922">
                        <a14:foregroundMark x1="28125" y1="18750" x2="28125" y2="18750"/>
                        <a14:foregroundMark x1="12207" y1="32227" x2="12207" y2="32227"/>
                        <a14:foregroundMark x1="12891" y1="42090" x2="12891" y2="42090"/>
                        <a14:foregroundMark x1="5859" y1="50000" x2="5859" y2="50000"/>
                        <a14:foregroundMark x1="51563" y1="49219" x2="51563" y2="49219"/>
                        <a14:foregroundMark x1="91895" y1="41406" x2="91895" y2="41406"/>
                        <a14:foregroundMark x1="94922" y1="33984" x2="94922" y2="33984"/>
                        <a14:foregroundMark x1="23340" y1="22363" x2="23340" y2="22363"/>
                        <a14:foregroundMark x1="24805" y1="18262" x2="27734" y2="21777"/>
                        <a14:foregroundMark x1="48730" y1="30273" x2="36621" y2="36230"/>
                        <a14:foregroundMark x1="12500" y1="42578" x2="5273" y2="48047"/>
                        <a14:foregroundMark x1="5273" y1="48047" x2="8789" y2="59961"/>
                        <a14:foregroundMark x1="8789" y1="59961" x2="16602" y2="60254"/>
                        <a14:foregroundMark x1="16602" y1="60254" x2="22559" y2="54590"/>
                        <a14:foregroundMark x1="22559" y1="54590" x2="20117" y2="45117"/>
                        <a14:foregroundMark x1="20117" y1="45117" x2="13672" y2="42188"/>
                        <a14:foregroundMark x1="32813" y1="57422" x2="32813" y2="57422"/>
                        <a14:foregroundMark x1="27441" y1="52539" x2="33301" y2="56641"/>
                        <a14:foregroundMark x1="28223" y1="15918" x2="20117" y2="20313"/>
                        <a14:foregroundMark x1="20117" y1="20313" x2="27832" y2="28125"/>
                        <a14:foregroundMark x1="27832" y1="28125" x2="31152" y2="19434"/>
                        <a14:foregroundMark x1="31152" y1="19434" x2="27734" y2="17773"/>
                        <a14:foregroundMark x1="72363" y1="47754" x2="72363" y2="47754"/>
                        <a14:foregroundMark x1="50684" y1="51074" x2="6650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0584" b="31081"/>
          <a:stretch/>
        </p:blipFill>
        <p:spPr bwMode="auto">
          <a:xfrm>
            <a:off x="-2118679" y="98840"/>
            <a:ext cx="1948451" cy="1136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magine 12" descr="Immagine che contiene ruota, pneumatico, giocattolo&#10;&#10;Il contenuto generato dall'IA potrebbe non essere corretto.">
            <a:extLst>
              <a:ext uri="{FF2B5EF4-FFF2-40B4-BE49-F238E27FC236}">
                <a16:creationId xmlns:a16="http://schemas.microsoft.com/office/drawing/2014/main" id="{8C3AC01D-5B5B-68BD-5ED9-38CA852648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8008" b="90234" l="7129" r="90625">
                        <a14:foregroundMark x1="7129" y1="72266" x2="7129" y2="72266"/>
                        <a14:foregroundMark x1="35352" y1="8008" x2="35352" y2="8008"/>
                        <a14:foregroundMark x1="90625" y1="52637" x2="90625" y2="52637"/>
                        <a14:foregroundMark x1="22070" y1="90234" x2="22070" y2="90234"/>
                        <a14:foregroundMark x1="64160" y1="44141" x2="64160" y2="44141"/>
                        <a14:foregroundMark x1="64746" y1="43555" x2="64746" y2="43555"/>
                        <a14:foregroundMark x1="62988" y1="42578" x2="60254" y2="42773"/>
                        <a14:foregroundMark x1="60449" y1="42969" x2="60449" y2="42969"/>
                        <a14:foregroundMark x1="73438" y1="62109" x2="77734" y2="65625"/>
                        <a14:foregroundMark x1="42871" y1="26270" x2="43066" y2="2236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2118679" y="4212219"/>
            <a:ext cx="1826454" cy="1826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748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65CB4-E1DB-CD1D-53EF-02A633D21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BB93482-38B4-9BC5-13E7-5B70E6803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3</a:t>
            </a:fld>
            <a:endParaRPr lang="it-IT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BBBCC6BC-4555-BF83-E879-E1C792A0281A}"/>
              </a:ext>
            </a:extLst>
          </p:cNvPr>
          <p:cNvSpPr txBox="1">
            <a:spLocks/>
          </p:cNvSpPr>
          <p:nvPr/>
        </p:nvSpPr>
        <p:spPr>
          <a:xfrm>
            <a:off x="385921" y="312908"/>
            <a:ext cx="11420157" cy="5230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Spinal Cord Injuries and FES  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22A2D7BF-BC76-4B5A-91F3-F3EE10C3338A}"/>
              </a:ext>
            </a:extLst>
          </p:cNvPr>
          <p:cNvSpPr/>
          <p:nvPr/>
        </p:nvSpPr>
        <p:spPr>
          <a:xfrm>
            <a:off x="1442976" y="1178108"/>
            <a:ext cx="9306046" cy="746096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E3E6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Over 15 million people worldwide live with </a:t>
            </a:r>
            <a:r>
              <a:rPr lang="en-US" sz="1600" b="1" dirty="0">
                <a:solidFill>
                  <a:srgbClr val="233D60"/>
                </a:solidFill>
              </a:rPr>
              <a:t>spinal cord injuries (SCI).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4726F6E0-F1D4-1DC0-BB49-73C333BA78C2}"/>
              </a:ext>
            </a:extLst>
          </p:cNvPr>
          <p:cNvSpPr/>
          <p:nvPr/>
        </p:nvSpPr>
        <p:spPr>
          <a:xfrm>
            <a:off x="334962" y="6025149"/>
            <a:ext cx="2179637" cy="523049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chemeClr val="bg1"/>
                </a:solidFill>
              </a:rPr>
              <a:t>Introduction</a:t>
            </a:r>
            <a:endParaRPr lang="it-IT" sz="1600" dirty="0">
              <a:solidFill>
                <a:schemeClr val="bg1"/>
              </a:solidFill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DB6BC27B-93B6-96A9-E71C-E3299B6F9EF8}"/>
              </a:ext>
            </a:extLst>
          </p:cNvPr>
          <p:cNvSpPr/>
          <p:nvPr/>
        </p:nvSpPr>
        <p:spPr>
          <a:xfrm>
            <a:off x="267057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</a:t>
            </a:r>
            <a:r>
              <a:rPr lang="it-IT" sz="1600" dirty="0" err="1">
                <a:solidFill>
                  <a:srgbClr val="E3E6EB"/>
                </a:solidFill>
              </a:rPr>
              <a:t>proposal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7EC044CF-7CDB-5646-C525-71B179E96A10}"/>
              </a:ext>
            </a:extLst>
          </p:cNvPr>
          <p:cNvSpPr/>
          <p:nvPr/>
        </p:nvSpPr>
        <p:spPr>
          <a:xfrm>
            <a:off x="500618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design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1E82517B-6379-FBD2-E874-FE939F091C4F}"/>
              </a:ext>
            </a:extLst>
          </p:cNvPr>
          <p:cNvSpPr/>
          <p:nvPr/>
        </p:nvSpPr>
        <p:spPr>
          <a:xfrm>
            <a:off x="7341792" y="6282690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Challenges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972D78FF-01A4-30B4-3401-6A49D842DC49}"/>
              </a:ext>
            </a:extLst>
          </p:cNvPr>
          <p:cNvSpPr/>
          <p:nvPr/>
        </p:nvSpPr>
        <p:spPr>
          <a:xfrm>
            <a:off x="9677401" y="6283881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Conclusion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DB80909D-D7F8-1FB0-56CE-F55C991319F5}"/>
              </a:ext>
            </a:extLst>
          </p:cNvPr>
          <p:cNvSpPr/>
          <p:nvPr/>
        </p:nvSpPr>
        <p:spPr>
          <a:xfrm>
            <a:off x="2076412" y="3870928"/>
            <a:ext cx="3718494" cy="1235692"/>
          </a:xfrm>
          <a:prstGeom prst="roundRect">
            <a:avLst/>
          </a:prstGeom>
          <a:noFill/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The trike we use is a modified commercial recumbent tricycle (CATRIKE 700).</a:t>
            </a:r>
            <a:endParaRPr lang="it-IT" sz="1600" b="1" i="1" dirty="0">
              <a:solidFill>
                <a:srgbClr val="233D60"/>
              </a:solidFill>
              <a:sym typeface="Wingdings" panose="05000000000000000000" pitchFamily="2" charset="2"/>
            </a:endParaRPr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92CA9490-8CB2-520E-50A1-395EEC3AAB91}"/>
              </a:ext>
            </a:extLst>
          </p:cNvPr>
          <p:cNvGrpSpPr>
            <a:grpSpLocks noChangeAspect="1"/>
          </p:cNvGrpSpPr>
          <p:nvPr/>
        </p:nvGrpSpPr>
        <p:grpSpPr>
          <a:xfrm>
            <a:off x="1107025" y="1155782"/>
            <a:ext cx="797975" cy="797975"/>
            <a:chOff x="632343" y="1237970"/>
            <a:chExt cx="1237742" cy="1237742"/>
          </a:xfrm>
        </p:grpSpPr>
        <p:sp>
          <p:nvSpPr>
            <p:cNvPr id="10" name="Ovale 9">
              <a:extLst>
                <a:ext uri="{FF2B5EF4-FFF2-40B4-BE49-F238E27FC236}">
                  <a16:creationId xmlns:a16="http://schemas.microsoft.com/office/drawing/2014/main" id="{DCE2B5C2-0E55-C188-4BE2-7D81A9D4022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2343" y="1237970"/>
              <a:ext cx="1237742" cy="1237742"/>
            </a:xfrm>
            <a:prstGeom prst="ellipse">
              <a:avLst/>
            </a:prstGeom>
            <a:solidFill>
              <a:srgbClr val="E3E6E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8" name="Immagine 7">
              <a:extLst>
                <a:ext uri="{FF2B5EF4-FFF2-40B4-BE49-F238E27FC236}">
                  <a16:creationId xmlns:a16="http://schemas.microsoft.com/office/drawing/2014/main" id="{6606D6CF-2E91-2F34-6C51-B0DCE3F9FE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8180" y="1445754"/>
              <a:ext cx="850072" cy="850072"/>
            </a:xfrm>
            <a:prstGeom prst="rect">
              <a:avLst/>
            </a:prstGeom>
          </p:spPr>
        </p:pic>
      </p:grp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112D45ED-EE6C-2387-E29D-47674BED942A}"/>
              </a:ext>
            </a:extLst>
          </p:cNvPr>
          <p:cNvSpPr/>
          <p:nvPr/>
        </p:nvSpPr>
        <p:spPr>
          <a:xfrm>
            <a:off x="1327077" y="2219310"/>
            <a:ext cx="9306046" cy="1102153"/>
          </a:xfrm>
          <a:prstGeom prst="roundRect">
            <a:avLst/>
          </a:prstGeom>
          <a:solidFill>
            <a:srgbClr val="E3E6EB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33D60"/>
                </a:solidFill>
              </a:rPr>
              <a:t>Functional electrical stimulation (FES) </a:t>
            </a:r>
            <a:r>
              <a:rPr lang="en-US" sz="1600" dirty="0">
                <a:solidFill>
                  <a:schemeClr val="tx1"/>
                </a:solidFill>
              </a:rPr>
              <a:t>during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pedaling exercises </a:t>
            </a:r>
            <a:r>
              <a:rPr lang="en-GB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help improve </a:t>
            </a:r>
            <a:br>
              <a:rPr lang="en-GB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GB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an SCI person’s physical and psychological well-being </a:t>
            </a:r>
            <a:r>
              <a:rPr lang="en-US" sz="1600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rgbClr val="233D60"/>
                </a:solidFill>
              </a:rPr>
              <a:t>FES-cycling.</a:t>
            </a: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C64D3F02-585D-165F-76A4-592FF4B2CD31}"/>
              </a:ext>
            </a:extLst>
          </p:cNvPr>
          <p:cNvGrpSpPr>
            <a:grpSpLocks noChangeAspect="1"/>
          </p:cNvGrpSpPr>
          <p:nvPr/>
        </p:nvGrpSpPr>
        <p:grpSpPr>
          <a:xfrm>
            <a:off x="9900187" y="2217534"/>
            <a:ext cx="1105703" cy="1105703"/>
            <a:chOff x="9966987" y="2712828"/>
            <a:chExt cx="1237742" cy="1237742"/>
          </a:xfrm>
        </p:grpSpPr>
        <p:sp>
          <p:nvSpPr>
            <p:cNvPr id="12" name="Ovale 11">
              <a:extLst>
                <a:ext uri="{FF2B5EF4-FFF2-40B4-BE49-F238E27FC236}">
                  <a16:creationId xmlns:a16="http://schemas.microsoft.com/office/drawing/2014/main" id="{6F3F3EED-48A3-EB76-5D9B-B9CF1F9DE49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966987" y="2712828"/>
              <a:ext cx="1237742" cy="123774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4" name="Picture 8" descr="Electricity therapy ">
              <a:extLst>
                <a:ext uri="{FF2B5EF4-FFF2-40B4-BE49-F238E27FC236}">
                  <a16:creationId xmlns:a16="http://schemas.microsoft.com/office/drawing/2014/main" id="{3181168E-2D75-2BD8-957C-D71483F350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57940" y="2926257"/>
              <a:ext cx="842644" cy="8426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Immagine 26">
            <a:extLst>
              <a:ext uri="{FF2B5EF4-FFF2-40B4-BE49-F238E27FC236}">
                <a16:creationId xmlns:a16="http://schemas.microsoft.com/office/drawing/2014/main" id="{76D687A3-13AA-1E12-298F-24C55CE689E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5998" y="3429000"/>
            <a:ext cx="4136021" cy="1932370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E61E5ED6-8F58-C64E-2D7A-5629C5382383}"/>
              </a:ext>
            </a:extLst>
          </p:cNvPr>
          <p:cNvSpPr/>
          <p:nvPr/>
        </p:nvSpPr>
        <p:spPr>
          <a:xfrm>
            <a:off x="334962" y="5586954"/>
            <a:ext cx="11522076" cy="4381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>
              <a:lnSpc>
                <a:spcPct val="150000"/>
              </a:lnSpc>
            </a:pPr>
            <a:r>
              <a:rPr lang="en-GB" sz="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Sanna, N., </a:t>
            </a:r>
            <a:r>
              <a:rPr lang="en-GB" sz="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Nossa</a:t>
            </a:r>
            <a:r>
              <a:rPr lang="en-GB" sz="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, R., Biffi, E., </a:t>
            </a:r>
            <a:r>
              <a:rPr lang="en-GB" sz="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Guanziroli</a:t>
            </a:r>
            <a:r>
              <a:rPr lang="en-GB" sz="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, E., Diella, E., Ferrante, S., Molteni, F., </a:t>
            </a:r>
            <a:r>
              <a:rPr lang="en-GB" sz="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Peruzzo</a:t>
            </a:r>
            <a:r>
              <a:rPr lang="en-GB" sz="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, D., Nicola, C., Alfonso, M., Rizzo, G., </a:t>
            </a:r>
            <a:r>
              <a:rPr lang="en-GB" sz="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Tarabini</a:t>
            </a:r>
            <a:r>
              <a:rPr lang="en-GB" sz="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, M., </a:t>
            </a:r>
            <a:r>
              <a:rPr lang="en-GB" sz="600" dirty="0" err="1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Pedrocchi</a:t>
            </a:r>
            <a:r>
              <a:rPr lang="en-GB" sz="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, A., &amp; Ambrosini, E. (2025). </a:t>
            </a:r>
            <a:r>
              <a:rPr lang="en-US" sz="600" i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Evaluating the Health and Fitness Benefits of a 6-Month FES-Cycling. Program on a Recumbent Trike for Individuals with Motor Complete SCI: A Pilot Study. </a:t>
            </a:r>
          </a:p>
          <a:p>
            <a:pPr>
              <a:lnSpc>
                <a:spcPct val="150000"/>
              </a:lnSpc>
            </a:pPr>
            <a:r>
              <a:rPr lang="en-US" sz="6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Everaert, D. G., Okuma, Y., Abdollah, V., &amp; Ho, C. (2021). </a:t>
            </a:r>
            <a:r>
              <a:rPr lang="en-US" sz="600" i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Arial" panose="020B0604020202020204" pitchFamily="34" charset="0"/>
              </a:rPr>
              <a:t>Timing and dosage of FES cycling early after acute spinal cord injury: A case series report. </a:t>
            </a:r>
          </a:p>
          <a:p>
            <a:pPr>
              <a:lnSpc>
                <a:spcPct val="150000"/>
              </a:lnSpc>
            </a:pPr>
            <a:r>
              <a:rPr lang="en-US" sz="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Savona, D., Zanco, C., Sanna, N., </a:t>
            </a:r>
            <a:r>
              <a:rPr lang="en-US" sz="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Pedrocchi</a:t>
            </a:r>
            <a:r>
              <a:rPr lang="en-US" sz="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A., &amp; Ambrosini, E. (2024). </a:t>
            </a:r>
            <a:r>
              <a:rPr lang="en-US" sz="6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functional Electrical Stimulation and Motor-Assisted trike for sport rehabilitation therapy. 2022 9th IEEE RAS/EMBS International Conference for Biomedical Robotics and </a:t>
            </a:r>
            <a:r>
              <a:rPr lang="en-US" sz="600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Biomechatronics</a:t>
            </a:r>
            <a:endParaRPr lang="en-US" sz="600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2262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4D35B-5545-9342-AE3A-E3FE5D4E7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o 7">
            <a:extLst>
              <a:ext uri="{FF2B5EF4-FFF2-40B4-BE49-F238E27FC236}">
                <a16:creationId xmlns:a16="http://schemas.microsoft.com/office/drawing/2014/main" id="{E525FCF4-8610-E72E-1F06-FCDFC64416E8}"/>
              </a:ext>
            </a:extLst>
          </p:cNvPr>
          <p:cNvGrpSpPr>
            <a:grpSpLocks noChangeAspect="1"/>
          </p:cNvGrpSpPr>
          <p:nvPr/>
        </p:nvGrpSpPr>
        <p:grpSpPr>
          <a:xfrm>
            <a:off x="1107025" y="1155782"/>
            <a:ext cx="797975" cy="797975"/>
            <a:chOff x="632343" y="1237970"/>
            <a:chExt cx="1237742" cy="1237742"/>
          </a:xfrm>
        </p:grpSpPr>
        <p:sp>
          <p:nvSpPr>
            <p:cNvPr id="10" name="Ovale 9">
              <a:extLst>
                <a:ext uri="{FF2B5EF4-FFF2-40B4-BE49-F238E27FC236}">
                  <a16:creationId xmlns:a16="http://schemas.microsoft.com/office/drawing/2014/main" id="{240B2BB9-9554-35A5-1C27-085A646B5F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2343" y="1237970"/>
              <a:ext cx="1237742" cy="1237742"/>
            </a:xfrm>
            <a:prstGeom prst="ellipse">
              <a:avLst/>
            </a:prstGeom>
            <a:solidFill>
              <a:srgbClr val="E3E6E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1" name="Immagine 10">
              <a:extLst>
                <a:ext uri="{FF2B5EF4-FFF2-40B4-BE49-F238E27FC236}">
                  <a16:creationId xmlns:a16="http://schemas.microsoft.com/office/drawing/2014/main" id="{0FCB7505-717B-5373-5436-01B7DE1853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8180" y="1445754"/>
              <a:ext cx="850072" cy="850072"/>
            </a:xfrm>
            <a:prstGeom prst="rect">
              <a:avLst/>
            </a:prstGeom>
          </p:spPr>
        </p:pic>
      </p:grp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2EC1072-7D5C-F412-0055-75DBEE8C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4</a:t>
            </a:fld>
            <a:endParaRPr lang="it-IT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47F030A2-FA1F-DDCC-2309-C1C796584F99}"/>
              </a:ext>
            </a:extLst>
          </p:cNvPr>
          <p:cNvSpPr txBox="1">
            <a:spLocks/>
          </p:cNvSpPr>
          <p:nvPr/>
        </p:nvSpPr>
        <p:spPr>
          <a:xfrm>
            <a:off x="385921" y="312908"/>
            <a:ext cx="11420157" cy="5230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User-center need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A3ED0AC9-471E-3183-033B-34C8473DC1BE}"/>
              </a:ext>
            </a:extLst>
          </p:cNvPr>
          <p:cNvSpPr/>
          <p:nvPr/>
        </p:nvSpPr>
        <p:spPr>
          <a:xfrm>
            <a:off x="1115825" y="3565936"/>
            <a:ext cx="9960348" cy="782906"/>
          </a:xfrm>
          <a:prstGeom prst="roundRect">
            <a:avLst/>
          </a:prstGeom>
          <a:noFill/>
          <a:ln w="57150">
            <a:solidFill>
              <a:srgbClr val="233D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600" dirty="0">
                <a:solidFill>
                  <a:schemeClr val="tx1"/>
                </a:solidFill>
              </a:rPr>
              <a:t>Risk of </a:t>
            </a:r>
            <a:r>
              <a:rPr lang="en-US" sz="1600" b="1" dirty="0">
                <a:solidFill>
                  <a:srgbClr val="233D60"/>
                </a:solidFill>
              </a:rPr>
              <a:t>PRESSURE ULCERS</a:t>
            </a:r>
            <a:r>
              <a:rPr lang="en-US" sz="1600" b="1" dirty="0">
                <a:solidFill>
                  <a:schemeClr val="tx1"/>
                </a:solidFill>
              </a:rPr>
              <a:t>: </a:t>
            </a:r>
            <a:r>
              <a:rPr lang="en-US" sz="1600" dirty="0">
                <a:solidFill>
                  <a:schemeClr val="tx1"/>
                </a:solidFill>
              </a:rPr>
              <a:t>prolonged compression that damages the skin and underlying tissues.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D41F87B-17DC-A096-6F9B-4AC0A3AF1D0D}"/>
              </a:ext>
            </a:extLst>
          </p:cNvPr>
          <p:cNvSpPr/>
          <p:nvPr/>
        </p:nvSpPr>
        <p:spPr>
          <a:xfrm>
            <a:off x="2670572" y="6025148"/>
            <a:ext cx="2179637" cy="523050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Project </a:t>
            </a:r>
            <a:r>
              <a:rPr lang="it-IT" sz="1600" dirty="0" err="1">
                <a:solidFill>
                  <a:schemeClr val="bg1"/>
                </a:solidFill>
              </a:rPr>
              <a:t>proposal</a:t>
            </a:r>
            <a:endParaRPr lang="it-IT" sz="1600" dirty="0">
              <a:solidFill>
                <a:schemeClr val="bg1"/>
              </a:solidFill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DCADD005-CA93-771F-A816-CD1BC4F46345}"/>
              </a:ext>
            </a:extLst>
          </p:cNvPr>
          <p:cNvSpPr/>
          <p:nvPr/>
        </p:nvSpPr>
        <p:spPr>
          <a:xfrm>
            <a:off x="500618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design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86C0AE3E-8284-D0C3-E81B-FC5398E9F53D}"/>
              </a:ext>
            </a:extLst>
          </p:cNvPr>
          <p:cNvSpPr/>
          <p:nvPr/>
        </p:nvSpPr>
        <p:spPr>
          <a:xfrm>
            <a:off x="7341792" y="6282690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Challenges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F9D6DA98-4EA0-1823-9AFB-DCEBFA34C261}"/>
              </a:ext>
            </a:extLst>
          </p:cNvPr>
          <p:cNvSpPr/>
          <p:nvPr/>
        </p:nvSpPr>
        <p:spPr>
          <a:xfrm>
            <a:off x="9677401" y="6283881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Conclusion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E6A23A92-5BC0-7E0C-1966-251C1DCCD05B}"/>
              </a:ext>
            </a:extLst>
          </p:cNvPr>
          <p:cNvSpPr/>
          <p:nvPr/>
        </p:nvSpPr>
        <p:spPr>
          <a:xfrm>
            <a:off x="872588" y="835958"/>
            <a:ext cx="1306732" cy="1376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FDE18EA0-0BE6-8BC9-02E6-7FFC223DE7E9}"/>
              </a:ext>
            </a:extLst>
          </p:cNvPr>
          <p:cNvSpPr/>
          <p:nvPr/>
        </p:nvSpPr>
        <p:spPr>
          <a:xfrm>
            <a:off x="33496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Introduction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053685D7-411B-8995-D8E1-BE5681AD27F2}"/>
              </a:ext>
            </a:extLst>
          </p:cNvPr>
          <p:cNvSpPr/>
          <p:nvPr/>
        </p:nvSpPr>
        <p:spPr>
          <a:xfrm>
            <a:off x="664028" y="1184362"/>
            <a:ext cx="2063932" cy="1857352"/>
          </a:xfrm>
          <a:prstGeom prst="roundRect">
            <a:avLst/>
          </a:prstGeom>
          <a:noFill/>
          <a:ln w="57150">
            <a:solidFill>
              <a:srgbClr val="E3E6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it-IT" sz="1600" dirty="0">
                <a:solidFill>
                  <a:schemeClr val="tx1"/>
                </a:solidFill>
              </a:rPr>
              <a:t>MITIGATE </a:t>
            </a:r>
            <a:r>
              <a:rPr lang="it-IT" sz="1600" b="1" dirty="0">
                <a:solidFill>
                  <a:srgbClr val="233D60"/>
                </a:solidFill>
              </a:rPr>
              <a:t>DISCOMFORT</a:t>
            </a: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6FF8B9F8-F313-CB08-F93A-9A3A2B77BDED}"/>
              </a:ext>
            </a:extLst>
          </p:cNvPr>
          <p:cNvSpPr txBox="1"/>
          <p:nvPr/>
        </p:nvSpPr>
        <p:spPr>
          <a:xfrm>
            <a:off x="3549040" y="1290432"/>
            <a:ext cx="7978932" cy="468427"/>
          </a:xfrm>
          <a:prstGeom prst="roundRect">
            <a:avLst/>
          </a:prstGeom>
          <a:solidFill>
            <a:srgbClr val="E3E6EB"/>
          </a:solidFill>
          <a:ln w="57150">
            <a:solidFill>
              <a:srgbClr val="E3E6EB"/>
            </a:solidFill>
          </a:ln>
        </p:spPr>
        <p:txBody>
          <a:bodyPr wrap="square" anchor="ctr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1600" b="1" dirty="0">
                <a:solidFill>
                  <a:srgbClr val="09B285"/>
                </a:solidFill>
              </a:rPr>
              <a:t>Healthy individual</a:t>
            </a:r>
            <a:r>
              <a:rPr lang="en-US" sz="1600" dirty="0"/>
              <a:t>: In-Chair Movements (ICM)</a:t>
            </a:r>
            <a:endParaRPr lang="it-IT" sz="1600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37AF2A1-2434-5206-B5B4-E644E080A3A6}"/>
              </a:ext>
            </a:extLst>
          </p:cNvPr>
          <p:cNvSpPr txBox="1"/>
          <p:nvPr/>
        </p:nvSpPr>
        <p:spPr>
          <a:xfrm>
            <a:off x="3549040" y="2127761"/>
            <a:ext cx="7978932" cy="875347"/>
          </a:xfrm>
          <a:prstGeom prst="roundRect">
            <a:avLst/>
          </a:prstGeom>
          <a:solidFill>
            <a:srgbClr val="E3E6EB"/>
          </a:solidFill>
          <a:ln w="57150">
            <a:solidFill>
              <a:srgbClr val="E3E6EB"/>
            </a:solidFill>
          </a:ln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sz="1600" b="1" dirty="0">
                <a:solidFill>
                  <a:srgbClr val="FE99A0"/>
                </a:solidFill>
              </a:rPr>
              <a:t>Individual with SCI</a:t>
            </a:r>
            <a:r>
              <a:rPr lang="en-US" sz="1600" dirty="0"/>
              <a:t>: lifting themselves from the chair using their arms </a:t>
            </a:r>
            <a:br>
              <a:rPr lang="en-US" sz="1600" dirty="0"/>
            </a:br>
            <a:r>
              <a:rPr lang="en-US" sz="1600" dirty="0">
                <a:sym typeface="Wingdings" panose="05000000000000000000" pitchFamily="2" charset="2"/>
              </a:rPr>
              <a:t></a:t>
            </a:r>
            <a:r>
              <a:rPr lang="en-US" sz="1600" dirty="0"/>
              <a:t> not possible during training or competition</a:t>
            </a:r>
            <a:endParaRPr lang="it-IT" sz="1600" dirty="0"/>
          </a:p>
        </p:txBody>
      </p: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95CC8F1C-BBC2-0CEA-B57D-BFF4B4EBC896}"/>
              </a:ext>
            </a:extLst>
          </p:cNvPr>
          <p:cNvGrpSpPr>
            <a:grpSpLocks noChangeAspect="1"/>
          </p:cNvGrpSpPr>
          <p:nvPr/>
        </p:nvGrpSpPr>
        <p:grpSpPr>
          <a:xfrm>
            <a:off x="3154132" y="2100304"/>
            <a:ext cx="941410" cy="941410"/>
            <a:chOff x="3098249" y="2147209"/>
            <a:chExt cx="941410" cy="941410"/>
          </a:xfrm>
        </p:grpSpPr>
        <p:sp>
          <p:nvSpPr>
            <p:cNvPr id="25" name="Ovale 24">
              <a:extLst>
                <a:ext uri="{FF2B5EF4-FFF2-40B4-BE49-F238E27FC236}">
                  <a16:creationId xmlns:a16="http://schemas.microsoft.com/office/drawing/2014/main" id="{38F5EF31-152D-F7E4-333E-A5AD97911A0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98249" y="2147209"/>
              <a:ext cx="941410" cy="9414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16" name="Immagine 15">
              <a:extLst>
                <a:ext uri="{FF2B5EF4-FFF2-40B4-BE49-F238E27FC236}">
                  <a16:creationId xmlns:a16="http://schemas.microsoft.com/office/drawing/2014/main" id="{C07A8D47-080D-DB9B-B088-6B8467618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31658" y="2259388"/>
              <a:ext cx="676600" cy="707236"/>
            </a:xfrm>
            <a:prstGeom prst="rect">
              <a:avLst/>
            </a:prstGeom>
          </p:spPr>
        </p:pic>
      </p:grpSp>
      <p:grpSp>
        <p:nvGrpSpPr>
          <p:cNvPr id="35" name="Gruppo 34">
            <a:extLst>
              <a:ext uri="{FF2B5EF4-FFF2-40B4-BE49-F238E27FC236}">
                <a16:creationId xmlns:a16="http://schemas.microsoft.com/office/drawing/2014/main" id="{6BE1BFA4-C832-6FF3-AEFA-C61C1A62441C}"/>
              </a:ext>
            </a:extLst>
          </p:cNvPr>
          <p:cNvGrpSpPr>
            <a:grpSpLocks noChangeAspect="1"/>
          </p:cNvGrpSpPr>
          <p:nvPr/>
        </p:nvGrpSpPr>
        <p:grpSpPr>
          <a:xfrm>
            <a:off x="3078335" y="1057548"/>
            <a:ext cx="941410" cy="941410"/>
            <a:chOff x="3030081" y="1057548"/>
            <a:chExt cx="941410" cy="941410"/>
          </a:xfrm>
        </p:grpSpPr>
        <p:sp>
          <p:nvSpPr>
            <p:cNvPr id="26" name="Ovale 25">
              <a:extLst>
                <a:ext uri="{FF2B5EF4-FFF2-40B4-BE49-F238E27FC236}">
                  <a16:creationId xmlns:a16="http://schemas.microsoft.com/office/drawing/2014/main" id="{31A36900-F494-FEE1-0DB8-A3A2FAE9AC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30081" y="1057548"/>
              <a:ext cx="941410" cy="94141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grpSp>
          <p:nvGrpSpPr>
            <p:cNvPr id="27" name="Gruppo 26">
              <a:extLst>
                <a:ext uri="{FF2B5EF4-FFF2-40B4-BE49-F238E27FC236}">
                  <a16:creationId xmlns:a16="http://schemas.microsoft.com/office/drawing/2014/main" id="{103936B9-D98E-7AC8-E2BF-2973141D8694}"/>
                </a:ext>
              </a:extLst>
            </p:cNvPr>
            <p:cNvGrpSpPr/>
            <p:nvPr/>
          </p:nvGrpSpPr>
          <p:grpSpPr>
            <a:xfrm>
              <a:off x="3159306" y="1184362"/>
              <a:ext cx="764742" cy="735687"/>
              <a:chOff x="703555" y="4242215"/>
              <a:chExt cx="1138003" cy="1136761"/>
            </a:xfrm>
          </p:grpSpPr>
          <p:pic>
            <p:nvPicPr>
              <p:cNvPr id="28" name="Immagine 27">
                <a:extLst>
                  <a:ext uri="{FF2B5EF4-FFF2-40B4-BE49-F238E27FC236}">
                    <a16:creationId xmlns:a16="http://schemas.microsoft.com/office/drawing/2014/main" id="{348F8FF5-BCC8-2E24-EECC-64CD146FA7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04796" y="4242215"/>
                <a:ext cx="1136762" cy="1136761"/>
              </a:xfrm>
              <a:prstGeom prst="rect">
                <a:avLst/>
              </a:prstGeom>
            </p:spPr>
          </p:pic>
          <p:grpSp>
            <p:nvGrpSpPr>
              <p:cNvPr id="29" name="Gruppo 28">
                <a:extLst>
                  <a:ext uri="{FF2B5EF4-FFF2-40B4-BE49-F238E27FC236}">
                    <a16:creationId xmlns:a16="http://schemas.microsoft.com/office/drawing/2014/main" id="{6D88F5D2-0B47-2C84-6317-1B170051085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191773" y="4488958"/>
                <a:ext cx="644741" cy="660414"/>
                <a:chOff x="1261435" y="4231460"/>
                <a:chExt cx="270563" cy="270562"/>
              </a:xfrm>
            </p:grpSpPr>
            <p:sp>
              <p:nvSpPr>
                <p:cNvPr id="32" name="Rettangolo 31">
                  <a:extLst>
                    <a:ext uri="{FF2B5EF4-FFF2-40B4-BE49-F238E27FC236}">
                      <a16:creationId xmlns:a16="http://schemas.microsoft.com/office/drawing/2014/main" id="{993C7C9C-C59F-EFFA-2F5E-9758C2CC768A}"/>
                    </a:ext>
                  </a:extLst>
                </p:cNvPr>
                <p:cNvSpPr/>
                <p:nvPr/>
              </p:nvSpPr>
              <p:spPr>
                <a:xfrm>
                  <a:off x="1325232" y="4309198"/>
                  <a:ext cx="120578" cy="14095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/>
                </a:p>
              </p:txBody>
            </p:sp>
            <p:pic>
              <p:nvPicPr>
                <p:cNvPr id="33" name="Picture 2" descr="Check ">
                  <a:extLst>
                    <a:ext uri="{FF2B5EF4-FFF2-40B4-BE49-F238E27FC236}">
                      <a16:creationId xmlns:a16="http://schemas.microsoft.com/office/drawing/2014/main" id="{634E5840-E438-6396-8BA1-EC267DFE928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261435" y="4231460"/>
                  <a:ext cx="270563" cy="27056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30" name="Rettangolo 29">
                <a:extLst>
                  <a:ext uri="{FF2B5EF4-FFF2-40B4-BE49-F238E27FC236}">
                    <a16:creationId xmlns:a16="http://schemas.microsoft.com/office/drawing/2014/main" id="{7370CE8F-5C3A-9E47-36C3-3AD9BC908F85}"/>
                  </a:ext>
                </a:extLst>
              </p:cNvPr>
              <p:cNvSpPr/>
              <p:nvPr/>
            </p:nvSpPr>
            <p:spPr>
              <a:xfrm>
                <a:off x="703555" y="4500788"/>
                <a:ext cx="313451" cy="2045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sp>
            <p:nvSpPr>
              <p:cNvPr id="31" name="Rettangolo 30">
                <a:extLst>
                  <a:ext uri="{FF2B5EF4-FFF2-40B4-BE49-F238E27FC236}">
                    <a16:creationId xmlns:a16="http://schemas.microsoft.com/office/drawing/2014/main" id="{792A2959-5320-1B7E-2D74-F9DEA9945110}"/>
                  </a:ext>
                </a:extLst>
              </p:cNvPr>
              <p:cNvSpPr/>
              <p:nvPr/>
            </p:nvSpPr>
            <p:spPr>
              <a:xfrm>
                <a:off x="703555" y="4904648"/>
                <a:ext cx="313451" cy="2045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</p:grpSp>
      </p:grpSp>
      <p:sp>
        <p:nvSpPr>
          <p:cNvPr id="36" name="Parentesi graffa aperta 35">
            <a:extLst>
              <a:ext uri="{FF2B5EF4-FFF2-40B4-BE49-F238E27FC236}">
                <a16:creationId xmlns:a16="http://schemas.microsoft.com/office/drawing/2014/main" id="{2DBD5768-692E-E3A2-1DE9-3091EB45009D}"/>
              </a:ext>
            </a:extLst>
          </p:cNvPr>
          <p:cNvSpPr/>
          <p:nvPr/>
        </p:nvSpPr>
        <p:spPr>
          <a:xfrm>
            <a:off x="2862056" y="1184362"/>
            <a:ext cx="296276" cy="1857352"/>
          </a:xfrm>
          <a:prstGeom prst="leftBrace">
            <a:avLst>
              <a:gd name="adj1" fmla="val 81675"/>
              <a:gd name="adj2" fmla="val 47980"/>
            </a:avLst>
          </a:prstGeom>
          <a:ln w="57150">
            <a:solidFill>
              <a:srgbClr val="E3E6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8A1EDA05-B63C-AD89-43C4-167C62AF3856}"/>
              </a:ext>
            </a:extLst>
          </p:cNvPr>
          <p:cNvSpPr/>
          <p:nvPr/>
        </p:nvSpPr>
        <p:spPr>
          <a:xfrm>
            <a:off x="1435261" y="4612254"/>
            <a:ext cx="9444320" cy="8372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600" dirty="0">
                <a:solidFill>
                  <a:schemeClr val="tx1"/>
                </a:solidFill>
              </a:rPr>
              <a:t>The project aims to address this issue by improving </a:t>
            </a:r>
            <a:r>
              <a:rPr lang="en-US" sz="1600" b="1" dirty="0">
                <a:solidFill>
                  <a:srgbClr val="233D60"/>
                </a:solidFill>
              </a:rPr>
              <a:t>safety</a:t>
            </a:r>
            <a:r>
              <a:rPr lang="en-US" sz="1600" dirty="0">
                <a:solidFill>
                  <a:schemeClr val="tx1"/>
                </a:solidFill>
              </a:rPr>
              <a:t> and </a:t>
            </a:r>
            <a:r>
              <a:rPr lang="en-US" sz="1600" b="1" dirty="0">
                <a:solidFill>
                  <a:srgbClr val="233D60"/>
                </a:solidFill>
              </a:rPr>
              <a:t>comfort</a:t>
            </a:r>
            <a:r>
              <a:rPr lang="en-US" sz="1600" dirty="0">
                <a:solidFill>
                  <a:schemeClr val="tx1"/>
                </a:solidFill>
              </a:rPr>
              <a:t> of athletes on the trike.</a:t>
            </a:r>
          </a:p>
        </p:txBody>
      </p:sp>
      <p:pic>
        <p:nvPicPr>
          <p:cNvPr id="2051" name="Picture 3" descr="Light bulb ">
            <a:extLst>
              <a:ext uri="{FF2B5EF4-FFF2-40B4-BE49-F238E27FC236}">
                <a16:creationId xmlns:a16="http://schemas.microsoft.com/office/drawing/2014/main" id="{45B777F9-79E7-0237-F204-72A4381C8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588" y="4660855"/>
            <a:ext cx="670895" cy="670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425955A7-461F-34C5-63E9-F332F797581E}"/>
              </a:ext>
            </a:extLst>
          </p:cNvPr>
          <p:cNvSpPr/>
          <p:nvPr/>
        </p:nvSpPr>
        <p:spPr>
          <a:xfrm>
            <a:off x="334962" y="5590482"/>
            <a:ext cx="11522076" cy="4346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just">
              <a:lnSpc>
                <a:spcPct val="115000"/>
              </a:lnSpc>
              <a:spcAft>
                <a:spcPts val="500"/>
              </a:spcAft>
            </a:pPr>
            <a:r>
              <a:rPr lang="en-US" sz="600" dirty="0" err="1">
                <a:solidFill>
                  <a:srgbClr val="00000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Fenety</a:t>
            </a:r>
            <a:r>
              <a:rPr lang="en-US" sz="600" dirty="0">
                <a:solidFill>
                  <a:srgbClr val="00000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, A., &amp; Walker, J. M. (2002). </a:t>
            </a:r>
            <a:r>
              <a:rPr lang="en-US" sz="600" i="1" dirty="0">
                <a:solidFill>
                  <a:srgbClr val="00000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Short-Term effects of workstation exercises on musculoskeletal discomfort and postural changes in seated video display unit workers. </a:t>
            </a:r>
          </a:p>
          <a:p>
            <a:pPr algn="just">
              <a:lnSpc>
                <a:spcPct val="115000"/>
              </a:lnSpc>
              <a:spcAft>
                <a:spcPts val="500"/>
              </a:spcAft>
            </a:pPr>
            <a:r>
              <a:rPr lang="en-US" sz="600" dirty="0">
                <a:solidFill>
                  <a:srgbClr val="00000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Vergara, M., &amp; Page, Á. (2002</a:t>
            </a:r>
            <a:r>
              <a:rPr lang="en-US" sz="600" i="1" dirty="0">
                <a:solidFill>
                  <a:srgbClr val="00000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). Relationship between comfort and back posture and mobility in sitting-posture. </a:t>
            </a:r>
            <a:endParaRPr lang="it-IT" sz="600" i="1" dirty="0">
              <a:effectLst/>
              <a:latin typeface="+mj-l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080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A72EE-C081-25BE-201B-7F21EEC0E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2DF8F58-48FB-BBCB-0334-77A6D68C7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5</a:t>
            </a:fld>
            <a:endParaRPr lang="it-IT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E03C8BC4-648C-47E2-9D84-9CF1CD52BDDE}"/>
              </a:ext>
            </a:extLst>
          </p:cNvPr>
          <p:cNvSpPr txBox="1">
            <a:spLocks/>
          </p:cNvSpPr>
          <p:nvPr/>
        </p:nvSpPr>
        <p:spPr>
          <a:xfrm>
            <a:off x="385921" y="312908"/>
            <a:ext cx="11420157" cy="5230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Requirements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19550C95-1E4A-EDF6-AD23-1CB89F10BBAC}"/>
              </a:ext>
            </a:extLst>
          </p:cNvPr>
          <p:cNvSpPr/>
          <p:nvPr/>
        </p:nvSpPr>
        <p:spPr>
          <a:xfrm>
            <a:off x="7104539" y="1255642"/>
            <a:ext cx="3821570" cy="665536"/>
          </a:xfrm>
          <a:prstGeom prst="roundRect">
            <a:avLst/>
          </a:prstGeom>
          <a:solidFill>
            <a:srgbClr val="E3E6EB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algn="just">
              <a:lnSpc>
                <a:spcPct val="115000"/>
              </a:lnSpc>
              <a:buFont typeface="Manrope" charset="0"/>
              <a:buChar char="-"/>
            </a:pPr>
            <a:r>
              <a:rPr lang="en-GB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prevent pressure sores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A1CABE6E-5E72-3F4A-7320-FCF5D69F38E5}"/>
              </a:ext>
            </a:extLst>
          </p:cNvPr>
          <p:cNvSpPr/>
          <p:nvPr/>
        </p:nvSpPr>
        <p:spPr>
          <a:xfrm>
            <a:off x="2670572" y="6025148"/>
            <a:ext cx="2179637" cy="523050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Project </a:t>
            </a:r>
            <a:r>
              <a:rPr lang="it-IT" sz="1600" dirty="0" err="1">
                <a:solidFill>
                  <a:schemeClr val="bg1"/>
                </a:solidFill>
              </a:rPr>
              <a:t>proposal</a:t>
            </a:r>
            <a:endParaRPr lang="it-IT" sz="1600" dirty="0">
              <a:solidFill>
                <a:schemeClr val="bg1"/>
              </a:solidFill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4FD5E178-2BD2-CE6F-3538-47CED5F3A098}"/>
              </a:ext>
            </a:extLst>
          </p:cNvPr>
          <p:cNvSpPr/>
          <p:nvPr/>
        </p:nvSpPr>
        <p:spPr>
          <a:xfrm>
            <a:off x="500618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design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D9DA7A86-3DCF-0EAA-DEC4-E7F52BF213D1}"/>
              </a:ext>
            </a:extLst>
          </p:cNvPr>
          <p:cNvSpPr/>
          <p:nvPr/>
        </p:nvSpPr>
        <p:spPr>
          <a:xfrm>
            <a:off x="7341792" y="6282690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Challenges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65DF376F-4571-A69C-2E3F-539239960186}"/>
              </a:ext>
            </a:extLst>
          </p:cNvPr>
          <p:cNvSpPr/>
          <p:nvPr/>
        </p:nvSpPr>
        <p:spPr>
          <a:xfrm>
            <a:off x="9677401" y="6283881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Conclusion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4FC4117E-60D1-A868-3E31-AC9CCFE8D9E0}"/>
              </a:ext>
            </a:extLst>
          </p:cNvPr>
          <p:cNvSpPr/>
          <p:nvPr/>
        </p:nvSpPr>
        <p:spPr>
          <a:xfrm>
            <a:off x="33496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Introduction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A0D61516-B966-4A38-FBDF-843642C8B6DD}"/>
              </a:ext>
            </a:extLst>
          </p:cNvPr>
          <p:cNvSpPr/>
          <p:nvPr/>
        </p:nvSpPr>
        <p:spPr>
          <a:xfrm>
            <a:off x="1112841" y="1637257"/>
            <a:ext cx="5054279" cy="3844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500"/>
              </a:spcAft>
              <a:buNone/>
            </a:pPr>
            <a:r>
              <a:rPr lang="en-GB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The </a:t>
            </a:r>
            <a:r>
              <a:rPr lang="en-GB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FUNCTIONAL requirements</a:t>
            </a:r>
            <a:r>
              <a:rPr lang="en-GB" sz="1600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are related to the behaviour and performance of the system and are essential for the correct use of the device. 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55EB5B50-8C6B-DC37-A79E-B55DA022D572}"/>
              </a:ext>
            </a:extLst>
          </p:cNvPr>
          <p:cNvSpPr/>
          <p:nvPr/>
        </p:nvSpPr>
        <p:spPr>
          <a:xfrm>
            <a:off x="7104539" y="2193814"/>
            <a:ext cx="3821570" cy="665536"/>
          </a:xfrm>
          <a:prstGeom prst="roundRect">
            <a:avLst/>
          </a:prstGeom>
          <a:solidFill>
            <a:srgbClr val="E3E6EB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algn="just">
              <a:lnSpc>
                <a:spcPct val="115000"/>
              </a:lnSpc>
              <a:buFont typeface="Manrope" charset="0"/>
              <a:buChar char="-"/>
            </a:pPr>
            <a:r>
              <a:rPr lang="en-GB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ensure user comfort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6D4BB3F9-1218-56C5-B7EF-79CBAF13309A}"/>
              </a:ext>
            </a:extLst>
          </p:cNvPr>
          <p:cNvSpPr/>
          <p:nvPr/>
        </p:nvSpPr>
        <p:spPr>
          <a:xfrm>
            <a:off x="7104539" y="3131987"/>
            <a:ext cx="3821570" cy="665536"/>
          </a:xfrm>
          <a:prstGeom prst="roundRect">
            <a:avLst/>
          </a:prstGeom>
          <a:solidFill>
            <a:srgbClr val="E3E6EB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algn="just">
              <a:lnSpc>
                <a:spcPct val="115000"/>
              </a:lnSpc>
              <a:buFont typeface="Manrope" charset="0"/>
              <a:buChar char="-"/>
            </a:pPr>
            <a:r>
              <a:rPr lang="en-GB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maintain postural stability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94BED2E7-B26A-B021-DB8A-C658BE9C042D}"/>
              </a:ext>
            </a:extLst>
          </p:cNvPr>
          <p:cNvSpPr/>
          <p:nvPr/>
        </p:nvSpPr>
        <p:spPr>
          <a:xfrm>
            <a:off x="7104539" y="4070160"/>
            <a:ext cx="3821570" cy="665536"/>
          </a:xfrm>
          <a:prstGeom prst="roundRect">
            <a:avLst/>
          </a:prstGeom>
          <a:solidFill>
            <a:srgbClr val="E3E6EB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algn="just">
              <a:lnSpc>
                <a:spcPct val="115000"/>
              </a:lnSpc>
              <a:buFont typeface="Manrope" charset="0"/>
              <a:buChar char="-"/>
            </a:pPr>
            <a:r>
              <a:rPr lang="en-GB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be adaptable to the trike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A52130B6-F7AC-77CC-A37E-7915E3551A51}"/>
              </a:ext>
            </a:extLst>
          </p:cNvPr>
          <p:cNvSpPr/>
          <p:nvPr/>
        </p:nvSpPr>
        <p:spPr>
          <a:xfrm>
            <a:off x="7104539" y="5008332"/>
            <a:ext cx="3821570" cy="665536"/>
          </a:xfrm>
          <a:prstGeom prst="roundRect">
            <a:avLst/>
          </a:prstGeom>
          <a:solidFill>
            <a:srgbClr val="E3E6EB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algn="just">
              <a:lnSpc>
                <a:spcPct val="115000"/>
              </a:lnSpc>
              <a:spcAft>
                <a:spcPts val="500"/>
              </a:spcAft>
              <a:buFont typeface="Manrope" charset="0"/>
              <a:buChar char="-"/>
            </a:pPr>
            <a:r>
              <a:rPr lang="en-GB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be waterproof and resistant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E0301D18-F987-D28B-9CB6-BF698A0D392C}"/>
              </a:ext>
            </a:extLst>
          </p:cNvPr>
          <p:cNvGrpSpPr/>
          <p:nvPr/>
        </p:nvGrpSpPr>
        <p:grpSpPr>
          <a:xfrm>
            <a:off x="6548120" y="1131971"/>
            <a:ext cx="903659" cy="903659"/>
            <a:chOff x="6548120" y="1131971"/>
            <a:chExt cx="903659" cy="903659"/>
          </a:xfrm>
        </p:grpSpPr>
        <p:sp>
          <p:nvSpPr>
            <p:cNvPr id="10" name="Ovale 9">
              <a:extLst>
                <a:ext uri="{FF2B5EF4-FFF2-40B4-BE49-F238E27FC236}">
                  <a16:creationId xmlns:a16="http://schemas.microsoft.com/office/drawing/2014/main" id="{AB95B720-2E77-B319-63F6-40B3C33C0D9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48120" y="1131971"/>
              <a:ext cx="903659" cy="90365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600" b="1" dirty="0"/>
            </a:p>
          </p:txBody>
        </p:sp>
        <p:pic>
          <p:nvPicPr>
            <p:cNvPr id="2050" name="Picture 2" descr="Disabled person ">
              <a:extLst>
                <a:ext uri="{FF2B5EF4-FFF2-40B4-BE49-F238E27FC236}">
                  <a16:creationId xmlns:a16="http://schemas.microsoft.com/office/drawing/2014/main" id="{6FF08104-D12D-552B-9A66-C7378893D9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4784" y="1255423"/>
              <a:ext cx="610329" cy="6103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AD6DE96D-7104-BE23-B77E-C6018A3C30B3}"/>
              </a:ext>
            </a:extLst>
          </p:cNvPr>
          <p:cNvGrpSpPr/>
          <p:nvPr/>
        </p:nvGrpSpPr>
        <p:grpSpPr>
          <a:xfrm>
            <a:off x="6548118" y="4889270"/>
            <a:ext cx="903659" cy="903659"/>
            <a:chOff x="6548118" y="4889270"/>
            <a:chExt cx="903659" cy="903659"/>
          </a:xfrm>
        </p:grpSpPr>
        <p:sp>
          <p:nvSpPr>
            <p:cNvPr id="11" name="Ovale 10">
              <a:extLst>
                <a:ext uri="{FF2B5EF4-FFF2-40B4-BE49-F238E27FC236}">
                  <a16:creationId xmlns:a16="http://schemas.microsoft.com/office/drawing/2014/main" id="{A51F0B42-026E-DF0A-B0BA-5941DE53F4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48118" y="4889270"/>
              <a:ext cx="903659" cy="90365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600" b="1" dirty="0"/>
            </a:p>
          </p:txBody>
        </p:sp>
        <p:pic>
          <p:nvPicPr>
            <p:cNvPr id="16" name="Picture 4" descr="Waterproof fabric ">
              <a:extLst>
                <a:ext uri="{FF2B5EF4-FFF2-40B4-BE49-F238E27FC236}">
                  <a16:creationId xmlns:a16="http://schemas.microsoft.com/office/drawing/2014/main" id="{1FCCE92A-DCA9-ED34-535A-85823E5301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15822" y="5033449"/>
              <a:ext cx="565728" cy="5657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3" name="Gruppo 22">
            <a:extLst>
              <a:ext uri="{FF2B5EF4-FFF2-40B4-BE49-F238E27FC236}">
                <a16:creationId xmlns:a16="http://schemas.microsoft.com/office/drawing/2014/main" id="{CAD68205-FE1F-9FEA-DBBC-B42CAA1CBD0E}"/>
              </a:ext>
            </a:extLst>
          </p:cNvPr>
          <p:cNvGrpSpPr/>
          <p:nvPr/>
        </p:nvGrpSpPr>
        <p:grpSpPr>
          <a:xfrm>
            <a:off x="6548116" y="2015116"/>
            <a:ext cx="903659" cy="903659"/>
            <a:chOff x="6548116" y="2015116"/>
            <a:chExt cx="903659" cy="903659"/>
          </a:xfrm>
        </p:grpSpPr>
        <p:sp>
          <p:nvSpPr>
            <p:cNvPr id="20" name="Ovale 19">
              <a:extLst>
                <a:ext uri="{FF2B5EF4-FFF2-40B4-BE49-F238E27FC236}">
                  <a16:creationId xmlns:a16="http://schemas.microsoft.com/office/drawing/2014/main" id="{2378250D-04EF-5101-293E-26A38EE671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48116" y="2015116"/>
              <a:ext cx="903659" cy="90365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600" b="1" dirty="0"/>
            </a:p>
          </p:txBody>
        </p:sp>
        <p:pic>
          <p:nvPicPr>
            <p:cNvPr id="22" name="Immagine 21">
              <a:extLst>
                <a:ext uri="{FF2B5EF4-FFF2-40B4-BE49-F238E27FC236}">
                  <a16:creationId xmlns:a16="http://schemas.microsoft.com/office/drawing/2014/main" id="{208DB493-AF5E-A99F-AE15-A472A321E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5000"/>
            </a:blip>
            <a:stretch>
              <a:fillRect/>
            </a:stretch>
          </p:blipFill>
          <p:spPr>
            <a:xfrm>
              <a:off x="6693522" y="2189394"/>
              <a:ext cx="610329" cy="610329"/>
            </a:xfrm>
            <a:prstGeom prst="rect">
              <a:avLst/>
            </a:prstGeom>
          </p:spPr>
        </p:pic>
      </p:grp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8361A34B-33F4-DBF2-7100-D506E95D8A8F}"/>
              </a:ext>
            </a:extLst>
          </p:cNvPr>
          <p:cNvGrpSpPr/>
          <p:nvPr/>
        </p:nvGrpSpPr>
        <p:grpSpPr>
          <a:xfrm>
            <a:off x="6548116" y="3017136"/>
            <a:ext cx="903659" cy="903659"/>
            <a:chOff x="6548116" y="3017136"/>
            <a:chExt cx="903659" cy="903659"/>
          </a:xfrm>
        </p:grpSpPr>
        <p:sp>
          <p:nvSpPr>
            <p:cNvPr id="18" name="Ovale 17">
              <a:extLst>
                <a:ext uri="{FF2B5EF4-FFF2-40B4-BE49-F238E27FC236}">
                  <a16:creationId xmlns:a16="http://schemas.microsoft.com/office/drawing/2014/main" id="{B8F1654E-58EB-B8AD-5DB9-96F57ABE2F3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48116" y="3017136"/>
              <a:ext cx="903659" cy="90365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600" b="1" dirty="0"/>
            </a:p>
          </p:txBody>
        </p:sp>
        <p:pic>
          <p:nvPicPr>
            <p:cNvPr id="1026" name="Picture 2" descr="Stability">
              <a:extLst>
                <a:ext uri="{FF2B5EF4-FFF2-40B4-BE49-F238E27FC236}">
                  <a16:creationId xmlns:a16="http://schemas.microsoft.com/office/drawing/2014/main" id="{C6C87DDC-9DA0-CAD7-C361-8DAF51ECFE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3522" y="3151961"/>
              <a:ext cx="610329" cy="6103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5" name="Gruppo 24">
            <a:extLst>
              <a:ext uri="{FF2B5EF4-FFF2-40B4-BE49-F238E27FC236}">
                <a16:creationId xmlns:a16="http://schemas.microsoft.com/office/drawing/2014/main" id="{298A9ED1-4ABC-4974-A9C6-A79478A93DAB}"/>
              </a:ext>
            </a:extLst>
          </p:cNvPr>
          <p:cNvGrpSpPr/>
          <p:nvPr/>
        </p:nvGrpSpPr>
        <p:grpSpPr>
          <a:xfrm>
            <a:off x="6548117" y="3946887"/>
            <a:ext cx="903659" cy="903659"/>
            <a:chOff x="6548117" y="3946887"/>
            <a:chExt cx="903659" cy="903659"/>
          </a:xfrm>
        </p:grpSpPr>
        <p:sp>
          <p:nvSpPr>
            <p:cNvPr id="17" name="Ovale 16">
              <a:extLst>
                <a:ext uri="{FF2B5EF4-FFF2-40B4-BE49-F238E27FC236}">
                  <a16:creationId xmlns:a16="http://schemas.microsoft.com/office/drawing/2014/main" id="{3945596F-E705-DD9B-A515-2292E36674F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48117" y="3946887"/>
              <a:ext cx="903659" cy="90365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600" b="1" dirty="0"/>
            </a:p>
          </p:txBody>
        </p:sp>
        <p:pic>
          <p:nvPicPr>
            <p:cNvPr id="1028" name="Picture 4" descr="Seat ">
              <a:extLst>
                <a:ext uri="{FF2B5EF4-FFF2-40B4-BE49-F238E27FC236}">
                  <a16:creationId xmlns:a16="http://schemas.microsoft.com/office/drawing/2014/main" id="{252ECF98-34E5-3F24-7207-034DC9EE0D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3522" y="4074369"/>
              <a:ext cx="648270" cy="6482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78640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FB2E6-6546-8742-D262-912F4EDEC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45EA267-2908-F4D7-3E17-778C1A455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6</a:t>
            </a:fld>
            <a:endParaRPr lang="it-IT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C9C0486D-9BD0-2DA4-1858-298B85B072D8}"/>
              </a:ext>
            </a:extLst>
          </p:cNvPr>
          <p:cNvSpPr txBox="1">
            <a:spLocks/>
          </p:cNvSpPr>
          <p:nvPr/>
        </p:nvSpPr>
        <p:spPr>
          <a:xfrm>
            <a:off x="385921" y="312908"/>
            <a:ext cx="11420157" cy="5230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Requirements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C5B5FFFA-2C34-2F43-5D83-7CBF14E907AC}"/>
              </a:ext>
            </a:extLst>
          </p:cNvPr>
          <p:cNvSpPr/>
          <p:nvPr/>
        </p:nvSpPr>
        <p:spPr>
          <a:xfrm>
            <a:off x="7104539" y="1255642"/>
            <a:ext cx="3821570" cy="665536"/>
          </a:xfrm>
          <a:prstGeom prst="roundRect">
            <a:avLst/>
          </a:prstGeom>
          <a:solidFill>
            <a:srgbClr val="E3E6EB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algn="just">
              <a:lnSpc>
                <a:spcPct val="115000"/>
              </a:lnSpc>
              <a:buFont typeface="Manrope" charset="0"/>
              <a:buChar char="-"/>
            </a:pPr>
            <a:r>
              <a:rPr lang="en-GB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not bulky and lightweight</a:t>
            </a:r>
            <a:endParaRPr lang="en-GB" sz="1600" dirty="0">
              <a:solidFill>
                <a:schemeClr val="tx1"/>
              </a:solidFill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B703CF29-0FF0-D722-89F1-FFDE3462B349}"/>
              </a:ext>
            </a:extLst>
          </p:cNvPr>
          <p:cNvSpPr/>
          <p:nvPr/>
        </p:nvSpPr>
        <p:spPr>
          <a:xfrm>
            <a:off x="2670572" y="6025148"/>
            <a:ext cx="2179637" cy="523050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Project </a:t>
            </a:r>
            <a:r>
              <a:rPr lang="it-IT" sz="1600" dirty="0" err="1">
                <a:solidFill>
                  <a:schemeClr val="bg1"/>
                </a:solidFill>
              </a:rPr>
              <a:t>proposal</a:t>
            </a:r>
            <a:endParaRPr lang="it-IT" sz="1600" dirty="0">
              <a:solidFill>
                <a:schemeClr val="bg1"/>
              </a:solidFill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D340FB08-5C77-3D8A-02C0-4C0C6FE9B633}"/>
              </a:ext>
            </a:extLst>
          </p:cNvPr>
          <p:cNvSpPr/>
          <p:nvPr/>
        </p:nvSpPr>
        <p:spPr>
          <a:xfrm>
            <a:off x="500618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design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31777282-573C-E480-9D51-1A0A2171D250}"/>
              </a:ext>
            </a:extLst>
          </p:cNvPr>
          <p:cNvSpPr/>
          <p:nvPr/>
        </p:nvSpPr>
        <p:spPr>
          <a:xfrm>
            <a:off x="7341792" y="6282690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Challenges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E5025BF2-B26A-3ADE-5ADD-484B9FB7803D}"/>
              </a:ext>
            </a:extLst>
          </p:cNvPr>
          <p:cNvSpPr/>
          <p:nvPr/>
        </p:nvSpPr>
        <p:spPr>
          <a:xfrm>
            <a:off x="9677401" y="6283881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Conclusion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41BCA0E2-AE5A-5ADD-8E63-E87763F41191}"/>
              </a:ext>
            </a:extLst>
          </p:cNvPr>
          <p:cNvSpPr/>
          <p:nvPr/>
        </p:nvSpPr>
        <p:spPr>
          <a:xfrm>
            <a:off x="33496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Introduction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98742BEA-DA11-DE8A-1D6B-8662F31954F3}"/>
              </a:ext>
            </a:extLst>
          </p:cNvPr>
          <p:cNvSpPr/>
          <p:nvPr/>
        </p:nvSpPr>
        <p:spPr>
          <a:xfrm>
            <a:off x="7104539" y="2506539"/>
            <a:ext cx="3821570" cy="665536"/>
          </a:xfrm>
          <a:prstGeom prst="roundRect">
            <a:avLst/>
          </a:prstGeom>
          <a:solidFill>
            <a:srgbClr val="E3E6EB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algn="just">
              <a:lnSpc>
                <a:spcPct val="115000"/>
              </a:lnSpc>
              <a:buFont typeface="Manrope" charset="0"/>
              <a:buChar char="-"/>
            </a:pPr>
            <a:r>
              <a:rPr lang="en-GB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easy to carry</a:t>
            </a:r>
            <a:endParaRPr lang="en-GB" sz="1600" dirty="0">
              <a:solidFill>
                <a:schemeClr val="tx1"/>
              </a:solidFill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484D1353-9DAF-0723-1CA8-865F7333B7CC}"/>
              </a:ext>
            </a:extLst>
          </p:cNvPr>
          <p:cNvSpPr/>
          <p:nvPr/>
        </p:nvSpPr>
        <p:spPr>
          <a:xfrm>
            <a:off x="7104539" y="3757436"/>
            <a:ext cx="3821570" cy="665536"/>
          </a:xfrm>
          <a:prstGeom prst="roundRect">
            <a:avLst/>
          </a:prstGeom>
          <a:solidFill>
            <a:srgbClr val="E3E6EB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algn="just">
              <a:lnSpc>
                <a:spcPct val="115000"/>
              </a:lnSpc>
              <a:buFont typeface="Manrope" charset="0"/>
              <a:buChar char="-"/>
            </a:pPr>
            <a:r>
              <a:rPr lang="en-GB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easy to use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3D65F6A0-CAD4-7455-1AD7-8E199A0F5CFE}"/>
              </a:ext>
            </a:extLst>
          </p:cNvPr>
          <p:cNvSpPr/>
          <p:nvPr/>
        </p:nvSpPr>
        <p:spPr>
          <a:xfrm>
            <a:off x="7104539" y="5008332"/>
            <a:ext cx="3821570" cy="665536"/>
          </a:xfrm>
          <a:prstGeom prst="roundRect">
            <a:avLst/>
          </a:prstGeom>
          <a:solidFill>
            <a:srgbClr val="E3E6EB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0" indent="-342900" algn="just">
              <a:lnSpc>
                <a:spcPct val="115000"/>
              </a:lnSpc>
              <a:buFont typeface="Manrope" charset="0"/>
              <a:buChar char="-"/>
            </a:pPr>
            <a:r>
              <a:rPr lang="en-GB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simple to maintain</a:t>
            </a:r>
            <a:endParaRPr lang="it-IT" sz="1600" i="1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833FC9F9-1D11-E462-8F05-8F4FD8C5D8FC}"/>
              </a:ext>
            </a:extLst>
          </p:cNvPr>
          <p:cNvGrpSpPr/>
          <p:nvPr/>
        </p:nvGrpSpPr>
        <p:grpSpPr>
          <a:xfrm>
            <a:off x="6548118" y="4889270"/>
            <a:ext cx="903659" cy="903659"/>
            <a:chOff x="6548118" y="4889270"/>
            <a:chExt cx="903659" cy="903659"/>
          </a:xfrm>
        </p:grpSpPr>
        <p:sp>
          <p:nvSpPr>
            <p:cNvPr id="11" name="Ovale 10">
              <a:extLst>
                <a:ext uri="{FF2B5EF4-FFF2-40B4-BE49-F238E27FC236}">
                  <a16:creationId xmlns:a16="http://schemas.microsoft.com/office/drawing/2014/main" id="{9A94BE83-9A92-CEEC-45DC-2514324F35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48118" y="4889270"/>
              <a:ext cx="903659" cy="90365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600" b="1" dirty="0"/>
            </a:p>
          </p:txBody>
        </p:sp>
        <p:pic>
          <p:nvPicPr>
            <p:cNvPr id="22" name="Immagine 21">
              <a:extLst>
                <a:ext uri="{FF2B5EF4-FFF2-40B4-BE49-F238E27FC236}">
                  <a16:creationId xmlns:a16="http://schemas.microsoft.com/office/drawing/2014/main" id="{9CB7F8D0-AD7B-6668-3504-78D149AAB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85000"/>
            </a:blip>
            <a:stretch>
              <a:fillRect/>
            </a:stretch>
          </p:blipFill>
          <p:spPr>
            <a:xfrm>
              <a:off x="6655120" y="4984321"/>
              <a:ext cx="669713" cy="669713"/>
            </a:xfrm>
            <a:prstGeom prst="rect">
              <a:avLst/>
            </a:prstGeom>
          </p:spPr>
        </p:pic>
      </p:grpSp>
      <p:grpSp>
        <p:nvGrpSpPr>
          <p:cNvPr id="21" name="Gruppo 20">
            <a:extLst>
              <a:ext uri="{FF2B5EF4-FFF2-40B4-BE49-F238E27FC236}">
                <a16:creationId xmlns:a16="http://schemas.microsoft.com/office/drawing/2014/main" id="{AAF9647F-85C2-01D1-7802-DBD6F3CDCE0E}"/>
              </a:ext>
            </a:extLst>
          </p:cNvPr>
          <p:cNvGrpSpPr/>
          <p:nvPr/>
        </p:nvGrpSpPr>
        <p:grpSpPr>
          <a:xfrm>
            <a:off x="6548120" y="1131971"/>
            <a:ext cx="903659" cy="903659"/>
            <a:chOff x="6548120" y="1131971"/>
            <a:chExt cx="903659" cy="903659"/>
          </a:xfrm>
        </p:grpSpPr>
        <p:sp>
          <p:nvSpPr>
            <p:cNvPr id="10" name="Ovale 9">
              <a:extLst>
                <a:ext uri="{FF2B5EF4-FFF2-40B4-BE49-F238E27FC236}">
                  <a16:creationId xmlns:a16="http://schemas.microsoft.com/office/drawing/2014/main" id="{D5FEED7A-0530-443E-AB64-2023689523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48120" y="1131971"/>
              <a:ext cx="903659" cy="90365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600" b="1" dirty="0"/>
            </a:p>
          </p:txBody>
        </p:sp>
        <p:pic>
          <p:nvPicPr>
            <p:cNvPr id="2050" name="Picture 2" descr="Fabric">
              <a:extLst>
                <a:ext uri="{FF2B5EF4-FFF2-40B4-BE49-F238E27FC236}">
                  <a16:creationId xmlns:a16="http://schemas.microsoft.com/office/drawing/2014/main" id="{C01AC880-E85F-1418-779E-7B6FC6A02E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85176" y="1286926"/>
              <a:ext cx="609600" cy="609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3" name="Gruppo 22">
            <a:extLst>
              <a:ext uri="{FF2B5EF4-FFF2-40B4-BE49-F238E27FC236}">
                <a16:creationId xmlns:a16="http://schemas.microsoft.com/office/drawing/2014/main" id="{338E2244-B704-2077-9BFB-DB0F677A429F}"/>
              </a:ext>
            </a:extLst>
          </p:cNvPr>
          <p:cNvGrpSpPr/>
          <p:nvPr/>
        </p:nvGrpSpPr>
        <p:grpSpPr>
          <a:xfrm>
            <a:off x="6548116" y="2389622"/>
            <a:ext cx="903659" cy="903659"/>
            <a:chOff x="6548116" y="2389622"/>
            <a:chExt cx="903659" cy="903659"/>
          </a:xfrm>
        </p:grpSpPr>
        <p:sp>
          <p:nvSpPr>
            <p:cNvPr id="20" name="Ovale 19">
              <a:extLst>
                <a:ext uri="{FF2B5EF4-FFF2-40B4-BE49-F238E27FC236}">
                  <a16:creationId xmlns:a16="http://schemas.microsoft.com/office/drawing/2014/main" id="{87D33A34-BB49-A196-B911-1792071DD1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48116" y="2389622"/>
              <a:ext cx="903659" cy="90365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600" b="1" dirty="0"/>
            </a:p>
          </p:txBody>
        </p:sp>
        <p:pic>
          <p:nvPicPr>
            <p:cNvPr id="16" name="Immagine 15">
              <a:extLst>
                <a:ext uri="{FF2B5EF4-FFF2-40B4-BE49-F238E27FC236}">
                  <a16:creationId xmlns:a16="http://schemas.microsoft.com/office/drawing/2014/main" id="{91A3CDE3-729F-48F6-7477-F5614F0380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 amt="85000"/>
            </a:blip>
            <a:stretch>
              <a:fillRect/>
            </a:stretch>
          </p:blipFill>
          <p:spPr>
            <a:xfrm>
              <a:off x="6691396" y="2525391"/>
              <a:ext cx="603380" cy="603380"/>
            </a:xfrm>
            <a:prstGeom prst="rect">
              <a:avLst/>
            </a:prstGeom>
          </p:spPr>
        </p:pic>
      </p:grpSp>
      <p:grpSp>
        <p:nvGrpSpPr>
          <p:cNvPr id="25" name="Gruppo 24">
            <a:extLst>
              <a:ext uri="{FF2B5EF4-FFF2-40B4-BE49-F238E27FC236}">
                <a16:creationId xmlns:a16="http://schemas.microsoft.com/office/drawing/2014/main" id="{E86252E9-2861-1272-D6C0-23580DBA496B}"/>
              </a:ext>
            </a:extLst>
          </p:cNvPr>
          <p:cNvGrpSpPr/>
          <p:nvPr/>
        </p:nvGrpSpPr>
        <p:grpSpPr>
          <a:xfrm>
            <a:off x="6548116" y="3638373"/>
            <a:ext cx="903659" cy="903659"/>
            <a:chOff x="6548116" y="3638373"/>
            <a:chExt cx="903659" cy="903659"/>
          </a:xfrm>
        </p:grpSpPr>
        <p:sp>
          <p:nvSpPr>
            <p:cNvPr id="18" name="Ovale 17">
              <a:extLst>
                <a:ext uri="{FF2B5EF4-FFF2-40B4-BE49-F238E27FC236}">
                  <a16:creationId xmlns:a16="http://schemas.microsoft.com/office/drawing/2014/main" id="{6659E36A-AF6A-D53F-66AF-FC6C3E4F73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548116" y="3638373"/>
              <a:ext cx="903659" cy="90365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600" b="1" dirty="0"/>
            </a:p>
          </p:txBody>
        </p:sp>
        <p:grpSp>
          <p:nvGrpSpPr>
            <p:cNvPr id="24" name="Gruppo 23">
              <a:extLst>
                <a:ext uri="{FF2B5EF4-FFF2-40B4-BE49-F238E27FC236}">
                  <a16:creationId xmlns:a16="http://schemas.microsoft.com/office/drawing/2014/main" id="{E8BBA1DA-9FC4-F392-2094-57D1FEDF2F1E}"/>
                </a:ext>
              </a:extLst>
            </p:cNvPr>
            <p:cNvGrpSpPr/>
            <p:nvPr/>
          </p:nvGrpSpPr>
          <p:grpSpPr>
            <a:xfrm>
              <a:off x="6685176" y="3783042"/>
              <a:ext cx="740175" cy="578092"/>
              <a:chOff x="6632185" y="3667756"/>
              <a:chExt cx="796655" cy="722111"/>
            </a:xfrm>
          </p:grpSpPr>
          <p:pic>
            <p:nvPicPr>
              <p:cNvPr id="7" name="Picture 8" descr="Icona bicicletta reclinata con linea arancione tra le ruote">
                <a:extLst>
                  <a:ext uri="{FF2B5EF4-FFF2-40B4-BE49-F238E27FC236}">
                    <a16:creationId xmlns:a16="http://schemas.microsoft.com/office/drawing/2014/main" id="{36159592-6804-2F5D-6846-B5452570CE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>
                <a:alphaModFix amt="85000"/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29102" b="62793" l="5762" r="94336">
                            <a14:foregroundMark x1="12402" y1="29199" x2="12402" y2="29199"/>
                            <a14:foregroundMark x1="5859" y1="56738" x2="5859" y2="56738"/>
                            <a14:foregroundMark x1="85254" y1="57910" x2="85254" y2="57910"/>
                            <a14:foregroundMark x1="90039" y1="41699" x2="90039" y2="41699"/>
                            <a14:foregroundMark x1="94336" y1="35742" x2="94336" y2="3574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6279" b="33062"/>
              <a:stretch/>
            </p:blipFill>
            <p:spPr bwMode="auto">
              <a:xfrm>
                <a:off x="6632185" y="3912295"/>
                <a:ext cx="796655" cy="4775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" name="Picture 4" descr="Check mark ">
                <a:extLst>
                  <a:ext uri="{FF2B5EF4-FFF2-40B4-BE49-F238E27FC236}">
                    <a16:creationId xmlns:a16="http://schemas.microsoft.com/office/drawing/2014/main" id="{829F306C-39BE-DAA0-439D-2C2B53D5C19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alphaModFix amt="8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31092" y="3667756"/>
                <a:ext cx="354767" cy="39402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27" name="Rettangolo 26">
            <a:extLst>
              <a:ext uri="{FF2B5EF4-FFF2-40B4-BE49-F238E27FC236}">
                <a16:creationId xmlns:a16="http://schemas.microsoft.com/office/drawing/2014/main" id="{4F66408A-F7D8-ECED-6CBC-57A8C0BCBB08}"/>
              </a:ext>
            </a:extLst>
          </p:cNvPr>
          <p:cNvSpPr/>
          <p:nvPr/>
        </p:nvSpPr>
        <p:spPr>
          <a:xfrm>
            <a:off x="1112841" y="1637257"/>
            <a:ext cx="5054279" cy="38441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500"/>
              </a:spcAft>
              <a:buNone/>
            </a:pPr>
            <a:r>
              <a:rPr lang="en-GB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The </a:t>
            </a:r>
            <a:r>
              <a:rPr lang="en-GB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NON - </a:t>
            </a:r>
            <a:r>
              <a:rPr lang="en-GB" sz="1600" b="1" dirty="0">
                <a:solidFill>
                  <a:srgbClr val="233D60"/>
                </a:solidFill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F</a:t>
            </a:r>
            <a:r>
              <a:rPr lang="en-GB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UNCTIONAL requirements</a:t>
            </a:r>
            <a:r>
              <a:rPr lang="en-GB" sz="1600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GB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refer to aspects that do not directly affect how the system works</a:t>
            </a:r>
            <a:r>
              <a:rPr lang="en-GB" sz="1600" dirty="0">
                <a:solidFill>
                  <a:schemeClr val="tx1"/>
                </a:solidFill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. They </a:t>
            </a:r>
            <a:r>
              <a:rPr lang="en-GB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are important to ensure a good user experience. 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834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BEE876-F299-4EB8-D420-43633AFC4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e 36">
            <a:extLst>
              <a:ext uri="{FF2B5EF4-FFF2-40B4-BE49-F238E27FC236}">
                <a16:creationId xmlns:a16="http://schemas.microsoft.com/office/drawing/2014/main" id="{D39C65D8-7BFB-F68A-12E1-E5BBB7B96281}"/>
              </a:ext>
            </a:extLst>
          </p:cNvPr>
          <p:cNvSpPr>
            <a:spLocks noChangeAspect="1"/>
          </p:cNvSpPr>
          <p:nvPr/>
        </p:nvSpPr>
        <p:spPr>
          <a:xfrm>
            <a:off x="6548120" y="1131971"/>
            <a:ext cx="903659" cy="90365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b="1" dirty="0"/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7AB38B6D-28D0-1748-750E-FA06185A1587}"/>
              </a:ext>
            </a:extLst>
          </p:cNvPr>
          <p:cNvSpPr>
            <a:spLocks noChangeAspect="1"/>
          </p:cNvSpPr>
          <p:nvPr/>
        </p:nvSpPr>
        <p:spPr>
          <a:xfrm>
            <a:off x="6548118" y="4889270"/>
            <a:ext cx="903659" cy="90365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b="1" dirty="0"/>
          </a:p>
        </p:txBody>
      </p:sp>
      <p:sp>
        <p:nvSpPr>
          <p:cNvPr id="39" name="Ovale 38">
            <a:extLst>
              <a:ext uri="{FF2B5EF4-FFF2-40B4-BE49-F238E27FC236}">
                <a16:creationId xmlns:a16="http://schemas.microsoft.com/office/drawing/2014/main" id="{4E976F01-CB56-A639-83A0-C83EA19C62A8}"/>
              </a:ext>
            </a:extLst>
          </p:cNvPr>
          <p:cNvSpPr>
            <a:spLocks noChangeAspect="1"/>
          </p:cNvSpPr>
          <p:nvPr/>
        </p:nvSpPr>
        <p:spPr>
          <a:xfrm>
            <a:off x="6548116" y="3638373"/>
            <a:ext cx="903659" cy="90365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b="1" dirty="0"/>
          </a:p>
        </p:txBody>
      </p:sp>
      <p:sp>
        <p:nvSpPr>
          <p:cNvPr id="40" name="Ovale 39">
            <a:extLst>
              <a:ext uri="{FF2B5EF4-FFF2-40B4-BE49-F238E27FC236}">
                <a16:creationId xmlns:a16="http://schemas.microsoft.com/office/drawing/2014/main" id="{0021615C-9D25-377C-1A72-DF69EEFB70E8}"/>
              </a:ext>
            </a:extLst>
          </p:cNvPr>
          <p:cNvSpPr>
            <a:spLocks noChangeAspect="1"/>
          </p:cNvSpPr>
          <p:nvPr/>
        </p:nvSpPr>
        <p:spPr>
          <a:xfrm>
            <a:off x="6548116" y="2389622"/>
            <a:ext cx="903659" cy="90365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b="1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C0F455E-3B19-F088-7285-9C6C04A9A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7</a:t>
            </a:fld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F54BFEEF-7032-F9D7-D8D2-116E0050DF42}"/>
              </a:ext>
            </a:extLst>
          </p:cNvPr>
          <p:cNvSpPr/>
          <p:nvPr/>
        </p:nvSpPr>
        <p:spPr>
          <a:xfrm>
            <a:off x="5006182" y="6038672"/>
            <a:ext cx="2179637" cy="509526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Project design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DAA40411-B215-1B69-D0BD-0589C8BC2BB9}"/>
              </a:ext>
            </a:extLst>
          </p:cNvPr>
          <p:cNvSpPr/>
          <p:nvPr/>
        </p:nvSpPr>
        <p:spPr>
          <a:xfrm>
            <a:off x="9677401" y="6283881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Conclusion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3A7EB4FA-CE54-C0B0-63AE-5E3E4136AB06}"/>
              </a:ext>
            </a:extLst>
          </p:cNvPr>
          <p:cNvSpPr/>
          <p:nvPr/>
        </p:nvSpPr>
        <p:spPr>
          <a:xfrm>
            <a:off x="33496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Introduction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F7551913-CD3F-5EE8-5B74-399FCBCFE035}"/>
              </a:ext>
            </a:extLst>
          </p:cNvPr>
          <p:cNvSpPr/>
          <p:nvPr/>
        </p:nvSpPr>
        <p:spPr>
          <a:xfrm>
            <a:off x="267057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</a:t>
            </a:r>
            <a:r>
              <a:rPr lang="it-IT" sz="1600" dirty="0" err="1">
                <a:solidFill>
                  <a:srgbClr val="E3E6EB"/>
                </a:solidFill>
              </a:rPr>
              <a:t>proposal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DAE074A6-0BF4-AB48-DCF6-B5DA325E21E3}"/>
              </a:ext>
            </a:extLst>
          </p:cNvPr>
          <p:cNvSpPr/>
          <p:nvPr/>
        </p:nvSpPr>
        <p:spPr>
          <a:xfrm>
            <a:off x="7341792" y="6282690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Challenges</a:t>
            </a:r>
          </a:p>
        </p:txBody>
      </p:sp>
      <p:sp>
        <p:nvSpPr>
          <p:cNvPr id="17" name="Titolo 1">
            <a:extLst>
              <a:ext uri="{FF2B5EF4-FFF2-40B4-BE49-F238E27FC236}">
                <a16:creationId xmlns:a16="http://schemas.microsoft.com/office/drawing/2014/main" id="{7AF89EEB-312A-061D-DB9C-A416AC206E2F}"/>
              </a:ext>
            </a:extLst>
          </p:cNvPr>
          <p:cNvSpPr txBox="1">
            <a:spLocks/>
          </p:cNvSpPr>
          <p:nvPr/>
        </p:nvSpPr>
        <p:spPr>
          <a:xfrm>
            <a:off x="385921" y="2145324"/>
            <a:ext cx="11420157" cy="80554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Cushion with Independent Air Chambers + Pressure-Sensitive Mat</a:t>
            </a:r>
          </a:p>
        </p:txBody>
      </p:sp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1AA85E99-C48A-A071-D4F8-6F380914E52F}"/>
              </a:ext>
            </a:extLst>
          </p:cNvPr>
          <p:cNvCxnSpPr>
            <a:cxnSpLocks/>
            <a:stCxn id="30" idx="2"/>
            <a:endCxn id="31" idx="2"/>
          </p:cNvCxnSpPr>
          <p:nvPr/>
        </p:nvCxnSpPr>
        <p:spPr>
          <a:xfrm>
            <a:off x="6472073" y="4668292"/>
            <a:ext cx="3136923" cy="0"/>
          </a:xfrm>
          <a:prstGeom prst="line">
            <a:avLst/>
          </a:prstGeom>
          <a:ln w="76200">
            <a:solidFill>
              <a:schemeClr val="accent6">
                <a:lumMod val="1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tangolo 24">
            <a:extLst>
              <a:ext uri="{FF2B5EF4-FFF2-40B4-BE49-F238E27FC236}">
                <a16:creationId xmlns:a16="http://schemas.microsoft.com/office/drawing/2014/main" id="{8F576863-62C4-FF8F-14BB-8850EFCD082C}"/>
              </a:ext>
            </a:extLst>
          </p:cNvPr>
          <p:cNvSpPr/>
          <p:nvPr/>
        </p:nvSpPr>
        <p:spPr>
          <a:xfrm>
            <a:off x="3023674" y="4203388"/>
            <a:ext cx="1346241" cy="3453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rgbClr val="69698C"/>
                </a:solidFill>
              </a:rPr>
              <a:t>08.04.2025</a:t>
            </a:r>
            <a:endParaRPr lang="it-IT" dirty="0">
              <a:solidFill>
                <a:srgbClr val="69698C"/>
              </a:solidFill>
            </a:endParaRP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376D0799-46E8-0866-36E0-956D1202128A}"/>
              </a:ext>
            </a:extLst>
          </p:cNvPr>
          <p:cNvSpPr/>
          <p:nvPr/>
        </p:nvSpPr>
        <p:spPr>
          <a:xfrm>
            <a:off x="1613984" y="4420813"/>
            <a:ext cx="1012810" cy="3453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accent6">
                    <a:lumMod val="75000"/>
                  </a:schemeClr>
                </a:solidFill>
              </a:rPr>
              <a:t>25.03.2025</a:t>
            </a: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D1AFF3DB-387E-59E8-798A-D8D3C6B49EC2}"/>
              </a:ext>
            </a:extLst>
          </p:cNvPr>
          <p:cNvSpPr/>
          <p:nvPr/>
        </p:nvSpPr>
        <p:spPr>
          <a:xfrm>
            <a:off x="1612171" y="4606513"/>
            <a:ext cx="1068150" cy="3453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accent6">
                    <a:lumMod val="75000"/>
                  </a:schemeClr>
                </a:solidFill>
              </a:rPr>
              <a:t>Focus group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A1A8F6E9-86DF-1D35-F0CA-1942BD60E9B7}"/>
              </a:ext>
            </a:extLst>
          </p:cNvPr>
          <p:cNvSpPr/>
          <p:nvPr/>
        </p:nvSpPr>
        <p:spPr>
          <a:xfrm>
            <a:off x="3102030" y="4739345"/>
            <a:ext cx="1293583" cy="423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>
                <a:solidFill>
                  <a:srgbClr val="69698C"/>
                </a:solidFill>
              </a:rPr>
              <a:t>Proposal</a:t>
            </a:r>
            <a:endParaRPr lang="it-IT" dirty="0">
              <a:solidFill>
                <a:srgbClr val="69698C"/>
              </a:solidFill>
            </a:endParaRPr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EB7E711F-46EF-2D7C-D49C-40F6DC57422E}"/>
              </a:ext>
            </a:extLst>
          </p:cNvPr>
          <p:cNvSpPr>
            <a:spLocks noChangeAspect="1"/>
          </p:cNvSpPr>
          <p:nvPr/>
        </p:nvSpPr>
        <p:spPr>
          <a:xfrm>
            <a:off x="2663674" y="4533292"/>
            <a:ext cx="270000" cy="270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825DBD7A-0F95-E4FD-72FE-6C53B5250AE2}"/>
              </a:ext>
            </a:extLst>
          </p:cNvPr>
          <p:cNvSpPr>
            <a:spLocks noChangeAspect="1"/>
          </p:cNvSpPr>
          <p:nvPr/>
        </p:nvSpPr>
        <p:spPr>
          <a:xfrm>
            <a:off x="6472073" y="4353292"/>
            <a:ext cx="630000" cy="630000"/>
          </a:xfrm>
          <a:prstGeom prst="ellipse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C00000"/>
              </a:solidFill>
            </a:endParaRPr>
          </a:p>
        </p:txBody>
      </p:sp>
      <p:sp>
        <p:nvSpPr>
          <p:cNvPr id="31" name="Ovale 30">
            <a:extLst>
              <a:ext uri="{FF2B5EF4-FFF2-40B4-BE49-F238E27FC236}">
                <a16:creationId xmlns:a16="http://schemas.microsoft.com/office/drawing/2014/main" id="{D0082A73-1796-CE47-CB02-43CE056FA32C}"/>
              </a:ext>
            </a:extLst>
          </p:cNvPr>
          <p:cNvSpPr>
            <a:spLocks noChangeAspect="1"/>
          </p:cNvSpPr>
          <p:nvPr/>
        </p:nvSpPr>
        <p:spPr>
          <a:xfrm>
            <a:off x="9608996" y="4308292"/>
            <a:ext cx="720000" cy="720000"/>
          </a:xfrm>
          <a:prstGeom prst="ellipse">
            <a:avLst/>
          </a:prstGeom>
          <a:solidFill>
            <a:schemeClr val="accent6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2" name="Connettore diritto 31">
            <a:extLst>
              <a:ext uri="{FF2B5EF4-FFF2-40B4-BE49-F238E27FC236}">
                <a16:creationId xmlns:a16="http://schemas.microsoft.com/office/drawing/2014/main" id="{59F7FD54-6B07-9623-F368-63F37137706F}"/>
              </a:ext>
            </a:extLst>
          </p:cNvPr>
          <p:cNvCxnSpPr>
            <a:cxnSpLocks/>
            <a:stCxn id="29" idx="6"/>
          </p:cNvCxnSpPr>
          <p:nvPr/>
        </p:nvCxnSpPr>
        <p:spPr>
          <a:xfrm>
            <a:off x="2933674" y="4668292"/>
            <a:ext cx="1154420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e 32">
            <a:extLst>
              <a:ext uri="{FF2B5EF4-FFF2-40B4-BE49-F238E27FC236}">
                <a16:creationId xmlns:a16="http://schemas.microsoft.com/office/drawing/2014/main" id="{ABF7B381-3B40-2ABF-1608-CA3094AFADBF}"/>
              </a:ext>
            </a:extLst>
          </p:cNvPr>
          <p:cNvSpPr>
            <a:spLocks noChangeAspect="1"/>
          </p:cNvSpPr>
          <p:nvPr/>
        </p:nvSpPr>
        <p:spPr>
          <a:xfrm>
            <a:off x="3537812" y="4488292"/>
            <a:ext cx="360000" cy="3600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C00000"/>
              </a:solidFill>
            </a:endParaRPr>
          </a:p>
        </p:txBody>
      </p:sp>
      <p:cxnSp>
        <p:nvCxnSpPr>
          <p:cNvPr id="34" name="Connettore diritto 33">
            <a:extLst>
              <a:ext uri="{FF2B5EF4-FFF2-40B4-BE49-F238E27FC236}">
                <a16:creationId xmlns:a16="http://schemas.microsoft.com/office/drawing/2014/main" id="{1FDA7A29-F89D-E774-0B5F-94B2C61E0787}"/>
              </a:ext>
            </a:extLst>
          </p:cNvPr>
          <p:cNvCxnSpPr>
            <a:cxnSpLocks/>
            <a:stCxn id="33" idx="6"/>
            <a:endCxn id="30" idx="2"/>
          </p:cNvCxnSpPr>
          <p:nvPr/>
        </p:nvCxnSpPr>
        <p:spPr>
          <a:xfrm>
            <a:off x="3897812" y="4668292"/>
            <a:ext cx="2574261" cy="0"/>
          </a:xfrm>
          <a:prstGeom prst="line">
            <a:avLst/>
          </a:prstGeom>
          <a:ln w="57150">
            <a:solidFill>
              <a:schemeClr val="accent6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ttangolo 34">
            <a:extLst>
              <a:ext uri="{FF2B5EF4-FFF2-40B4-BE49-F238E27FC236}">
                <a16:creationId xmlns:a16="http://schemas.microsoft.com/office/drawing/2014/main" id="{415AE3CB-8C9D-9623-5D19-48750540D42A}"/>
              </a:ext>
            </a:extLst>
          </p:cNvPr>
          <p:cNvSpPr/>
          <p:nvPr/>
        </p:nvSpPr>
        <p:spPr>
          <a:xfrm>
            <a:off x="9036590" y="3846996"/>
            <a:ext cx="1776300" cy="3453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rgbClr val="233D60"/>
                </a:solidFill>
              </a:rPr>
              <a:t>26.06.2025</a:t>
            </a:r>
          </a:p>
        </p:txBody>
      </p:sp>
      <p:pic>
        <p:nvPicPr>
          <p:cNvPr id="2" name="Picture 2" descr="Icona stilizzata persona con capelli lunghi e scuri su bicicletta reclinata">
            <a:extLst>
              <a:ext uri="{FF2B5EF4-FFF2-40B4-BE49-F238E27FC236}">
                <a16:creationId xmlns:a16="http://schemas.microsoft.com/office/drawing/2014/main" id="{62EC1402-4933-27DA-D17C-99421EE96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89844" l="5176" r="95898">
                        <a14:foregroundMark x1="21289" y1="50977" x2="21289" y2="50977"/>
                        <a14:foregroundMark x1="5273" y1="54883" x2="5273" y2="55371"/>
                        <a14:foregroundMark x1="6152" y1="58594" x2="6152" y2="58594"/>
                        <a14:foregroundMark x1="93945" y1="46973" x2="93945" y2="46973"/>
                        <a14:foregroundMark x1="95898" y1="39160" x2="95898" y2="39160"/>
                        <a14:foregroundMark x1="76660" y1="57129" x2="76660" y2="57129"/>
                        <a14:foregroundMark x1="55078" y1="54102" x2="55078" y2="5410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7627" y="3981900"/>
            <a:ext cx="969418" cy="96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21940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F39B4-F1DE-2F9F-7C9D-7F103855A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e 36">
            <a:extLst>
              <a:ext uri="{FF2B5EF4-FFF2-40B4-BE49-F238E27FC236}">
                <a16:creationId xmlns:a16="http://schemas.microsoft.com/office/drawing/2014/main" id="{7B7EF452-6459-12D9-E147-5BCB95679F34}"/>
              </a:ext>
            </a:extLst>
          </p:cNvPr>
          <p:cNvSpPr>
            <a:spLocks noChangeAspect="1"/>
          </p:cNvSpPr>
          <p:nvPr/>
        </p:nvSpPr>
        <p:spPr>
          <a:xfrm>
            <a:off x="6548120" y="1131971"/>
            <a:ext cx="903659" cy="90365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b="1" dirty="0"/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DAD5EA5D-1575-C4E0-748A-EA924142A796}"/>
              </a:ext>
            </a:extLst>
          </p:cNvPr>
          <p:cNvSpPr>
            <a:spLocks noChangeAspect="1"/>
          </p:cNvSpPr>
          <p:nvPr/>
        </p:nvSpPr>
        <p:spPr>
          <a:xfrm>
            <a:off x="6548118" y="4889270"/>
            <a:ext cx="903659" cy="90365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b="1" dirty="0"/>
          </a:p>
        </p:txBody>
      </p:sp>
      <p:sp>
        <p:nvSpPr>
          <p:cNvPr id="39" name="Ovale 38">
            <a:extLst>
              <a:ext uri="{FF2B5EF4-FFF2-40B4-BE49-F238E27FC236}">
                <a16:creationId xmlns:a16="http://schemas.microsoft.com/office/drawing/2014/main" id="{542AE0C6-5E60-18F6-8C28-CCE2AC588BC4}"/>
              </a:ext>
            </a:extLst>
          </p:cNvPr>
          <p:cNvSpPr>
            <a:spLocks noChangeAspect="1"/>
          </p:cNvSpPr>
          <p:nvPr/>
        </p:nvSpPr>
        <p:spPr>
          <a:xfrm>
            <a:off x="6548116" y="3638373"/>
            <a:ext cx="903659" cy="90365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b="1" dirty="0"/>
          </a:p>
        </p:txBody>
      </p:sp>
      <p:sp>
        <p:nvSpPr>
          <p:cNvPr id="40" name="Ovale 39">
            <a:extLst>
              <a:ext uri="{FF2B5EF4-FFF2-40B4-BE49-F238E27FC236}">
                <a16:creationId xmlns:a16="http://schemas.microsoft.com/office/drawing/2014/main" id="{179A8F5D-3EBA-5337-55FC-F323B31D0624}"/>
              </a:ext>
            </a:extLst>
          </p:cNvPr>
          <p:cNvSpPr>
            <a:spLocks noChangeAspect="1"/>
          </p:cNvSpPr>
          <p:nvPr/>
        </p:nvSpPr>
        <p:spPr>
          <a:xfrm>
            <a:off x="6548116" y="2389622"/>
            <a:ext cx="903659" cy="90365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600" b="1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6E61B99-2D5F-247D-D069-0F103F92B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8</a:t>
            </a:fld>
            <a:endParaRPr lang="it-IT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4B62A9BF-7950-D51A-9F11-4D6F32EA7F04}"/>
              </a:ext>
            </a:extLst>
          </p:cNvPr>
          <p:cNvSpPr/>
          <p:nvPr/>
        </p:nvSpPr>
        <p:spPr>
          <a:xfrm>
            <a:off x="1709057" y="2170630"/>
            <a:ext cx="9470572" cy="15079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The independent cell cushion is designed to </a:t>
            </a:r>
            <a:r>
              <a:rPr lang="en-US" sz="1600" b="1" dirty="0">
                <a:solidFill>
                  <a:srgbClr val="233D60"/>
                </a:solidFill>
              </a:rPr>
              <a:t>adjust the air within the chambers in </a:t>
            </a:r>
            <a:br>
              <a:rPr lang="en-US" sz="1600" b="1" dirty="0">
                <a:solidFill>
                  <a:srgbClr val="233D60"/>
                </a:solidFill>
              </a:rPr>
            </a:br>
            <a:r>
              <a:rPr lang="en-US" sz="1600" b="1" dirty="0">
                <a:solidFill>
                  <a:srgbClr val="233D60"/>
                </a:solidFill>
              </a:rPr>
              <a:t>response to pressure changes detected by the MAT</a:t>
            </a:r>
            <a:r>
              <a:rPr lang="en-US" sz="1600" dirty="0">
                <a:solidFill>
                  <a:schemeClr val="tx1"/>
                </a:solidFill>
              </a:rPr>
              <a:t>, thereby reducing pressure 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overload and improving load distribution.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EAE52113-A126-129A-496F-7A197D9F3B1E}"/>
              </a:ext>
            </a:extLst>
          </p:cNvPr>
          <p:cNvSpPr/>
          <p:nvPr/>
        </p:nvSpPr>
        <p:spPr>
          <a:xfrm>
            <a:off x="5006182" y="6038672"/>
            <a:ext cx="2179637" cy="509526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Project design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F4D8E527-A949-A579-838A-E7034C2FBE46}"/>
              </a:ext>
            </a:extLst>
          </p:cNvPr>
          <p:cNvSpPr/>
          <p:nvPr/>
        </p:nvSpPr>
        <p:spPr>
          <a:xfrm>
            <a:off x="9677401" y="6283881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Conclusion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FE15D507-2265-3962-9657-FBA66523E03A}"/>
              </a:ext>
            </a:extLst>
          </p:cNvPr>
          <p:cNvSpPr/>
          <p:nvPr/>
        </p:nvSpPr>
        <p:spPr>
          <a:xfrm>
            <a:off x="33496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Introduction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A58A7A00-6428-C6D6-CBE7-FCBE4CD20D8B}"/>
              </a:ext>
            </a:extLst>
          </p:cNvPr>
          <p:cNvSpPr/>
          <p:nvPr/>
        </p:nvSpPr>
        <p:spPr>
          <a:xfrm>
            <a:off x="267057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</a:t>
            </a:r>
            <a:r>
              <a:rPr lang="it-IT" sz="1600" dirty="0" err="1">
                <a:solidFill>
                  <a:srgbClr val="E3E6EB"/>
                </a:solidFill>
              </a:rPr>
              <a:t>proposal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87363A59-8556-1F58-FD79-17BBBA7ACF3B}"/>
              </a:ext>
            </a:extLst>
          </p:cNvPr>
          <p:cNvSpPr/>
          <p:nvPr/>
        </p:nvSpPr>
        <p:spPr>
          <a:xfrm>
            <a:off x="7341792" y="6282690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Challenges</a:t>
            </a:r>
          </a:p>
        </p:txBody>
      </p:sp>
      <p:sp>
        <p:nvSpPr>
          <p:cNvPr id="17" name="Titolo 1">
            <a:extLst>
              <a:ext uri="{FF2B5EF4-FFF2-40B4-BE49-F238E27FC236}">
                <a16:creationId xmlns:a16="http://schemas.microsoft.com/office/drawing/2014/main" id="{95ADD56F-D560-46CB-7F2A-E3EB157D9E48}"/>
              </a:ext>
            </a:extLst>
          </p:cNvPr>
          <p:cNvSpPr txBox="1">
            <a:spLocks/>
          </p:cNvSpPr>
          <p:nvPr/>
        </p:nvSpPr>
        <p:spPr>
          <a:xfrm>
            <a:off x="385921" y="1284946"/>
            <a:ext cx="11420157" cy="80554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Cushion with Independent Air Chambers + Pressure-Sensitive Mat</a:t>
            </a:r>
          </a:p>
        </p:txBody>
      </p:sp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2631AD4F-5786-0876-7665-E25CB69B644A}"/>
              </a:ext>
            </a:extLst>
          </p:cNvPr>
          <p:cNvCxnSpPr>
            <a:cxnSpLocks/>
            <a:stCxn id="30" idx="2"/>
            <a:endCxn id="31" idx="2"/>
          </p:cNvCxnSpPr>
          <p:nvPr/>
        </p:nvCxnSpPr>
        <p:spPr>
          <a:xfrm>
            <a:off x="6472073" y="4668292"/>
            <a:ext cx="3136923" cy="0"/>
          </a:xfrm>
          <a:prstGeom prst="line">
            <a:avLst/>
          </a:prstGeom>
          <a:ln w="76200">
            <a:solidFill>
              <a:schemeClr val="accent6">
                <a:lumMod val="1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tangolo 24">
            <a:extLst>
              <a:ext uri="{FF2B5EF4-FFF2-40B4-BE49-F238E27FC236}">
                <a16:creationId xmlns:a16="http://schemas.microsoft.com/office/drawing/2014/main" id="{6DED7FC0-ABAA-0542-ACAB-E0FFBCA9FD77}"/>
              </a:ext>
            </a:extLst>
          </p:cNvPr>
          <p:cNvSpPr/>
          <p:nvPr/>
        </p:nvSpPr>
        <p:spPr>
          <a:xfrm>
            <a:off x="3023674" y="4203388"/>
            <a:ext cx="1346241" cy="3453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rgbClr val="69698C"/>
                </a:solidFill>
              </a:rPr>
              <a:t>08.04.2025</a:t>
            </a:r>
            <a:endParaRPr lang="it-IT" dirty="0">
              <a:solidFill>
                <a:srgbClr val="69698C"/>
              </a:solidFill>
            </a:endParaRP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7DF6C49D-9FBD-03A5-CDBF-568EE4DCBBB5}"/>
              </a:ext>
            </a:extLst>
          </p:cNvPr>
          <p:cNvSpPr/>
          <p:nvPr/>
        </p:nvSpPr>
        <p:spPr>
          <a:xfrm>
            <a:off x="1613984" y="4420813"/>
            <a:ext cx="1012810" cy="3453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accent6">
                    <a:lumMod val="75000"/>
                  </a:schemeClr>
                </a:solidFill>
              </a:rPr>
              <a:t>25.03.2025</a:t>
            </a: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A98808C0-318D-4B7A-91D2-A709E47544CC}"/>
              </a:ext>
            </a:extLst>
          </p:cNvPr>
          <p:cNvSpPr/>
          <p:nvPr/>
        </p:nvSpPr>
        <p:spPr>
          <a:xfrm>
            <a:off x="1612171" y="4606513"/>
            <a:ext cx="1068150" cy="3453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accent6">
                    <a:lumMod val="75000"/>
                  </a:schemeClr>
                </a:solidFill>
              </a:rPr>
              <a:t>Focus group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04E397FB-090E-7CF4-F431-168313104749}"/>
              </a:ext>
            </a:extLst>
          </p:cNvPr>
          <p:cNvSpPr/>
          <p:nvPr/>
        </p:nvSpPr>
        <p:spPr>
          <a:xfrm>
            <a:off x="3102030" y="4739345"/>
            <a:ext cx="1293583" cy="423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>
                <a:solidFill>
                  <a:srgbClr val="69698C"/>
                </a:solidFill>
              </a:rPr>
              <a:t>Proposal</a:t>
            </a:r>
            <a:endParaRPr lang="it-IT" dirty="0">
              <a:solidFill>
                <a:srgbClr val="69698C"/>
              </a:solidFill>
            </a:endParaRPr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30F7DEE5-E1B5-C8CA-0699-67766EA741D9}"/>
              </a:ext>
            </a:extLst>
          </p:cNvPr>
          <p:cNvSpPr>
            <a:spLocks noChangeAspect="1"/>
          </p:cNvSpPr>
          <p:nvPr/>
        </p:nvSpPr>
        <p:spPr>
          <a:xfrm>
            <a:off x="2663674" y="4533292"/>
            <a:ext cx="270000" cy="270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D053B7BA-340B-13B9-6F8F-542EB8E7818F}"/>
              </a:ext>
            </a:extLst>
          </p:cNvPr>
          <p:cNvSpPr>
            <a:spLocks noChangeAspect="1"/>
          </p:cNvSpPr>
          <p:nvPr/>
        </p:nvSpPr>
        <p:spPr>
          <a:xfrm>
            <a:off x="6472073" y="4353292"/>
            <a:ext cx="630000" cy="630000"/>
          </a:xfrm>
          <a:prstGeom prst="ellipse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C00000"/>
              </a:solidFill>
            </a:endParaRPr>
          </a:p>
        </p:txBody>
      </p:sp>
      <p:sp>
        <p:nvSpPr>
          <p:cNvPr id="31" name="Ovale 30">
            <a:extLst>
              <a:ext uri="{FF2B5EF4-FFF2-40B4-BE49-F238E27FC236}">
                <a16:creationId xmlns:a16="http://schemas.microsoft.com/office/drawing/2014/main" id="{92F91036-D58D-1609-9011-91ECBBD540DE}"/>
              </a:ext>
            </a:extLst>
          </p:cNvPr>
          <p:cNvSpPr>
            <a:spLocks noChangeAspect="1"/>
          </p:cNvSpPr>
          <p:nvPr/>
        </p:nvSpPr>
        <p:spPr>
          <a:xfrm>
            <a:off x="9608996" y="4308292"/>
            <a:ext cx="720000" cy="720000"/>
          </a:xfrm>
          <a:prstGeom prst="ellipse">
            <a:avLst/>
          </a:prstGeom>
          <a:solidFill>
            <a:schemeClr val="accent6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32" name="Connettore diritto 31">
            <a:extLst>
              <a:ext uri="{FF2B5EF4-FFF2-40B4-BE49-F238E27FC236}">
                <a16:creationId xmlns:a16="http://schemas.microsoft.com/office/drawing/2014/main" id="{9FB1A7EF-0839-B791-BBC3-A85A2F225599}"/>
              </a:ext>
            </a:extLst>
          </p:cNvPr>
          <p:cNvCxnSpPr>
            <a:cxnSpLocks/>
            <a:stCxn id="29" idx="6"/>
          </p:cNvCxnSpPr>
          <p:nvPr/>
        </p:nvCxnSpPr>
        <p:spPr>
          <a:xfrm>
            <a:off x="2933674" y="4668292"/>
            <a:ext cx="1154420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e 32">
            <a:extLst>
              <a:ext uri="{FF2B5EF4-FFF2-40B4-BE49-F238E27FC236}">
                <a16:creationId xmlns:a16="http://schemas.microsoft.com/office/drawing/2014/main" id="{0041C922-654C-7C9E-529C-69BD52B9680D}"/>
              </a:ext>
            </a:extLst>
          </p:cNvPr>
          <p:cNvSpPr>
            <a:spLocks noChangeAspect="1"/>
          </p:cNvSpPr>
          <p:nvPr/>
        </p:nvSpPr>
        <p:spPr>
          <a:xfrm>
            <a:off x="3537812" y="4488292"/>
            <a:ext cx="360000" cy="3600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C00000"/>
              </a:solidFill>
            </a:endParaRPr>
          </a:p>
        </p:txBody>
      </p:sp>
      <p:cxnSp>
        <p:nvCxnSpPr>
          <p:cNvPr id="34" name="Connettore diritto 33">
            <a:extLst>
              <a:ext uri="{FF2B5EF4-FFF2-40B4-BE49-F238E27FC236}">
                <a16:creationId xmlns:a16="http://schemas.microsoft.com/office/drawing/2014/main" id="{0579BA40-6968-43C7-183A-0E8C61582A66}"/>
              </a:ext>
            </a:extLst>
          </p:cNvPr>
          <p:cNvCxnSpPr>
            <a:cxnSpLocks/>
            <a:stCxn id="33" idx="6"/>
            <a:endCxn id="30" idx="2"/>
          </p:cNvCxnSpPr>
          <p:nvPr/>
        </p:nvCxnSpPr>
        <p:spPr>
          <a:xfrm>
            <a:off x="3897812" y="4668292"/>
            <a:ext cx="2574261" cy="0"/>
          </a:xfrm>
          <a:prstGeom prst="line">
            <a:avLst/>
          </a:prstGeom>
          <a:ln w="57150">
            <a:solidFill>
              <a:schemeClr val="accent6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ttangolo 34">
            <a:extLst>
              <a:ext uri="{FF2B5EF4-FFF2-40B4-BE49-F238E27FC236}">
                <a16:creationId xmlns:a16="http://schemas.microsoft.com/office/drawing/2014/main" id="{01EC4A57-5306-99B0-C666-4027FCDB82B9}"/>
              </a:ext>
            </a:extLst>
          </p:cNvPr>
          <p:cNvSpPr/>
          <p:nvPr/>
        </p:nvSpPr>
        <p:spPr>
          <a:xfrm>
            <a:off x="9036590" y="3846996"/>
            <a:ext cx="1776300" cy="3453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rgbClr val="233D60"/>
                </a:solidFill>
              </a:rPr>
              <a:t>26.06.2025</a:t>
            </a:r>
          </a:p>
        </p:txBody>
      </p:sp>
      <p:pic>
        <p:nvPicPr>
          <p:cNvPr id="3" name="Picture 2" descr="Icona stilizzata persona con capelli lunghi e scuri su bicicletta reclinata">
            <a:extLst>
              <a:ext uri="{FF2B5EF4-FFF2-40B4-BE49-F238E27FC236}">
                <a16:creationId xmlns:a16="http://schemas.microsoft.com/office/drawing/2014/main" id="{06DE6786-EFEA-8064-8B37-FFA4CEA58B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89844" l="5176" r="95898">
                        <a14:foregroundMark x1="21289" y1="50977" x2="21289" y2="50977"/>
                        <a14:foregroundMark x1="5273" y1="54883" x2="5273" y2="55371"/>
                        <a14:foregroundMark x1="6152" y1="58594" x2="6152" y2="58594"/>
                        <a14:foregroundMark x1="93945" y1="46973" x2="93945" y2="46973"/>
                        <a14:foregroundMark x1="95898" y1="39160" x2="95898" y2="39160"/>
                        <a14:foregroundMark x1="76660" y1="57129" x2="76660" y2="57129"/>
                        <a14:foregroundMark x1="55078" y1="54102" x2="55078" y2="5410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1881" y="3981900"/>
            <a:ext cx="969418" cy="96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41770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F4657-68F4-F2A6-FDDE-C2B2B03F2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magine 20" descr="Immagine che contiene arredo, design, letto&#10;&#10;Il contenuto generato dall'IA potrebbe non essere corretto.">
            <a:extLst>
              <a:ext uri="{FF2B5EF4-FFF2-40B4-BE49-F238E27FC236}">
                <a16:creationId xmlns:a16="http://schemas.microsoft.com/office/drawing/2014/main" id="{39E6FBDD-6DDC-D6C3-EC1C-ED1EC75634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988" y="1120784"/>
            <a:ext cx="2818022" cy="463306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99C72B5-76DD-9F6E-D14B-8A7BD1AD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9</a:t>
            </a:fld>
            <a:endParaRPr lang="it-IT"/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CA1CDCAF-BEE1-E099-0D4C-85F4A7D9925A}"/>
              </a:ext>
            </a:extLst>
          </p:cNvPr>
          <p:cNvSpPr/>
          <p:nvPr/>
        </p:nvSpPr>
        <p:spPr>
          <a:xfrm>
            <a:off x="5006182" y="6038672"/>
            <a:ext cx="2179637" cy="509526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Project design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40D72260-D7E1-D329-2E72-93623AB358AE}"/>
              </a:ext>
            </a:extLst>
          </p:cNvPr>
          <p:cNvSpPr/>
          <p:nvPr/>
        </p:nvSpPr>
        <p:spPr>
          <a:xfrm>
            <a:off x="9677401" y="6283881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Conclusion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699342EF-2D35-906A-59C1-41B8C4CCA711}"/>
              </a:ext>
            </a:extLst>
          </p:cNvPr>
          <p:cNvSpPr/>
          <p:nvPr/>
        </p:nvSpPr>
        <p:spPr>
          <a:xfrm>
            <a:off x="33496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Introduction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EAC211C-7EF0-BCF4-8580-06A61FD8D338}"/>
              </a:ext>
            </a:extLst>
          </p:cNvPr>
          <p:cNvSpPr/>
          <p:nvPr/>
        </p:nvSpPr>
        <p:spPr>
          <a:xfrm>
            <a:off x="267057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</a:t>
            </a:r>
            <a:r>
              <a:rPr lang="it-IT" sz="1600" dirty="0" err="1">
                <a:solidFill>
                  <a:srgbClr val="E3E6EB"/>
                </a:solidFill>
              </a:rPr>
              <a:t>proposal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33BD9A48-2DA2-ADFB-D7D4-F6052E2761CE}"/>
              </a:ext>
            </a:extLst>
          </p:cNvPr>
          <p:cNvSpPr/>
          <p:nvPr/>
        </p:nvSpPr>
        <p:spPr>
          <a:xfrm>
            <a:off x="7341792" y="6282690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Challenges</a:t>
            </a:r>
          </a:p>
        </p:txBody>
      </p:sp>
      <p:sp>
        <p:nvSpPr>
          <p:cNvPr id="17" name="Titolo 1">
            <a:extLst>
              <a:ext uri="{FF2B5EF4-FFF2-40B4-BE49-F238E27FC236}">
                <a16:creationId xmlns:a16="http://schemas.microsoft.com/office/drawing/2014/main" id="{798FC908-3D9D-B65A-85C4-05E9378D1042}"/>
              </a:ext>
            </a:extLst>
          </p:cNvPr>
          <p:cNvSpPr txBox="1">
            <a:spLocks/>
          </p:cNvSpPr>
          <p:nvPr/>
        </p:nvSpPr>
        <p:spPr>
          <a:xfrm>
            <a:off x="385921" y="312908"/>
            <a:ext cx="11420157" cy="5230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Cushion with Independent Air Chambers + Pressure-Sensitive Mat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8641578E-707F-0CD0-A864-5E5FF62813E7}"/>
              </a:ext>
            </a:extLst>
          </p:cNvPr>
          <p:cNvSpPr/>
          <p:nvPr/>
        </p:nvSpPr>
        <p:spPr>
          <a:xfrm>
            <a:off x="2174971" y="1465280"/>
            <a:ext cx="1692729" cy="661991"/>
          </a:xfrm>
          <a:prstGeom prst="roundRect">
            <a:avLst/>
          </a:prstGeom>
          <a:noFill/>
          <a:ln w="57150">
            <a:solidFill>
              <a:srgbClr val="F1E9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rtl="0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Material</a:t>
            </a:r>
          </a:p>
        </p:txBody>
      </p: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B190AB5E-FB37-F55E-2F52-D01D8FF83EF2}"/>
              </a:ext>
            </a:extLst>
          </p:cNvPr>
          <p:cNvSpPr/>
          <p:nvPr/>
        </p:nvSpPr>
        <p:spPr>
          <a:xfrm>
            <a:off x="7904278" y="1751578"/>
            <a:ext cx="3135024" cy="903446"/>
          </a:xfrm>
          <a:prstGeom prst="roundRect">
            <a:avLst/>
          </a:prstGeom>
          <a:noFill/>
          <a:ln w="57150">
            <a:solidFill>
              <a:srgbClr val="FFA5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it-IT" sz="1600" dirty="0" err="1">
                <a:solidFill>
                  <a:schemeClr val="tx1"/>
                </a:solidFill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Sensors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Embedded Systems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6E918270-3CDF-458D-ABCC-3111995CF1A0}"/>
              </a:ext>
            </a:extLst>
          </p:cNvPr>
          <p:cNvSpPr/>
          <p:nvPr/>
        </p:nvSpPr>
        <p:spPr>
          <a:xfrm>
            <a:off x="2174971" y="2655878"/>
            <a:ext cx="1692730" cy="903446"/>
          </a:xfrm>
          <a:prstGeom prst="roundRect">
            <a:avLst/>
          </a:prstGeom>
          <a:noFill/>
          <a:ln w="57150">
            <a:solidFill>
              <a:srgbClr val="5183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Cells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Material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419D592D-F9F8-2E02-478B-D06F4EA6EB9D}"/>
              </a:ext>
            </a:extLst>
          </p:cNvPr>
          <p:cNvSpPr/>
          <p:nvPr/>
        </p:nvSpPr>
        <p:spPr>
          <a:xfrm>
            <a:off x="7904278" y="3086169"/>
            <a:ext cx="3135025" cy="2471057"/>
          </a:xfrm>
          <a:prstGeom prst="roundRect">
            <a:avLst/>
          </a:prstGeom>
          <a:noFill/>
          <a:ln w="57150">
            <a:solidFill>
              <a:srgbClr val="C6C1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1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Compressor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ON/OFF Solenoid Valve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Check Valve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Electropneumatic Valve 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Mechanical Release Valve 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D35BA5C9-9C13-33B1-B9F2-03F037B8EB55}"/>
              </a:ext>
            </a:extLst>
          </p:cNvPr>
          <p:cNvSpPr/>
          <p:nvPr/>
        </p:nvSpPr>
        <p:spPr>
          <a:xfrm>
            <a:off x="2174971" y="4760437"/>
            <a:ext cx="1692729" cy="903446"/>
          </a:xfrm>
          <a:prstGeom prst="roundRect">
            <a:avLst/>
          </a:prstGeom>
          <a:noFill/>
          <a:ln w="57150">
            <a:solidFill>
              <a:srgbClr val="5272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Arduino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1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Manrope" charset="0"/>
                <a:ea typeface="Calibri" panose="020F0502020204030204" pitchFamily="34" charset="0"/>
                <a:cs typeface="Times New Roman" panose="02020603050405020304" pitchFamily="18" charset="0"/>
              </a:rPr>
              <a:t>Software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CDEA6D19-7706-59C7-6158-958AF2C0D866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3867700" y="1796276"/>
            <a:ext cx="982509" cy="0"/>
          </a:xfrm>
          <a:prstGeom prst="straightConnector1">
            <a:avLst/>
          </a:prstGeom>
          <a:ln w="57150">
            <a:solidFill>
              <a:srgbClr val="F1E9D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2 29">
            <a:extLst>
              <a:ext uri="{FF2B5EF4-FFF2-40B4-BE49-F238E27FC236}">
                <a16:creationId xmlns:a16="http://schemas.microsoft.com/office/drawing/2014/main" id="{8CA16024-3A4A-5F2D-9713-94C0A40E62B6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3867700" y="5212159"/>
            <a:ext cx="1629586" cy="1"/>
          </a:xfrm>
          <a:prstGeom prst="straightConnector1">
            <a:avLst/>
          </a:prstGeom>
          <a:ln w="57150">
            <a:solidFill>
              <a:srgbClr val="5272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C908EC18-0AA1-0C14-6831-916BECDE5655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3867701" y="3107601"/>
            <a:ext cx="982508" cy="0"/>
          </a:xfrm>
          <a:prstGeom prst="straightConnector1">
            <a:avLst/>
          </a:prstGeom>
          <a:ln w="57150">
            <a:solidFill>
              <a:srgbClr val="5183A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375B98B2-96C7-7BEC-A6DC-08DF71B647C3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7423401" y="2203301"/>
            <a:ext cx="480877" cy="0"/>
          </a:xfrm>
          <a:prstGeom prst="straightConnector1">
            <a:avLst/>
          </a:prstGeom>
          <a:ln w="57150">
            <a:solidFill>
              <a:srgbClr val="FFA53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196979D8-8CD4-7484-2150-5C8C7B43D420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7185819" y="4321697"/>
            <a:ext cx="718459" cy="1"/>
          </a:xfrm>
          <a:prstGeom prst="straightConnector1">
            <a:avLst/>
          </a:prstGeom>
          <a:ln w="57150">
            <a:solidFill>
              <a:srgbClr val="C6C1B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e 41">
            <a:extLst>
              <a:ext uri="{FF2B5EF4-FFF2-40B4-BE49-F238E27FC236}">
                <a16:creationId xmlns:a16="http://schemas.microsoft.com/office/drawing/2014/main" id="{4B1F07D5-CED8-8042-E347-24FE87BAF04E}"/>
              </a:ext>
            </a:extLst>
          </p:cNvPr>
          <p:cNvSpPr>
            <a:spLocks noChangeAspect="1"/>
          </p:cNvSpPr>
          <p:nvPr/>
        </p:nvSpPr>
        <p:spPr>
          <a:xfrm>
            <a:off x="1775703" y="1502352"/>
            <a:ext cx="592969" cy="592969"/>
          </a:xfrm>
          <a:prstGeom prst="ellipse">
            <a:avLst/>
          </a:prstGeom>
          <a:solidFill>
            <a:srgbClr val="F1E9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/>
              <a:t>1</a:t>
            </a:r>
          </a:p>
        </p:txBody>
      </p:sp>
      <p:sp>
        <p:nvSpPr>
          <p:cNvPr id="43" name="Ovale 42">
            <a:extLst>
              <a:ext uri="{FF2B5EF4-FFF2-40B4-BE49-F238E27FC236}">
                <a16:creationId xmlns:a16="http://schemas.microsoft.com/office/drawing/2014/main" id="{3F61703C-50AE-FA81-0B2B-6D8579C187C6}"/>
              </a:ext>
            </a:extLst>
          </p:cNvPr>
          <p:cNvSpPr>
            <a:spLocks noChangeAspect="1"/>
          </p:cNvSpPr>
          <p:nvPr/>
        </p:nvSpPr>
        <p:spPr>
          <a:xfrm>
            <a:off x="1775703" y="2789684"/>
            <a:ext cx="592969" cy="592969"/>
          </a:xfrm>
          <a:prstGeom prst="ellipse">
            <a:avLst/>
          </a:prstGeom>
          <a:solidFill>
            <a:srgbClr val="5183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/>
              <a:t>2</a:t>
            </a:r>
          </a:p>
        </p:txBody>
      </p:sp>
      <p:sp>
        <p:nvSpPr>
          <p:cNvPr id="44" name="Ovale 43">
            <a:extLst>
              <a:ext uri="{FF2B5EF4-FFF2-40B4-BE49-F238E27FC236}">
                <a16:creationId xmlns:a16="http://schemas.microsoft.com/office/drawing/2014/main" id="{BF259957-F92B-9BD5-1C8B-B4571CC68089}"/>
              </a:ext>
            </a:extLst>
          </p:cNvPr>
          <p:cNvSpPr>
            <a:spLocks noChangeAspect="1"/>
          </p:cNvSpPr>
          <p:nvPr/>
        </p:nvSpPr>
        <p:spPr>
          <a:xfrm>
            <a:off x="10742817" y="1919289"/>
            <a:ext cx="592969" cy="592969"/>
          </a:xfrm>
          <a:prstGeom prst="ellipse">
            <a:avLst/>
          </a:prstGeom>
          <a:solidFill>
            <a:srgbClr val="FFA5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/>
              <a:t>3</a:t>
            </a:r>
          </a:p>
        </p:txBody>
      </p:sp>
      <p:sp>
        <p:nvSpPr>
          <p:cNvPr id="45" name="Ovale 44">
            <a:extLst>
              <a:ext uri="{FF2B5EF4-FFF2-40B4-BE49-F238E27FC236}">
                <a16:creationId xmlns:a16="http://schemas.microsoft.com/office/drawing/2014/main" id="{AF8A8008-F656-3A4C-FC5C-51B774B5B2BC}"/>
              </a:ext>
            </a:extLst>
          </p:cNvPr>
          <p:cNvSpPr>
            <a:spLocks noChangeAspect="1"/>
          </p:cNvSpPr>
          <p:nvPr/>
        </p:nvSpPr>
        <p:spPr>
          <a:xfrm>
            <a:off x="10735693" y="4014612"/>
            <a:ext cx="592969" cy="592969"/>
          </a:xfrm>
          <a:prstGeom prst="ellipse">
            <a:avLst/>
          </a:prstGeom>
          <a:solidFill>
            <a:srgbClr val="C6C1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/>
              <a:t>4</a:t>
            </a:r>
          </a:p>
        </p:txBody>
      </p:sp>
      <p:sp>
        <p:nvSpPr>
          <p:cNvPr id="46" name="Ovale 45">
            <a:extLst>
              <a:ext uri="{FF2B5EF4-FFF2-40B4-BE49-F238E27FC236}">
                <a16:creationId xmlns:a16="http://schemas.microsoft.com/office/drawing/2014/main" id="{E2F56151-404D-1CD9-8F4E-8CFD4B700304}"/>
              </a:ext>
            </a:extLst>
          </p:cNvPr>
          <p:cNvSpPr>
            <a:spLocks noChangeAspect="1"/>
          </p:cNvSpPr>
          <p:nvPr/>
        </p:nvSpPr>
        <p:spPr>
          <a:xfrm>
            <a:off x="1775703" y="4915674"/>
            <a:ext cx="592969" cy="592969"/>
          </a:xfrm>
          <a:prstGeom prst="ellipse">
            <a:avLst/>
          </a:prstGeom>
          <a:solidFill>
            <a:srgbClr val="5272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72669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21EC2-DEBC-9979-5261-1055751E9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magine 14" descr="Immagine che contiene arredo, design, letto&#10;&#10;Il contenuto generato dall'IA potrebbe non essere corretto.">
            <a:extLst>
              <a:ext uri="{FF2B5EF4-FFF2-40B4-BE49-F238E27FC236}">
                <a16:creationId xmlns:a16="http://schemas.microsoft.com/office/drawing/2014/main" id="{062069F3-0B54-F60D-54A5-26260918C5B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7" t="7905" b="75640"/>
          <a:stretch/>
        </p:blipFill>
        <p:spPr bwMode="auto">
          <a:xfrm>
            <a:off x="4644485" y="265639"/>
            <a:ext cx="2903030" cy="8143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" name="Gruppo 22">
            <a:extLst>
              <a:ext uri="{FF2B5EF4-FFF2-40B4-BE49-F238E27FC236}">
                <a16:creationId xmlns:a16="http://schemas.microsoft.com/office/drawing/2014/main" id="{5C951E2C-0646-303F-9097-7A54A5B5700E}"/>
              </a:ext>
            </a:extLst>
          </p:cNvPr>
          <p:cNvGrpSpPr/>
          <p:nvPr/>
        </p:nvGrpSpPr>
        <p:grpSpPr>
          <a:xfrm>
            <a:off x="955433" y="1341188"/>
            <a:ext cx="10538228" cy="2610577"/>
            <a:chOff x="955433" y="1341188"/>
            <a:chExt cx="10538228" cy="2610577"/>
          </a:xfrm>
        </p:grpSpPr>
        <p:sp>
          <p:nvSpPr>
            <p:cNvPr id="14" name="Ovale 13">
              <a:extLst>
                <a:ext uri="{FF2B5EF4-FFF2-40B4-BE49-F238E27FC236}">
                  <a16:creationId xmlns:a16="http://schemas.microsoft.com/office/drawing/2014/main" id="{FA3FF14E-FAC4-2738-1F63-3AD3715A4982}"/>
                </a:ext>
              </a:extLst>
            </p:cNvPr>
            <p:cNvSpPr/>
            <p:nvPr/>
          </p:nvSpPr>
          <p:spPr>
            <a:xfrm>
              <a:off x="1345610" y="1497209"/>
              <a:ext cx="9205185" cy="2454556"/>
            </a:xfrm>
            <a:prstGeom prst="ellipse">
              <a:avLst/>
            </a:prstGeom>
            <a:noFill/>
            <a:ln w="57150">
              <a:solidFill>
                <a:srgbClr val="E3E6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600"/>
            </a:p>
          </p:txBody>
        </p:sp>
        <p:sp>
          <p:nvSpPr>
            <p:cNvPr id="20" name="Rettangolo 19">
              <a:extLst>
                <a:ext uri="{FF2B5EF4-FFF2-40B4-BE49-F238E27FC236}">
                  <a16:creationId xmlns:a16="http://schemas.microsoft.com/office/drawing/2014/main" id="{EB02BA31-DB8B-A00E-5D73-BAA3359BB4EB}"/>
                </a:ext>
              </a:extLst>
            </p:cNvPr>
            <p:cNvSpPr/>
            <p:nvPr/>
          </p:nvSpPr>
          <p:spPr>
            <a:xfrm>
              <a:off x="955433" y="1341188"/>
              <a:ext cx="10538228" cy="11392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600"/>
            </a:p>
          </p:txBody>
        </p:sp>
      </p:grp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B2D865B-55D5-10E5-F713-A8BC1FD0E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10</a:t>
            </a:fld>
            <a:endParaRPr lang="it-IT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60B84528-267D-832C-A4A0-CB694741B69A}"/>
              </a:ext>
            </a:extLst>
          </p:cNvPr>
          <p:cNvSpPr txBox="1">
            <a:spLocks/>
          </p:cNvSpPr>
          <p:nvPr/>
        </p:nvSpPr>
        <p:spPr>
          <a:xfrm>
            <a:off x="5147072" y="312908"/>
            <a:ext cx="1897857" cy="5230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Cover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AC53794F-A3F3-A6DD-BB6A-DDFC0C58B734}"/>
              </a:ext>
            </a:extLst>
          </p:cNvPr>
          <p:cNvSpPr/>
          <p:nvPr/>
        </p:nvSpPr>
        <p:spPr>
          <a:xfrm>
            <a:off x="334963" y="1211609"/>
            <a:ext cx="11326096" cy="7735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cover is the </a:t>
            </a:r>
            <a:r>
              <a:rPr lang="en-US" sz="1600" b="1" dirty="0">
                <a:solidFill>
                  <a:srgbClr val="233D60"/>
                </a:solidFill>
              </a:rPr>
              <a:t>direct interface with the user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endParaRPr lang="it-IT" sz="1600" b="1" i="1" dirty="0">
              <a:solidFill>
                <a:schemeClr val="tx1">
                  <a:lumMod val="95000"/>
                  <a:lumOff val="5000"/>
                </a:schemeClr>
              </a:solidFill>
              <a:sym typeface="Wingdings" panose="05000000000000000000" pitchFamily="2" charset="2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8BC12DA-415C-2C9E-CAE4-AA7892D7D408}"/>
              </a:ext>
            </a:extLst>
          </p:cNvPr>
          <p:cNvSpPr/>
          <p:nvPr/>
        </p:nvSpPr>
        <p:spPr>
          <a:xfrm>
            <a:off x="5006182" y="6038672"/>
            <a:ext cx="2179637" cy="509526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Project design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DE72A1B8-C1C5-08C4-FABD-69D909F6CB03}"/>
              </a:ext>
            </a:extLst>
          </p:cNvPr>
          <p:cNvSpPr/>
          <p:nvPr/>
        </p:nvSpPr>
        <p:spPr>
          <a:xfrm>
            <a:off x="9677401" y="6283881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Conclusion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D831E980-7BD7-FE73-D4EF-A0FAA7682851}"/>
              </a:ext>
            </a:extLst>
          </p:cNvPr>
          <p:cNvSpPr/>
          <p:nvPr/>
        </p:nvSpPr>
        <p:spPr>
          <a:xfrm>
            <a:off x="33496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Introduction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4D54776C-1F74-D77D-A0D7-4982052849BC}"/>
              </a:ext>
            </a:extLst>
          </p:cNvPr>
          <p:cNvSpPr/>
          <p:nvPr/>
        </p:nvSpPr>
        <p:spPr>
          <a:xfrm>
            <a:off x="267057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</a:t>
            </a:r>
            <a:r>
              <a:rPr lang="it-IT" sz="1600" dirty="0" err="1">
                <a:solidFill>
                  <a:srgbClr val="E3E6EB"/>
                </a:solidFill>
              </a:rPr>
              <a:t>proposal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54FDE373-8DFB-C1BB-5454-7CFB50C83BD4}"/>
              </a:ext>
            </a:extLst>
          </p:cNvPr>
          <p:cNvSpPr/>
          <p:nvPr/>
        </p:nvSpPr>
        <p:spPr>
          <a:xfrm>
            <a:off x="7341792" y="6282690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Challenges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93486F1-11DD-6994-C984-68C1C394834C}"/>
              </a:ext>
            </a:extLst>
          </p:cNvPr>
          <p:cNvSpPr txBox="1"/>
          <p:nvPr/>
        </p:nvSpPr>
        <p:spPr>
          <a:xfrm>
            <a:off x="334962" y="5647530"/>
            <a:ext cx="11522076" cy="363113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just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6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Vergara, M., &amp; Page, Á. (2002). </a:t>
            </a:r>
            <a:r>
              <a:rPr lang="en-US" sz="600" i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Relationship between comfort and back posture and mobility in sitting-posture. </a:t>
            </a:r>
            <a:endParaRPr lang="it-IT" sz="600" i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15000"/>
              </a:lnSpc>
              <a:spcAft>
                <a:spcPts val="500"/>
              </a:spcAft>
            </a:pPr>
            <a:r>
              <a:rPr lang="en-US" sz="600" i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ITTTAI Technologies - ITTTAI</a:t>
            </a:r>
            <a:r>
              <a:rPr lang="en-US" sz="6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. Available at: </a:t>
            </a:r>
            <a:r>
              <a:rPr lang="en-US" sz="600" u="sng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https://itttai.com/en/technologies/itttai-technologies</a:t>
            </a:r>
            <a:endParaRPr lang="it-IT" sz="6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805EEF9A-36B9-4335-B9B0-3FD10224D318}"/>
              </a:ext>
            </a:extLst>
          </p:cNvPr>
          <p:cNvSpPr/>
          <p:nvPr/>
        </p:nvSpPr>
        <p:spPr>
          <a:xfrm>
            <a:off x="334963" y="4688879"/>
            <a:ext cx="11522076" cy="7554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t-IT" sz="1600" dirty="0">
                <a:solidFill>
                  <a:schemeClr val="tx1"/>
                </a:solidFill>
              </a:rPr>
              <a:t>10% binder (</a:t>
            </a:r>
            <a:r>
              <a:rPr lang="it-IT" sz="1600" i="1" dirty="0" err="1">
                <a:solidFill>
                  <a:schemeClr val="tx1"/>
                </a:solidFill>
              </a:rPr>
              <a:t>Tubicoat</a:t>
            </a:r>
            <a:r>
              <a:rPr lang="it-IT" sz="1600" i="1" dirty="0">
                <a:solidFill>
                  <a:schemeClr val="tx1"/>
                </a:solidFill>
              </a:rPr>
              <a:t> PUT</a:t>
            </a:r>
            <a:r>
              <a:rPr lang="it-IT" sz="1600" dirty="0">
                <a:solidFill>
                  <a:schemeClr val="tx1"/>
                </a:solidFill>
              </a:rPr>
              <a:t>), 2% </a:t>
            </a:r>
            <a:r>
              <a:rPr lang="it-IT" sz="1600" dirty="0" err="1">
                <a:solidFill>
                  <a:schemeClr val="tx1"/>
                </a:solidFill>
              </a:rPr>
              <a:t>thickener</a:t>
            </a:r>
            <a:r>
              <a:rPr lang="it-IT" sz="1600" dirty="0">
                <a:solidFill>
                  <a:schemeClr val="tx1"/>
                </a:solidFill>
              </a:rPr>
              <a:t> (</a:t>
            </a:r>
            <a:r>
              <a:rPr lang="it-IT" sz="1600" i="1" dirty="0" err="1">
                <a:solidFill>
                  <a:schemeClr val="tx1"/>
                </a:solidFill>
              </a:rPr>
              <a:t>Tubicoat</a:t>
            </a:r>
            <a:r>
              <a:rPr lang="it-IT" sz="1600" i="1" dirty="0">
                <a:solidFill>
                  <a:schemeClr val="tx1"/>
                </a:solidFill>
              </a:rPr>
              <a:t> ASD 60</a:t>
            </a:r>
            <a:r>
              <a:rPr lang="it-IT" sz="1600" dirty="0">
                <a:solidFill>
                  <a:schemeClr val="tx1"/>
                </a:solidFill>
              </a:rPr>
              <a:t>), 2% </a:t>
            </a:r>
            <a:r>
              <a:rPr lang="it-IT" sz="1600" dirty="0" err="1">
                <a:solidFill>
                  <a:schemeClr val="tx1"/>
                </a:solidFill>
              </a:rPr>
              <a:t>crosslinker</a:t>
            </a:r>
            <a:r>
              <a:rPr lang="it-IT" sz="1600" dirty="0">
                <a:solidFill>
                  <a:schemeClr val="tx1"/>
                </a:solidFill>
              </a:rPr>
              <a:t> (</a:t>
            </a:r>
            <a:r>
              <a:rPr lang="it-IT" sz="1600" i="1" dirty="0" err="1">
                <a:solidFill>
                  <a:schemeClr val="tx1"/>
                </a:solidFill>
              </a:rPr>
              <a:t>Fixerer</a:t>
            </a:r>
            <a:r>
              <a:rPr lang="it-IT" sz="1600" i="1" dirty="0">
                <a:solidFill>
                  <a:schemeClr val="tx1"/>
                </a:solidFill>
              </a:rPr>
              <a:t> MF 200</a:t>
            </a:r>
            <a:r>
              <a:rPr lang="it-IT" sz="1600" dirty="0">
                <a:solidFill>
                  <a:schemeClr val="tx1"/>
                </a:solidFill>
              </a:rPr>
              <a:t>), </a:t>
            </a:r>
            <a:br>
              <a:rPr lang="it-IT" sz="1600" dirty="0">
                <a:solidFill>
                  <a:schemeClr val="tx1"/>
                </a:solidFill>
              </a:rPr>
            </a:br>
            <a:r>
              <a:rPr lang="it-IT" sz="1600" dirty="0">
                <a:solidFill>
                  <a:schemeClr val="tx1"/>
                </a:solidFill>
              </a:rPr>
              <a:t>3% </a:t>
            </a:r>
            <a:r>
              <a:rPr lang="it-IT" sz="1600" dirty="0" err="1">
                <a:solidFill>
                  <a:schemeClr val="tx1"/>
                </a:solidFill>
              </a:rPr>
              <a:t>softener</a:t>
            </a:r>
            <a:r>
              <a:rPr lang="it-IT" sz="1600" dirty="0">
                <a:solidFill>
                  <a:schemeClr val="tx1"/>
                </a:solidFill>
              </a:rPr>
              <a:t> (</a:t>
            </a:r>
            <a:r>
              <a:rPr lang="it-IT" sz="1600" i="1" dirty="0" err="1">
                <a:solidFill>
                  <a:schemeClr val="tx1"/>
                </a:solidFill>
              </a:rPr>
              <a:t>Microsil</a:t>
            </a:r>
            <a:r>
              <a:rPr lang="it-IT" sz="1600" i="1" dirty="0">
                <a:solidFill>
                  <a:schemeClr val="tx1"/>
                </a:solidFill>
              </a:rPr>
              <a:t> 500</a:t>
            </a:r>
            <a:r>
              <a:rPr lang="it-IT" sz="1600" dirty="0">
                <a:solidFill>
                  <a:schemeClr val="tx1"/>
                </a:solidFill>
              </a:rPr>
              <a:t>), and 4% water </a:t>
            </a:r>
            <a:r>
              <a:rPr lang="it-IT" sz="1600" dirty="0" err="1">
                <a:solidFill>
                  <a:schemeClr val="tx1"/>
                </a:solidFill>
              </a:rPr>
              <a:t>repellent</a:t>
            </a:r>
            <a:r>
              <a:rPr lang="it-IT" sz="1600" dirty="0">
                <a:solidFill>
                  <a:schemeClr val="tx1"/>
                </a:solidFill>
              </a:rPr>
              <a:t> (</a:t>
            </a:r>
            <a:r>
              <a:rPr lang="it-IT" sz="1600" i="1" dirty="0" err="1">
                <a:solidFill>
                  <a:schemeClr val="tx1"/>
                </a:solidFill>
              </a:rPr>
              <a:t>Tubicoat</a:t>
            </a:r>
            <a:r>
              <a:rPr lang="it-IT" sz="1600" i="1" dirty="0">
                <a:solidFill>
                  <a:schemeClr val="tx1"/>
                </a:solidFill>
              </a:rPr>
              <a:t> A711</a:t>
            </a:r>
            <a:r>
              <a:rPr lang="it-IT" sz="1600" dirty="0">
                <a:solidFill>
                  <a:schemeClr val="tx1"/>
                </a:solidFill>
              </a:rPr>
              <a:t>).</a:t>
            </a:r>
            <a:endParaRPr lang="it-IT" sz="1600" b="1" i="1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B5C0CF92-5F79-62DE-3368-ECE2AF974995}"/>
              </a:ext>
            </a:extLst>
          </p:cNvPr>
          <p:cNvSpPr/>
          <p:nvPr/>
        </p:nvSpPr>
        <p:spPr>
          <a:xfrm>
            <a:off x="692184" y="2333060"/>
            <a:ext cx="1816260" cy="597626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E3E6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33D60"/>
                </a:solidFill>
              </a:rPr>
              <a:t>comfort</a:t>
            </a:r>
            <a:endParaRPr lang="it-IT" sz="1600" b="1" i="1" dirty="0">
              <a:solidFill>
                <a:srgbClr val="233D60"/>
              </a:solidFill>
              <a:sym typeface="Wingdings" panose="05000000000000000000" pitchFamily="2" charset="2"/>
            </a:endParaRP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B74FA5A2-E7D7-48F3-52E6-231BBF2ED66E}"/>
              </a:ext>
            </a:extLst>
          </p:cNvPr>
          <p:cNvSpPr/>
          <p:nvPr/>
        </p:nvSpPr>
        <p:spPr>
          <a:xfrm>
            <a:off x="2424754" y="3323994"/>
            <a:ext cx="1816259" cy="597626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E3E6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33D60"/>
                </a:solidFill>
              </a:rPr>
              <a:t>breathability</a:t>
            </a:r>
            <a:endParaRPr lang="it-IT" sz="1600" b="1" i="1" dirty="0">
              <a:solidFill>
                <a:srgbClr val="233D60"/>
              </a:solidFill>
              <a:sym typeface="Wingdings" panose="05000000000000000000" pitchFamily="2" charset="2"/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3FCE64A5-D8B3-8924-B240-27BC4F59CC4C}"/>
              </a:ext>
            </a:extLst>
          </p:cNvPr>
          <p:cNvSpPr/>
          <p:nvPr/>
        </p:nvSpPr>
        <p:spPr>
          <a:xfrm>
            <a:off x="7896847" y="3323993"/>
            <a:ext cx="1816260" cy="597627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E3E6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33D60"/>
                </a:solidFill>
              </a:rPr>
              <a:t>waterproofness</a:t>
            </a:r>
            <a:endParaRPr lang="it-IT" sz="1600" b="1" i="1" dirty="0">
              <a:solidFill>
                <a:srgbClr val="233D60"/>
              </a:solidFill>
              <a:sym typeface="Wingdings" panose="05000000000000000000" pitchFamily="2" charset="2"/>
            </a:endParaRP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72F03D63-94BA-FE90-43EA-9BAA7E6C9298}"/>
              </a:ext>
            </a:extLst>
          </p:cNvPr>
          <p:cNvSpPr/>
          <p:nvPr/>
        </p:nvSpPr>
        <p:spPr>
          <a:xfrm>
            <a:off x="5161219" y="3600346"/>
            <a:ext cx="1816260" cy="80813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E3E6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33D60"/>
                </a:solidFill>
              </a:rPr>
              <a:t>mechanical resistance</a:t>
            </a:r>
            <a:endParaRPr lang="it-IT" sz="1600" b="1" i="1" dirty="0">
              <a:solidFill>
                <a:srgbClr val="233D60"/>
              </a:solidFill>
              <a:sym typeface="Wingdings" panose="05000000000000000000" pitchFamily="2" charset="2"/>
            </a:endParaRP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EB704E49-06F6-0669-623D-6C4FE825EBDB}"/>
              </a:ext>
            </a:extLst>
          </p:cNvPr>
          <p:cNvSpPr/>
          <p:nvPr/>
        </p:nvSpPr>
        <p:spPr>
          <a:xfrm>
            <a:off x="9642665" y="2330370"/>
            <a:ext cx="1816260" cy="597626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E3E6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33D60"/>
                </a:solidFill>
              </a:rPr>
              <a:t>hygiene</a:t>
            </a:r>
            <a:endParaRPr lang="it-IT" sz="1600" b="1" i="1" dirty="0">
              <a:solidFill>
                <a:srgbClr val="233D60"/>
              </a:solidFill>
              <a:sym typeface="Wingdings" panose="05000000000000000000" pitchFamily="2" charset="2"/>
            </a:endParaRP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431AF6F5-E40C-E035-177A-B58464AC2C8E}"/>
              </a:ext>
            </a:extLst>
          </p:cNvPr>
          <p:cNvSpPr/>
          <p:nvPr/>
        </p:nvSpPr>
        <p:spPr>
          <a:xfrm>
            <a:off x="4121761" y="2018308"/>
            <a:ext cx="3948477" cy="963703"/>
          </a:xfrm>
          <a:prstGeom prst="roundRect">
            <a:avLst/>
          </a:prstGeom>
          <a:solidFill>
            <a:srgbClr val="E3E6EB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33D60"/>
                </a:solidFill>
              </a:rPr>
              <a:t>MICROPOROUS</a:t>
            </a:r>
            <a:r>
              <a:rPr lang="en-US" sz="1600" dirty="0">
                <a:solidFill>
                  <a:srgbClr val="233D60"/>
                </a:solidFill>
              </a:rPr>
              <a:t> </a:t>
            </a:r>
            <a:r>
              <a:rPr lang="en-US" sz="1600" b="1" dirty="0">
                <a:solidFill>
                  <a:srgbClr val="233D60"/>
                </a:solidFill>
              </a:rPr>
              <a:t>POLYURETHANE (PU)</a:t>
            </a:r>
            <a:r>
              <a:rPr lang="en-US" sz="1600" dirty="0">
                <a:solidFill>
                  <a:srgbClr val="233D60"/>
                </a:solidFill>
              </a:rPr>
              <a:t> </a:t>
            </a:r>
            <a:br>
              <a:rPr lang="en-US" sz="1600" dirty="0">
                <a:solidFill>
                  <a:srgbClr val="233D60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(150–250 </a:t>
            </a:r>
            <a:r>
              <a:rPr lang="it-IT" sz="16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µ</a:t>
            </a:r>
            <a:r>
              <a:rPr lang="en-US" sz="1600" dirty="0">
                <a:solidFill>
                  <a:schemeClr val="tx1"/>
                </a:solidFill>
              </a:rPr>
              <a:t>m thickness)</a:t>
            </a:r>
            <a:endParaRPr lang="it-IT" sz="1600" b="1" i="1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23684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43F6C-4CA8-D4FD-F4EF-1CFBBA487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 descr="Immagine che contiene arredo, design, letto&#10;&#10;Il contenuto generato dall'IA potrebbe non essere corretto.">
            <a:extLst>
              <a:ext uri="{FF2B5EF4-FFF2-40B4-BE49-F238E27FC236}">
                <a16:creationId xmlns:a16="http://schemas.microsoft.com/office/drawing/2014/main" id="{6ACE3ADF-62BD-FB86-6403-143D67C38A3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9" t="34515" r="-182" b="43778"/>
          <a:stretch/>
        </p:blipFill>
        <p:spPr bwMode="auto">
          <a:xfrm>
            <a:off x="4644485" y="205740"/>
            <a:ext cx="2903030" cy="107424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85F2A10-BEEE-F687-E5E4-4E359D220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11</a:t>
            </a:fld>
            <a:endParaRPr lang="it-IT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24347F46-9839-1CE1-F44D-A3B9611AA1F1}"/>
              </a:ext>
            </a:extLst>
          </p:cNvPr>
          <p:cNvSpPr txBox="1">
            <a:spLocks/>
          </p:cNvSpPr>
          <p:nvPr/>
        </p:nvSpPr>
        <p:spPr>
          <a:xfrm>
            <a:off x="385921" y="312908"/>
            <a:ext cx="11420157" cy="5230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Cushion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CD93828F-CAF0-DF12-D05D-9AB25D2EACAC}"/>
              </a:ext>
            </a:extLst>
          </p:cNvPr>
          <p:cNvSpPr/>
          <p:nvPr/>
        </p:nvSpPr>
        <p:spPr>
          <a:xfrm>
            <a:off x="5006182" y="6038672"/>
            <a:ext cx="2179637" cy="509526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Project design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8D1CF060-2D15-0823-B883-E24B93D62E4E}"/>
              </a:ext>
            </a:extLst>
          </p:cNvPr>
          <p:cNvSpPr/>
          <p:nvPr/>
        </p:nvSpPr>
        <p:spPr>
          <a:xfrm>
            <a:off x="9677401" y="6283881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Conclusion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ECAD6176-B114-2C20-4D71-3BBA64582C7B}"/>
              </a:ext>
            </a:extLst>
          </p:cNvPr>
          <p:cNvSpPr/>
          <p:nvPr/>
        </p:nvSpPr>
        <p:spPr>
          <a:xfrm>
            <a:off x="33496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Introduction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81A7868D-5A93-7B67-4CB7-0B967C92C5E3}"/>
              </a:ext>
            </a:extLst>
          </p:cNvPr>
          <p:cNvSpPr/>
          <p:nvPr/>
        </p:nvSpPr>
        <p:spPr>
          <a:xfrm>
            <a:off x="267057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</a:t>
            </a:r>
            <a:r>
              <a:rPr lang="it-IT" sz="1600" dirty="0" err="1">
                <a:solidFill>
                  <a:srgbClr val="E3E6EB"/>
                </a:solidFill>
              </a:rPr>
              <a:t>proposal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90EA92A3-16AD-C239-77E8-44BF79ACE79F}"/>
              </a:ext>
            </a:extLst>
          </p:cNvPr>
          <p:cNvSpPr/>
          <p:nvPr/>
        </p:nvSpPr>
        <p:spPr>
          <a:xfrm>
            <a:off x="7341792" y="6282690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Challenges</a:t>
            </a:r>
          </a:p>
        </p:txBody>
      </p: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DF74C7B2-D747-914A-668F-89CC623D81DC}"/>
              </a:ext>
            </a:extLst>
          </p:cNvPr>
          <p:cNvGrpSpPr>
            <a:grpSpLocks noChangeAspect="1"/>
          </p:cNvGrpSpPr>
          <p:nvPr/>
        </p:nvGrpSpPr>
        <p:grpSpPr>
          <a:xfrm>
            <a:off x="4700588" y="1279982"/>
            <a:ext cx="2541335" cy="4498184"/>
            <a:chOff x="4644484" y="1231477"/>
            <a:chExt cx="2541335" cy="4498184"/>
          </a:xfrm>
        </p:grpSpPr>
        <p:pic>
          <p:nvPicPr>
            <p:cNvPr id="30" name="Immagine 29">
              <a:extLst>
                <a:ext uri="{FF2B5EF4-FFF2-40B4-BE49-F238E27FC236}">
                  <a16:creationId xmlns:a16="http://schemas.microsoft.com/office/drawing/2014/main" id="{C4EBB9E5-B5B0-517C-CDF8-164B68B40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6564" b="95367" l="9667" r="98667">
                          <a14:foregroundMark x1="79000" y1="6564" x2="74667" y2="18533"/>
                          <a14:foregroundMark x1="97667" y1="22780" x2="89333" y2="42278"/>
                          <a14:foregroundMark x1="9667" y1="86100" x2="9667" y2="86100"/>
                          <a14:foregroundMark x1="24000" y1="89768" x2="61667" y2="95367"/>
                          <a14:foregroundMark x1="50333" y1="16409" x2="44000" y2="33591"/>
                          <a14:foregroundMark x1="49000" y1="16409" x2="98667" y2="21042"/>
                          <a14:foregroundMark x1="98667" y1="21042" x2="98667" y2="21042"/>
                        </a14:backgroundRemoval>
                      </a14:imgEffect>
                    </a14:imgLayer>
                  </a14:imgProps>
                </a:ext>
              </a:extLst>
            </a:blip>
            <a:srcRect l="5167" t="1594" b="1241"/>
            <a:stretch>
              <a:fillRect/>
            </a:stretch>
          </p:blipFill>
          <p:spPr>
            <a:xfrm>
              <a:off x="4644484" y="1233700"/>
              <a:ext cx="2541335" cy="4495961"/>
            </a:xfrm>
            <a:prstGeom prst="rect">
              <a:avLst/>
            </a:prstGeom>
          </p:spPr>
        </p:pic>
        <p:sp>
          <p:nvSpPr>
            <p:cNvPr id="32" name="Ovale 31">
              <a:extLst>
                <a:ext uri="{FF2B5EF4-FFF2-40B4-BE49-F238E27FC236}">
                  <a16:creationId xmlns:a16="http://schemas.microsoft.com/office/drawing/2014/main" id="{8E0F4201-EEA1-F76D-4CE3-2A1CCB53FE7A}"/>
                </a:ext>
              </a:extLst>
            </p:cNvPr>
            <p:cNvSpPr/>
            <p:nvPr/>
          </p:nvSpPr>
          <p:spPr>
            <a:xfrm rot="703803">
              <a:off x="6258390" y="1231477"/>
              <a:ext cx="602982" cy="892493"/>
            </a:xfrm>
            <a:prstGeom prst="ellipse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3" name="Ovale 32">
              <a:extLst>
                <a:ext uri="{FF2B5EF4-FFF2-40B4-BE49-F238E27FC236}">
                  <a16:creationId xmlns:a16="http://schemas.microsoft.com/office/drawing/2014/main" id="{4A4DC460-D3AD-4DC0-2FBB-0731BCD3581C}"/>
                </a:ext>
              </a:extLst>
            </p:cNvPr>
            <p:cNvSpPr>
              <a:spLocks noChangeAspect="1"/>
            </p:cNvSpPr>
            <p:nvPr/>
          </p:nvSpPr>
          <p:spPr>
            <a:xfrm rot="703803">
              <a:off x="5284145" y="2983527"/>
              <a:ext cx="284406" cy="420958"/>
            </a:xfrm>
            <a:prstGeom prst="ellipse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4" name="Ovale 33">
              <a:extLst>
                <a:ext uri="{FF2B5EF4-FFF2-40B4-BE49-F238E27FC236}">
                  <a16:creationId xmlns:a16="http://schemas.microsoft.com/office/drawing/2014/main" id="{D5D41FBE-25A6-105B-9193-AE6F249262DE}"/>
                </a:ext>
              </a:extLst>
            </p:cNvPr>
            <p:cNvSpPr>
              <a:spLocks noChangeAspect="1"/>
            </p:cNvSpPr>
            <p:nvPr/>
          </p:nvSpPr>
          <p:spPr>
            <a:xfrm rot="703803">
              <a:off x="6705171" y="3276580"/>
              <a:ext cx="371622" cy="550049"/>
            </a:xfrm>
            <a:prstGeom prst="ellipse">
              <a:avLst/>
            </a:prstGeom>
            <a:noFill/>
            <a:ln w="5715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800D6D9F-78E4-F4B4-9AD0-B6B2A363A6A7}"/>
              </a:ext>
            </a:extLst>
          </p:cNvPr>
          <p:cNvCxnSpPr>
            <a:cxnSpLocks/>
            <a:stCxn id="36" idx="2"/>
          </p:cNvCxnSpPr>
          <p:nvPr/>
        </p:nvCxnSpPr>
        <p:spPr>
          <a:xfrm>
            <a:off x="2806672" y="2900512"/>
            <a:ext cx="2585591" cy="943944"/>
          </a:xfrm>
          <a:prstGeom prst="straightConnector1">
            <a:avLst/>
          </a:prstGeom>
          <a:ln w="57150">
            <a:solidFill>
              <a:srgbClr val="233D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50E579C4-C7F4-4BDF-C232-35EBAFB8569C}"/>
              </a:ext>
            </a:extLst>
          </p:cNvPr>
          <p:cNvSpPr/>
          <p:nvPr/>
        </p:nvSpPr>
        <p:spPr>
          <a:xfrm>
            <a:off x="763134" y="1526916"/>
            <a:ext cx="4087075" cy="1373596"/>
          </a:xfrm>
          <a:prstGeom prst="roundRect">
            <a:avLst/>
          </a:prstGeom>
          <a:noFill/>
          <a:ln w="57150">
            <a:solidFill>
              <a:srgbClr val="233D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</a:rPr>
              <a:t>Ensuring the stability of the cushion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fastening system,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rgbClr val="233D60"/>
                </a:solidFill>
              </a:rPr>
              <a:t>velcro</a:t>
            </a:r>
            <a:r>
              <a:rPr lang="en-US" sz="1600" dirty="0">
                <a:solidFill>
                  <a:schemeClr val="tx1"/>
                </a:solidFill>
              </a:rPr>
              <a:t> strips.</a:t>
            </a:r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B17D9924-2CDD-0934-F302-C6188A71D5A4}"/>
              </a:ext>
            </a:extLst>
          </p:cNvPr>
          <p:cNvSpPr/>
          <p:nvPr/>
        </p:nvSpPr>
        <p:spPr>
          <a:xfrm>
            <a:off x="8055296" y="2221836"/>
            <a:ext cx="3461789" cy="988108"/>
          </a:xfrm>
          <a:prstGeom prst="roundRect">
            <a:avLst/>
          </a:prstGeom>
          <a:noFill/>
          <a:ln w="57150">
            <a:solidFill>
              <a:srgbClr val="E3E6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n-US" sz="1600" dirty="0">
                <a:solidFill>
                  <a:schemeClr val="tx1"/>
                </a:solidFill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Cushion o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n the </a:t>
            </a:r>
            <a:r>
              <a:rPr lang="en-US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shoulder area</a:t>
            </a:r>
            <a:endParaRPr lang="it-IT" sz="1600" dirty="0">
              <a:solidFill>
                <a:schemeClr val="bg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093A918B-D89B-ABD8-4660-913FF514C573}"/>
              </a:ext>
            </a:extLst>
          </p:cNvPr>
          <p:cNvSpPr/>
          <p:nvPr/>
        </p:nvSpPr>
        <p:spPr>
          <a:xfrm>
            <a:off x="7592991" y="3703997"/>
            <a:ext cx="3446311" cy="768655"/>
          </a:xfrm>
          <a:prstGeom prst="roundRect">
            <a:avLst/>
          </a:prstGeom>
          <a:noFill/>
          <a:ln w="57150">
            <a:solidFill>
              <a:srgbClr val="E3E6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Cells o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n the </a:t>
            </a:r>
            <a:r>
              <a:rPr lang="en-US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backrest</a:t>
            </a:r>
            <a:endParaRPr lang="it-IT" sz="1600" dirty="0">
              <a:solidFill>
                <a:schemeClr val="bg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B9B51D1E-CDCB-4D31-7461-198A2BFD0B2D}"/>
              </a:ext>
            </a:extLst>
          </p:cNvPr>
          <p:cNvSpPr/>
          <p:nvPr/>
        </p:nvSpPr>
        <p:spPr>
          <a:xfrm>
            <a:off x="671016" y="4228101"/>
            <a:ext cx="3319931" cy="1096252"/>
          </a:xfrm>
          <a:prstGeom prst="roundRect">
            <a:avLst/>
          </a:prstGeom>
          <a:noFill/>
          <a:ln w="57150">
            <a:solidFill>
              <a:srgbClr val="E3E6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Cells on the </a:t>
            </a:r>
            <a:r>
              <a:rPr lang="en-US" sz="1600" b="1" dirty="0">
                <a:solidFill>
                  <a:srgbClr val="233D60"/>
                </a:solidFill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seat</a:t>
            </a:r>
            <a:endParaRPr lang="it-IT" sz="1600" dirty="0">
              <a:solidFill>
                <a:schemeClr val="bg1"/>
              </a:solidFill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40" name="Connettore 2 39">
            <a:extLst>
              <a:ext uri="{FF2B5EF4-FFF2-40B4-BE49-F238E27FC236}">
                <a16:creationId xmlns:a16="http://schemas.microsoft.com/office/drawing/2014/main" id="{73DB2D2C-12F4-80E8-A6B2-ADBEF2AEF214}"/>
              </a:ext>
            </a:extLst>
          </p:cNvPr>
          <p:cNvCxnSpPr>
            <a:cxnSpLocks/>
          </p:cNvCxnSpPr>
          <p:nvPr/>
        </p:nvCxnSpPr>
        <p:spPr>
          <a:xfrm>
            <a:off x="4006058" y="4821070"/>
            <a:ext cx="694530" cy="0"/>
          </a:xfrm>
          <a:prstGeom prst="straightConnector1">
            <a:avLst/>
          </a:prstGeom>
          <a:ln w="57150">
            <a:solidFill>
              <a:srgbClr val="E3E6E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2 40">
            <a:extLst>
              <a:ext uri="{FF2B5EF4-FFF2-40B4-BE49-F238E27FC236}">
                <a16:creationId xmlns:a16="http://schemas.microsoft.com/office/drawing/2014/main" id="{BBB8091E-19F3-C640-1B24-562840448636}"/>
              </a:ext>
            </a:extLst>
          </p:cNvPr>
          <p:cNvCxnSpPr>
            <a:cxnSpLocks/>
          </p:cNvCxnSpPr>
          <p:nvPr/>
        </p:nvCxnSpPr>
        <p:spPr>
          <a:xfrm flipH="1">
            <a:off x="6853084" y="4102688"/>
            <a:ext cx="739908" cy="0"/>
          </a:xfrm>
          <a:prstGeom prst="straightConnector1">
            <a:avLst/>
          </a:prstGeom>
          <a:ln w="57150">
            <a:solidFill>
              <a:srgbClr val="E3E6E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e 41">
            <a:extLst>
              <a:ext uri="{FF2B5EF4-FFF2-40B4-BE49-F238E27FC236}">
                <a16:creationId xmlns:a16="http://schemas.microsoft.com/office/drawing/2014/main" id="{BC970BA9-43C5-3585-7068-B66B761D87FF}"/>
              </a:ext>
            </a:extLst>
          </p:cNvPr>
          <p:cNvSpPr>
            <a:spLocks noChangeAspect="1"/>
          </p:cNvSpPr>
          <p:nvPr/>
        </p:nvSpPr>
        <p:spPr>
          <a:xfrm>
            <a:off x="3692706" y="4538689"/>
            <a:ext cx="592969" cy="592969"/>
          </a:xfrm>
          <a:prstGeom prst="ellipse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/>
              <a:t>11</a:t>
            </a:r>
          </a:p>
        </p:txBody>
      </p:sp>
      <p:sp>
        <p:nvSpPr>
          <p:cNvPr id="45" name="Ovale 44">
            <a:extLst>
              <a:ext uri="{FF2B5EF4-FFF2-40B4-BE49-F238E27FC236}">
                <a16:creationId xmlns:a16="http://schemas.microsoft.com/office/drawing/2014/main" id="{DCB5B1DB-B17E-FEA5-BB82-25E5F2A95841}"/>
              </a:ext>
            </a:extLst>
          </p:cNvPr>
          <p:cNvSpPr>
            <a:spLocks noChangeAspect="1"/>
          </p:cNvSpPr>
          <p:nvPr/>
        </p:nvSpPr>
        <p:spPr>
          <a:xfrm>
            <a:off x="10786163" y="3791839"/>
            <a:ext cx="592969" cy="592969"/>
          </a:xfrm>
          <a:prstGeom prst="ellipse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/>
              <a:t>6</a:t>
            </a:r>
          </a:p>
        </p:txBody>
      </p:sp>
      <p:cxnSp>
        <p:nvCxnSpPr>
          <p:cNvPr id="47" name="Connettore 2 46">
            <a:extLst>
              <a:ext uri="{FF2B5EF4-FFF2-40B4-BE49-F238E27FC236}">
                <a16:creationId xmlns:a16="http://schemas.microsoft.com/office/drawing/2014/main" id="{031B8483-62D4-A3B7-115E-97FF1DD6A4EB}"/>
              </a:ext>
            </a:extLst>
          </p:cNvPr>
          <p:cNvCxnSpPr>
            <a:cxnSpLocks/>
            <a:stCxn id="37" idx="1"/>
          </p:cNvCxnSpPr>
          <p:nvPr/>
        </p:nvCxnSpPr>
        <p:spPr>
          <a:xfrm flipH="1">
            <a:off x="7241923" y="2715890"/>
            <a:ext cx="813373" cy="0"/>
          </a:xfrm>
          <a:prstGeom prst="straightConnector1">
            <a:avLst/>
          </a:prstGeom>
          <a:ln w="57150">
            <a:solidFill>
              <a:srgbClr val="E3E6E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2 47">
            <a:extLst>
              <a:ext uri="{FF2B5EF4-FFF2-40B4-BE49-F238E27FC236}">
                <a16:creationId xmlns:a16="http://schemas.microsoft.com/office/drawing/2014/main" id="{EF70DED1-759D-9495-5FAC-3DF755F688C5}"/>
              </a:ext>
            </a:extLst>
          </p:cNvPr>
          <p:cNvCxnSpPr>
            <a:cxnSpLocks/>
          </p:cNvCxnSpPr>
          <p:nvPr/>
        </p:nvCxnSpPr>
        <p:spPr>
          <a:xfrm>
            <a:off x="4850209" y="1794295"/>
            <a:ext cx="1379858" cy="0"/>
          </a:xfrm>
          <a:prstGeom prst="straightConnector1">
            <a:avLst/>
          </a:prstGeom>
          <a:ln w="57150">
            <a:solidFill>
              <a:srgbClr val="233D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e 48">
            <a:extLst>
              <a:ext uri="{FF2B5EF4-FFF2-40B4-BE49-F238E27FC236}">
                <a16:creationId xmlns:a16="http://schemas.microsoft.com/office/drawing/2014/main" id="{96376BB8-FA23-7684-BA04-D7C307F9431B}"/>
              </a:ext>
            </a:extLst>
          </p:cNvPr>
          <p:cNvSpPr>
            <a:spLocks noChangeAspect="1"/>
          </p:cNvSpPr>
          <p:nvPr/>
        </p:nvSpPr>
        <p:spPr>
          <a:xfrm>
            <a:off x="11213109" y="2416874"/>
            <a:ext cx="592969" cy="592969"/>
          </a:xfrm>
          <a:prstGeom prst="ellipse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48130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28036-379B-C877-0BBD-F71BD32BD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 descr="Immagine che contiene arredo, design, letto&#10;&#10;Il contenuto generato dall'IA potrebbe non essere corretto.">
            <a:extLst>
              <a:ext uri="{FF2B5EF4-FFF2-40B4-BE49-F238E27FC236}">
                <a16:creationId xmlns:a16="http://schemas.microsoft.com/office/drawing/2014/main" id="{8AED667F-B1C3-20F8-BCF1-59C51D38C32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9" t="34515" r="-182" b="43778"/>
          <a:stretch/>
        </p:blipFill>
        <p:spPr bwMode="auto">
          <a:xfrm>
            <a:off x="4644485" y="205740"/>
            <a:ext cx="2903030" cy="107424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BEB8963-AD06-D604-6CCD-140E15C00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12</a:t>
            </a:fld>
            <a:endParaRPr lang="it-IT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84E7AA32-4035-BDE1-3417-1626A6380F43}"/>
              </a:ext>
            </a:extLst>
          </p:cNvPr>
          <p:cNvSpPr txBox="1">
            <a:spLocks/>
          </p:cNvSpPr>
          <p:nvPr/>
        </p:nvSpPr>
        <p:spPr>
          <a:xfrm>
            <a:off x="385921" y="312908"/>
            <a:ext cx="11420157" cy="5230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Cushion : cells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89970181-A836-F35B-FAD6-766F89ADFB0F}"/>
              </a:ext>
            </a:extLst>
          </p:cNvPr>
          <p:cNvSpPr/>
          <p:nvPr/>
        </p:nvSpPr>
        <p:spPr>
          <a:xfrm>
            <a:off x="204486" y="1310760"/>
            <a:ext cx="11783028" cy="6005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Flow Advance mattress 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sz="1600" dirty="0">
                <a:solidFill>
                  <a:schemeClr val="tx1"/>
                </a:solidFill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SolidWorks </a:t>
            </a:r>
            <a:r>
              <a:rPr lang="en-US" sz="1600" dirty="0">
                <a:solidFill>
                  <a:schemeClr val="tx1"/>
                </a:solidFill>
                <a:latin typeface="Manrope" charset="0"/>
                <a:ea typeface="Calibri" panose="020F050202020403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sz="1600" b="1" dirty="0">
                <a:solidFill>
                  <a:schemeClr val="tx2"/>
                </a:solidFill>
              </a:rPr>
              <a:t>17 air cells </a:t>
            </a:r>
            <a:r>
              <a:rPr lang="en-US" sz="1600" dirty="0">
                <a:solidFill>
                  <a:schemeClr val="tx1"/>
                </a:solidFill>
              </a:rPr>
              <a:t>in total, </a:t>
            </a:r>
            <a:r>
              <a:rPr lang="en-US" sz="1600" u="sng" dirty="0">
                <a:solidFill>
                  <a:schemeClr val="tx1"/>
                </a:solidFill>
              </a:rPr>
              <a:t>12 of which are dynamically controlled.</a:t>
            </a:r>
            <a:endParaRPr lang="it-IT" sz="1600" i="1" u="sng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9CCC0443-6A67-6750-24FF-76C97D306A50}"/>
              </a:ext>
            </a:extLst>
          </p:cNvPr>
          <p:cNvSpPr/>
          <p:nvPr/>
        </p:nvSpPr>
        <p:spPr>
          <a:xfrm>
            <a:off x="5006182" y="6038672"/>
            <a:ext cx="2179637" cy="509526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Project design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6285AD5-D355-11A9-2749-B93E9E7106D7}"/>
              </a:ext>
            </a:extLst>
          </p:cNvPr>
          <p:cNvSpPr/>
          <p:nvPr/>
        </p:nvSpPr>
        <p:spPr>
          <a:xfrm>
            <a:off x="9677401" y="6283881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Conclusion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54AC1AAA-C730-6A76-7286-E16A5B4E1BDD}"/>
              </a:ext>
            </a:extLst>
          </p:cNvPr>
          <p:cNvSpPr/>
          <p:nvPr/>
        </p:nvSpPr>
        <p:spPr>
          <a:xfrm>
            <a:off x="33496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Introduction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DD47DD8-DFCA-0133-4163-EE578D74E250}"/>
              </a:ext>
            </a:extLst>
          </p:cNvPr>
          <p:cNvSpPr/>
          <p:nvPr/>
        </p:nvSpPr>
        <p:spPr>
          <a:xfrm>
            <a:off x="267057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</a:t>
            </a:r>
            <a:r>
              <a:rPr lang="it-IT" sz="1600" dirty="0" err="1">
                <a:solidFill>
                  <a:srgbClr val="E3E6EB"/>
                </a:solidFill>
              </a:rPr>
              <a:t>proposal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E4D13F24-0486-AC4D-856A-BC4D1110FE5F}"/>
              </a:ext>
            </a:extLst>
          </p:cNvPr>
          <p:cNvSpPr/>
          <p:nvPr/>
        </p:nvSpPr>
        <p:spPr>
          <a:xfrm>
            <a:off x="7341792" y="6282690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Challenges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B7332D9-C2D2-8A4F-6E20-F60F3CFB140C}"/>
              </a:ext>
            </a:extLst>
          </p:cNvPr>
          <p:cNvSpPr txBox="1"/>
          <p:nvPr/>
        </p:nvSpPr>
        <p:spPr>
          <a:xfrm>
            <a:off x="334962" y="5823228"/>
            <a:ext cx="11522076" cy="18466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-US" sz="600" dirty="0">
                <a:solidFill>
                  <a:srgbClr val="21212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Robinson, J., </a:t>
            </a:r>
            <a:r>
              <a:rPr lang="en-US" sz="600" dirty="0" err="1">
                <a:solidFill>
                  <a:srgbClr val="21212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Shewalkar</a:t>
            </a:r>
            <a:r>
              <a:rPr lang="en-US" sz="600" dirty="0">
                <a:solidFill>
                  <a:srgbClr val="21212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, V., Rigo, I., Rock, A., Cinnamon, L., Chapman-Rienstra, D., Hong, J., Kim, J., &amp; </a:t>
            </a:r>
            <a:r>
              <a:rPr lang="en-US" sz="600" dirty="0" err="1">
                <a:solidFill>
                  <a:srgbClr val="21212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Golecki</a:t>
            </a:r>
            <a:r>
              <a:rPr lang="en-US" sz="600" dirty="0">
                <a:solidFill>
                  <a:srgbClr val="21212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, H. (2023). </a:t>
            </a:r>
            <a:r>
              <a:rPr lang="en-US" sz="600" i="1" dirty="0">
                <a:solidFill>
                  <a:srgbClr val="21212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DESIGN OF a CUSTOM SENSING AND ACTUATING CUSHION FOR USE IN PRESSURE RELIEF IN WHEELCHAIR USERS. 2017 </a:t>
            </a:r>
            <a:endParaRPr lang="it-IT" sz="600" i="1" dirty="0"/>
          </a:p>
        </p:txBody>
      </p:sp>
      <p:pic>
        <p:nvPicPr>
          <p:cNvPr id="44" name="Immagine 43" descr="Immagine che contiene design&#10;&#10;Il contenuto generato dall'IA potrebbe non essere corretto.">
            <a:extLst>
              <a:ext uri="{FF2B5EF4-FFF2-40B4-BE49-F238E27FC236}">
                <a16:creationId xmlns:a16="http://schemas.microsoft.com/office/drawing/2014/main" id="{F0A79555-9D88-3943-D587-02DC9D542D2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964" b="89080" l="4303" r="90189">
                        <a14:foregroundMark x1="20654" y1="69735" x2="21515" y2="76443"/>
                        <a14:foregroundMark x1="18072" y1="68487" x2="14114" y2="80499"/>
                        <a14:foregroundMark x1="14114" y1="80499" x2="51291" y2="85491"/>
                        <a14:foregroundMark x1="44750" y1="84555" x2="23752" y2="89392"/>
                        <a14:foregroundMark x1="23752" y1="89392" x2="4303" y2="81747"/>
                        <a14:foregroundMark x1="4303" y1="81747" x2="19277" y2="66771"/>
                        <a14:foregroundMark x1="19277" y1="66771" x2="30293" y2="68487"/>
                        <a14:foregroundMark x1="18417" y1="84243" x2="39071" y2="87676"/>
                        <a14:foregroundMark x1="39071" y1="87676" x2="41480" y2="89080"/>
                        <a14:foregroundMark x1="56799" y1="5772" x2="57831" y2="19813"/>
                        <a14:foregroundMark x1="57831" y1="19813" x2="72461" y2="17629"/>
                        <a14:foregroundMark x1="72461" y1="17629" x2="58520" y2="5616"/>
                        <a14:foregroundMark x1="58520" y1="5616" x2="54561" y2="4212"/>
                        <a14:foregroundMark x1="81411" y1="43214" x2="78657" y2="58034"/>
                        <a14:foregroundMark x1="78657" y1="58034" x2="75904" y2="59126"/>
                        <a14:foregroundMark x1="84509" y1="41654" x2="77797" y2="53510"/>
                        <a14:foregroundMark x1="88468" y1="45554" x2="88468" y2="45554"/>
                        <a14:foregroundMark x1="88468" y1="46022" x2="88468" y2="46022"/>
                        <a14:foregroundMark x1="88468" y1="46022" x2="88468" y2="46022"/>
                        <a14:foregroundMark x1="90189" y1="45710" x2="90189" y2="45710"/>
                        <a14:foregroundMark x1="90189" y1="45710" x2="90189" y2="45710"/>
                        <a14:foregroundMark x1="90189" y1="45710" x2="90189" y2="45710"/>
                        <a14:foregroundMark x1="90189" y1="45710" x2="71601" y2="68019"/>
                        <a14:foregroundMark x1="71601" y1="68019" x2="50947" y2="7441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299" t="4152" r="7619" b="8997"/>
          <a:stretch/>
        </p:blipFill>
        <p:spPr bwMode="auto">
          <a:xfrm>
            <a:off x="4288238" y="1911301"/>
            <a:ext cx="3319930" cy="382870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6B16E79B-0066-7FDE-97DB-44FD6432AB3C}"/>
              </a:ext>
            </a:extLst>
          </p:cNvPr>
          <p:cNvSpPr/>
          <p:nvPr/>
        </p:nvSpPr>
        <p:spPr>
          <a:xfrm>
            <a:off x="8055296" y="2221836"/>
            <a:ext cx="3461789" cy="988108"/>
          </a:xfrm>
          <a:prstGeom prst="roundRect">
            <a:avLst/>
          </a:prstGeom>
          <a:noFill/>
          <a:ln w="57150">
            <a:solidFill>
              <a:srgbClr val="E3E6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5000"/>
              </a:lnSpc>
              <a:spcAft>
                <a:spcPts val="500"/>
              </a:spcAft>
            </a:pPr>
            <a:r>
              <a:rPr lang="en-US" sz="1600" dirty="0">
                <a:solidFill>
                  <a:schemeClr val="tx1"/>
                </a:solidFill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Cushion o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n the </a:t>
            </a:r>
            <a:r>
              <a:rPr lang="en-US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shoulder area</a:t>
            </a:r>
            <a:r>
              <a:rPr lang="en-US" sz="1600" b="1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</a:p>
          <a:p>
            <a:pPr marL="285750" indent="-285750" algn="just">
              <a:lnSpc>
                <a:spcPct val="11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u="sng" dirty="0">
                <a:solidFill>
                  <a:schemeClr val="tx1"/>
                </a:solidFill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one</a:t>
            </a:r>
            <a:r>
              <a:rPr lang="en-US" sz="1600" b="1" dirty="0">
                <a:solidFill>
                  <a:schemeClr val="tx1"/>
                </a:solidFill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600" i="1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without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 air cells.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0867BE1E-4496-BF93-CD6F-7EBCFB0411DE}"/>
              </a:ext>
            </a:extLst>
          </p:cNvPr>
          <p:cNvSpPr/>
          <p:nvPr/>
        </p:nvSpPr>
        <p:spPr>
          <a:xfrm>
            <a:off x="7592991" y="3463469"/>
            <a:ext cx="3446311" cy="2083772"/>
          </a:xfrm>
          <a:prstGeom prst="roundRect">
            <a:avLst/>
          </a:prstGeom>
          <a:noFill/>
          <a:ln w="57150">
            <a:solidFill>
              <a:srgbClr val="233D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Cells o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n the </a:t>
            </a:r>
            <a:r>
              <a:rPr lang="en-US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backrest</a:t>
            </a:r>
            <a:r>
              <a:rPr lang="en-US" sz="1600" b="1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u="sng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two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 lateral semicylindrical, </a:t>
            </a:r>
            <a:b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1600" i="1" dirty="0">
                <a:solidFill>
                  <a:schemeClr val="tx1"/>
                </a:solidFill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not</a:t>
            </a:r>
            <a:r>
              <a:rPr lang="en-US" sz="1600" dirty="0">
                <a:solidFill>
                  <a:schemeClr val="tx1"/>
                </a:solidFill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 dynamically controlled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; </a:t>
            </a:r>
            <a:endParaRPr lang="it-IT" sz="1600" dirty="0">
              <a:solidFill>
                <a:schemeClr val="tx1"/>
              </a:solidFill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u="sng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four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 central semicylindrical, </a:t>
            </a:r>
            <a:r>
              <a:rPr lang="en-US" sz="1600" dirty="0">
                <a:solidFill>
                  <a:schemeClr val="tx1"/>
                </a:solidFill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dynamically controlled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7D01866E-B2E6-874E-2A96-8D9FC05E8283}"/>
              </a:ext>
            </a:extLst>
          </p:cNvPr>
          <p:cNvSpPr/>
          <p:nvPr/>
        </p:nvSpPr>
        <p:spPr>
          <a:xfrm>
            <a:off x="671016" y="2224280"/>
            <a:ext cx="3319931" cy="3100073"/>
          </a:xfrm>
          <a:prstGeom prst="roundRect">
            <a:avLst/>
          </a:prstGeom>
          <a:noFill/>
          <a:ln w="57150">
            <a:solidFill>
              <a:srgbClr val="233D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Cells on the </a:t>
            </a:r>
            <a:r>
              <a:rPr lang="en-US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seat</a:t>
            </a:r>
            <a:r>
              <a:rPr lang="en-US" sz="1600" b="1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u="sng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two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 lateral semicylindrical </a:t>
            </a:r>
            <a:r>
              <a:rPr lang="en-US" sz="1600" i="1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not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 dynamically controlled;</a:t>
            </a:r>
            <a:endParaRPr lang="it-IT" sz="1600" dirty="0">
              <a:solidFill>
                <a:schemeClr val="tx1"/>
              </a:solidFill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u="sng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one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 rectangular static;</a:t>
            </a:r>
            <a:endParaRPr lang="it-IT" sz="1600" dirty="0">
              <a:solidFill>
                <a:schemeClr val="tx1"/>
              </a:solidFill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u="sng" dirty="0">
                <a:solidFill>
                  <a:schemeClr val="tx1"/>
                </a:solidFill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s</a:t>
            </a:r>
            <a:r>
              <a:rPr lang="en-US" sz="1600" u="sng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ix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 rear elliptical dynamically controlled;</a:t>
            </a:r>
            <a:endParaRPr lang="it-IT" sz="1600" dirty="0">
              <a:solidFill>
                <a:schemeClr val="tx1"/>
              </a:solidFill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1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u="sng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two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 anterior circular dynamically controlled.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48" name="Connettore 2 47">
            <a:extLst>
              <a:ext uri="{FF2B5EF4-FFF2-40B4-BE49-F238E27FC236}">
                <a16:creationId xmlns:a16="http://schemas.microsoft.com/office/drawing/2014/main" id="{1202EE25-1FA8-E8C7-2E2B-701659F699DE}"/>
              </a:ext>
            </a:extLst>
          </p:cNvPr>
          <p:cNvCxnSpPr>
            <a:cxnSpLocks/>
          </p:cNvCxnSpPr>
          <p:nvPr/>
        </p:nvCxnSpPr>
        <p:spPr>
          <a:xfrm>
            <a:off x="3993510" y="4559458"/>
            <a:ext cx="694530" cy="0"/>
          </a:xfrm>
          <a:prstGeom prst="straightConnector1">
            <a:avLst/>
          </a:prstGeom>
          <a:ln w="57150">
            <a:solidFill>
              <a:srgbClr val="233D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24B856DE-C38E-BAF0-F434-CA3F172BF131}"/>
              </a:ext>
            </a:extLst>
          </p:cNvPr>
          <p:cNvCxnSpPr>
            <a:cxnSpLocks/>
          </p:cNvCxnSpPr>
          <p:nvPr/>
        </p:nvCxnSpPr>
        <p:spPr>
          <a:xfrm flipH="1">
            <a:off x="6906491" y="4102688"/>
            <a:ext cx="686501" cy="0"/>
          </a:xfrm>
          <a:prstGeom prst="straightConnector1">
            <a:avLst/>
          </a:prstGeom>
          <a:ln w="57150">
            <a:solidFill>
              <a:srgbClr val="233D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e 49">
            <a:extLst>
              <a:ext uri="{FF2B5EF4-FFF2-40B4-BE49-F238E27FC236}">
                <a16:creationId xmlns:a16="http://schemas.microsoft.com/office/drawing/2014/main" id="{68B9DA90-5512-E76F-407E-F2BEE1828BCF}"/>
              </a:ext>
            </a:extLst>
          </p:cNvPr>
          <p:cNvSpPr>
            <a:spLocks noChangeAspect="1"/>
          </p:cNvSpPr>
          <p:nvPr/>
        </p:nvSpPr>
        <p:spPr>
          <a:xfrm>
            <a:off x="11213109" y="2416874"/>
            <a:ext cx="592969" cy="592969"/>
          </a:xfrm>
          <a:prstGeom prst="ellipse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/>
              <a:t>1</a:t>
            </a:r>
          </a:p>
        </p:txBody>
      </p:sp>
      <p:sp>
        <p:nvSpPr>
          <p:cNvPr id="51" name="Ovale 50">
            <a:extLst>
              <a:ext uri="{FF2B5EF4-FFF2-40B4-BE49-F238E27FC236}">
                <a16:creationId xmlns:a16="http://schemas.microsoft.com/office/drawing/2014/main" id="{20EDD8B7-BB13-350F-D7D7-548583934F87}"/>
              </a:ext>
            </a:extLst>
          </p:cNvPr>
          <p:cNvSpPr>
            <a:spLocks noChangeAspect="1"/>
          </p:cNvSpPr>
          <p:nvPr/>
        </p:nvSpPr>
        <p:spPr>
          <a:xfrm>
            <a:off x="3692706" y="3334604"/>
            <a:ext cx="592969" cy="592969"/>
          </a:xfrm>
          <a:prstGeom prst="ellipse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/>
              <a:t>11</a:t>
            </a:r>
          </a:p>
        </p:txBody>
      </p:sp>
      <p:sp>
        <p:nvSpPr>
          <p:cNvPr id="52" name="Ovale 51">
            <a:extLst>
              <a:ext uri="{FF2B5EF4-FFF2-40B4-BE49-F238E27FC236}">
                <a16:creationId xmlns:a16="http://schemas.microsoft.com/office/drawing/2014/main" id="{2968A5D9-0DB4-0356-C648-3E939523919F}"/>
              </a:ext>
            </a:extLst>
          </p:cNvPr>
          <p:cNvSpPr>
            <a:spLocks noChangeAspect="1"/>
          </p:cNvSpPr>
          <p:nvPr/>
        </p:nvSpPr>
        <p:spPr>
          <a:xfrm>
            <a:off x="10771716" y="4228101"/>
            <a:ext cx="592969" cy="592969"/>
          </a:xfrm>
          <a:prstGeom prst="ellipse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b="1" dirty="0"/>
              <a:t>6</a:t>
            </a:r>
          </a:p>
        </p:txBody>
      </p:sp>
      <p:cxnSp>
        <p:nvCxnSpPr>
          <p:cNvPr id="53" name="Connettore 2 52">
            <a:extLst>
              <a:ext uri="{FF2B5EF4-FFF2-40B4-BE49-F238E27FC236}">
                <a16:creationId xmlns:a16="http://schemas.microsoft.com/office/drawing/2014/main" id="{0F674E3E-7F99-25F6-1B3B-55B69E2EB59D}"/>
              </a:ext>
            </a:extLst>
          </p:cNvPr>
          <p:cNvCxnSpPr>
            <a:cxnSpLocks/>
          </p:cNvCxnSpPr>
          <p:nvPr/>
        </p:nvCxnSpPr>
        <p:spPr>
          <a:xfrm flipH="1">
            <a:off x="7547515" y="2715890"/>
            <a:ext cx="507781" cy="0"/>
          </a:xfrm>
          <a:prstGeom prst="straightConnector1">
            <a:avLst/>
          </a:prstGeom>
          <a:ln w="57150">
            <a:solidFill>
              <a:srgbClr val="E3E6E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0875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1DBC7-6975-2E29-8D80-CB1754115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po 22">
            <a:extLst>
              <a:ext uri="{FF2B5EF4-FFF2-40B4-BE49-F238E27FC236}">
                <a16:creationId xmlns:a16="http://schemas.microsoft.com/office/drawing/2014/main" id="{32C02A56-C045-B9DD-667F-F88298B39281}"/>
              </a:ext>
            </a:extLst>
          </p:cNvPr>
          <p:cNvGrpSpPr/>
          <p:nvPr/>
        </p:nvGrpSpPr>
        <p:grpSpPr>
          <a:xfrm>
            <a:off x="955433" y="1502939"/>
            <a:ext cx="10538228" cy="2610577"/>
            <a:chOff x="955433" y="1341188"/>
            <a:chExt cx="10538228" cy="2610577"/>
          </a:xfrm>
        </p:grpSpPr>
        <p:sp>
          <p:nvSpPr>
            <p:cNvPr id="24" name="Ovale 23">
              <a:extLst>
                <a:ext uri="{FF2B5EF4-FFF2-40B4-BE49-F238E27FC236}">
                  <a16:creationId xmlns:a16="http://schemas.microsoft.com/office/drawing/2014/main" id="{609C3AC7-63EC-F3DE-668A-AF05229D65FB}"/>
                </a:ext>
              </a:extLst>
            </p:cNvPr>
            <p:cNvSpPr/>
            <p:nvPr/>
          </p:nvSpPr>
          <p:spPr>
            <a:xfrm>
              <a:off x="1345610" y="1497209"/>
              <a:ext cx="9205185" cy="2454556"/>
            </a:xfrm>
            <a:prstGeom prst="ellipse">
              <a:avLst/>
            </a:prstGeom>
            <a:noFill/>
            <a:ln w="57150">
              <a:solidFill>
                <a:srgbClr val="E3E6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600"/>
            </a:p>
          </p:txBody>
        </p:sp>
        <p:sp>
          <p:nvSpPr>
            <p:cNvPr id="25" name="Rettangolo 24">
              <a:extLst>
                <a:ext uri="{FF2B5EF4-FFF2-40B4-BE49-F238E27FC236}">
                  <a16:creationId xmlns:a16="http://schemas.microsoft.com/office/drawing/2014/main" id="{1DCA8CCC-839C-4D98-EBFD-2E820F46DA7A}"/>
                </a:ext>
              </a:extLst>
            </p:cNvPr>
            <p:cNvSpPr/>
            <p:nvPr/>
          </p:nvSpPr>
          <p:spPr>
            <a:xfrm>
              <a:off x="955433" y="1341188"/>
              <a:ext cx="10538228" cy="11392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600"/>
            </a:p>
          </p:txBody>
        </p:sp>
      </p:grpSp>
      <p:pic>
        <p:nvPicPr>
          <p:cNvPr id="2" name="Immagine 1" descr="Immagine che contiene arredo, design, letto&#10;&#10;Il contenuto generato dall'IA potrebbe non essere corretto.">
            <a:extLst>
              <a:ext uri="{FF2B5EF4-FFF2-40B4-BE49-F238E27FC236}">
                <a16:creationId xmlns:a16="http://schemas.microsoft.com/office/drawing/2014/main" id="{F1D8B82D-FF8A-7F3F-D370-74B60A781BF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9" t="34515" r="-182" b="43778"/>
          <a:stretch/>
        </p:blipFill>
        <p:spPr bwMode="auto">
          <a:xfrm>
            <a:off x="4644485" y="205740"/>
            <a:ext cx="2903030" cy="107424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3D1466-CE5D-6B2D-39EC-8F5F2FDC1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13</a:t>
            </a:fld>
            <a:endParaRPr lang="it-IT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A428770B-87AD-4B48-5E7B-38E8D5C0FF58}"/>
              </a:ext>
            </a:extLst>
          </p:cNvPr>
          <p:cNvSpPr txBox="1">
            <a:spLocks/>
          </p:cNvSpPr>
          <p:nvPr/>
        </p:nvSpPr>
        <p:spPr>
          <a:xfrm>
            <a:off x="385921" y="312908"/>
            <a:ext cx="11420157" cy="5230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Cushion: material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8FD4B01-CF65-9C63-7342-1DEE914B057E}"/>
              </a:ext>
            </a:extLst>
          </p:cNvPr>
          <p:cNvSpPr/>
          <p:nvPr/>
        </p:nvSpPr>
        <p:spPr>
          <a:xfrm>
            <a:off x="5006182" y="6038672"/>
            <a:ext cx="2179637" cy="509526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Project design</a:t>
            </a: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522BA420-908F-987E-7266-5C49AAFE6B3B}"/>
              </a:ext>
            </a:extLst>
          </p:cNvPr>
          <p:cNvSpPr/>
          <p:nvPr/>
        </p:nvSpPr>
        <p:spPr>
          <a:xfrm>
            <a:off x="9677401" y="6283881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Conclusion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66D3F068-A08B-0DB5-09CC-6745423BB96A}"/>
              </a:ext>
            </a:extLst>
          </p:cNvPr>
          <p:cNvSpPr/>
          <p:nvPr/>
        </p:nvSpPr>
        <p:spPr>
          <a:xfrm>
            <a:off x="33496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Introduction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2FB37A7D-1B49-F664-5BB5-3546C6D630FB}"/>
              </a:ext>
            </a:extLst>
          </p:cNvPr>
          <p:cNvSpPr/>
          <p:nvPr/>
        </p:nvSpPr>
        <p:spPr>
          <a:xfrm>
            <a:off x="267057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</a:t>
            </a:r>
            <a:r>
              <a:rPr lang="it-IT" sz="1600" dirty="0" err="1">
                <a:solidFill>
                  <a:srgbClr val="E3E6EB"/>
                </a:solidFill>
              </a:rPr>
              <a:t>proposal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B063D73D-4884-CAFA-7495-729882833093}"/>
              </a:ext>
            </a:extLst>
          </p:cNvPr>
          <p:cNvSpPr/>
          <p:nvPr/>
        </p:nvSpPr>
        <p:spPr>
          <a:xfrm>
            <a:off x="7341792" y="6282690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Challenges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196E82F-CB6C-98A5-1CE8-0B3C4D9D09DB}"/>
              </a:ext>
            </a:extLst>
          </p:cNvPr>
          <p:cNvSpPr txBox="1"/>
          <p:nvPr/>
        </p:nvSpPr>
        <p:spPr>
          <a:xfrm>
            <a:off x="334961" y="5560016"/>
            <a:ext cx="11522076" cy="493468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>
              <a:lnSpc>
                <a:spcPct val="150000"/>
              </a:lnSpc>
            </a:pPr>
            <a:r>
              <a:rPr lang="en-US" sz="600" i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Flow advance : Sistema </a:t>
            </a:r>
            <a:r>
              <a:rPr lang="en-US" sz="600" i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Antidecubito</a:t>
            </a:r>
            <a:r>
              <a:rPr lang="en-US" sz="600" i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600" i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dinamico</a:t>
            </a:r>
            <a:r>
              <a:rPr lang="en-US" sz="6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 (2023) </a:t>
            </a:r>
            <a:r>
              <a:rPr lang="en-US" sz="600" i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Service Med</a:t>
            </a:r>
            <a:r>
              <a:rPr lang="en-US" sz="6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. Available at: </a:t>
            </a:r>
            <a:r>
              <a:rPr lang="en-US" sz="600" u="sng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https://www.servicemed.it/prodotti/sistemi-antidecubito-attivi-ad-aria/flow-advance</a:t>
            </a:r>
            <a:endParaRPr lang="en-US" sz="600" u="sng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600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Sartorato</a:t>
            </a:r>
            <a:r>
              <a:rPr lang="en-US" sz="6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, G. (2022) </a:t>
            </a:r>
            <a:r>
              <a:rPr lang="en-US" sz="600" i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Sistema </a:t>
            </a:r>
            <a:r>
              <a:rPr lang="en-US" sz="600" i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antidecubito</a:t>
            </a:r>
            <a:r>
              <a:rPr lang="en-US" sz="600" i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 AD Altissimo </a:t>
            </a:r>
            <a:r>
              <a:rPr lang="en-US" sz="600" i="1" dirty="0" err="1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Rischio</a:t>
            </a:r>
            <a:r>
              <a:rPr lang="en-US" sz="600" i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 flow advance</a:t>
            </a:r>
            <a:r>
              <a:rPr lang="en-US" sz="6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600" i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Nurse24.it</a:t>
            </a:r>
            <a:r>
              <a:rPr lang="en-US" sz="6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. Available at: </a:t>
            </a:r>
            <a:r>
              <a:rPr lang="en-US" sz="600" u="sng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https://www.nurse24.it/dossier/wound-care/sistema-antidecubito-flow-advance-ad-altissim</a:t>
            </a:r>
            <a:endParaRPr lang="en-US" sz="600" u="sng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it-IT" sz="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Euro Ausili S.r.l. (</a:t>
            </a:r>
            <a:r>
              <a:rPr lang="it-IT" sz="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n.d.</a:t>
            </a:r>
            <a:r>
              <a:rPr lang="it-IT" sz="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). Genius: Low </a:t>
            </a:r>
            <a:r>
              <a:rPr lang="it-IT" sz="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continuous</a:t>
            </a:r>
            <a:r>
              <a:rPr lang="it-IT" sz="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pressure </a:t>
            </a:r>
            <a:r>
              <a:rPr lang="it-IT" sz="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antidecubitus</a:t>
            </a:r>
            <a:r>
              <a:rPr lang="it-IT" sz="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system with 3 </a:t>
            </a:r>
            <a:r>
              <a:rPr lang="it-IT" sz="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differentiated</a:t>
            </a:r>
            <a:r>
              <a:rPr lang="it-IT" sz="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zones [Brochure]. </a:t>
            </a:r>
            <a:r>
              <a:rPr lang="it-IT" sz="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Available</a:t>
            </a:r>
            <a:r>
              <a:rPr lang="it-IT" sz="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it-IT" sz="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at</a:t>
            </a:r>
            <a:r>
              <a:rPr lang="it-IT" sz="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it-IT" sz="600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https://www.euroausili.it/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F649D4A2-8BD7-F136-F3CD-9BD70C66592D}"/>
              </a:ext>
            </a:extLst>
          </p:cNvPr>
          <p:cNvSpPr/>
          <p:nvPr/>
        </p:nvSpPr>
        <p:spPr>
          <a:xfrm>
            <a:off x="334963" y="1304259"/>
            <a:ext cx="11326096" cy="7735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Based on the description of the Flow Advance system.</a:t>
            </a:r>
            <a:endParaRPr lang="it-IT" sz="1400" b="1" i="1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875E3AD1-8717-D1A8-553E-F975DE9C9778}"/>
              </a:ext>
            </a:extLst>
          </p:cNvPr>
          <p:cNvSpPr/>
          <p:nvPr/>
        </p:nvSpPr>
        <p:spPr>
          <a:xfrm>
            <a:off x="692184" y="2563007"/>
            <a:ext cx="1816260" cy="597626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E3E6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33D60"/>
                </a:solidFill>
              </a:rPr>
              <a:t>elastic</a:t>
            </a:r>
            <a:endParaRPr lang="it-IT" sz="1600" b="1" i="1" dirty="0">
              <a:solidFill>
                <a:srgbClr val="233D60"/>
              </a:solidFill>
              <a:sym typeface="Wingdings" panose="05000000000000000000" pitchFamily="2" charset="2"/>
            </a:endParaRP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E610DDF5-CEE4-EF73-56EA-CAF5E8EF852D}"/>
              </a:ext>
            </a:extLst>
          </p:cNvPr>
          <p:cNvSpPr/>
          <p:nvPr/>
        </p:nvSpPr>
        <p:spPr>
          <a:xfrm>
            <a:off x="3213631" y="3721575"/>
            <a:ext cx="1816259" cy="597626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E3E6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33D60"/>
                </a:solidFill>
              </a:rPr>
              <a:t>resistant</a:t>
            </a:r>
            <a:endParaRPr lang="it-IT" sz="1600" b="1" i="1" dirty="0">
              <a:solidFill>
                <a:srgbClr val="233D60"/>
              </a:solidFill>
              <a:sym typeface="Wingdings" panose="05000000000000000000" pitchFamily="2" charset="2"/>
            </a:endParaRP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5E65E3BD-3E8D-12E2-002A-75D5E5888ADA}"/>
              </a:ext>
            </a:extLst>
          </p:cNvPr>
          <p:cNvSpPr/>
          <p:nvPr/>
        </p:nvSpPr>
        <p:spPr>
          <a:xfrm>
            <a:off x="9420307" y="2542898"/>
            <a:ext cx="1816260" cy="597627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E3E6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33D60"/>
                </a:solidFill>
              </a:rPr>
              <a:t>biocompatible</a:t>
            </a:r>
            <a:endParaRPr lang="it-IT" sz="1600" b="1" i="1" dirty="0">
              <a:solidFill>
                <a:srgbClr val="233D60"/>
              </a:solidFill>
              <a:sym typeface="Wingdings" panose="05000000000000000000" pitchFamily="2" charset="2"/>
            </a:endParaRP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9E2C8F66-BBCA-ABD9-ACA4-5F0D2B706BCD}"/>
              </a:ext>
            </a:extLst>
          </p:cNvPr>
          <p:cNvSpPr/>
          <p:nvPr/>
        </p:nvSpPr>
        <p:spPr>
          <a:xfrm>
            <a:off x="7162108" y="3610736"/>
            <a:ext cx="1816260" cy="808135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E3E6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1600" b="1" dirty="0">
                <a:solidFill>
                  <a:srgbClr val="233D60"/>
                </a:solidFill>
              </a:rPr>
              <a:t>welding techniques</a:t>
            </a:r>
            <a:endParaRPr lang="it-IT" sz="1600" b="1" i="1" dirty="0">
              <a:solidFill>
                <a:srgbClr val="233D60"/>
              </a:solidFill>
              <a:sym typeface="Wingdings" panose="05000000000000000000" pitchFamily="2" charset="2"/>
            </a:endParaRP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959F1749-8D4F-04E9-3727-34498FACA0E8}"/>
              </a:ext>
            </a:extLst>
          </p:cNvPr>
          <p:cNvSpPr/>
          <p:nvPr/>
        </p:nvSpPr>
        <p:spPr>
          <a:xfrm>
            <a:off x="4121761" y="2182509"/>
            <a:ext cx="3948477" cy="963703"/>
          </a:xfrm>
          <a:prstGeom prst="roundRect">
            <a:avLst/>
          </a:prstGeom>
          <a:solidFill>
            <a:srgbClr val="E3E6EB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POLYURETHANE FIBER (PU) </a:t>
            </a:r>
            <a:br>
              <a:rPr lang="en-US" sz="1600" dirty="0">
                <a:solidFill>
                  <a:srgbClr val="233D60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0.2 mm and 0.5 mm </a:t>
            </a:r>
            <a:r>
              <a:rPr lang="en-US" sz="1600" dirty="0">
                <a:solidFill>
                  <a:schemeClr val="tx1"/>
                </a:solidFill>
              </a:rPr>
              <a:t>thickness)</a:t>
            </a:r>
            <a:endParaRPr lang="it-IT" sz="1600" b="1" i="1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604C6B1B-55E6-A207-5278-0F87CE597472}"/>
              </a:ext>
            </a:extLst>
          </p:cNvPr>
          <p:cNvSpPr/>
          <p:nvPr/>
        </p:nvSpPr>
        <p:spPr>
          <a:xfrm>
            <a:off x="334963" y="4688879"/>
            <a:ext cx="11522076" cy="7554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Each cell has an integrated fitting that connects the chamber to the pneumatic tubing.</a:t>
            </a:r>
            <a:endParaRPr lang="it-IT" sz="1600" b="1" i="1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82911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530F7-8DBE-758A-B344-F21B4181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 descr="Immagine che contiene arredo, design, letto&#10;&#10;Il contenuto generato dall'IA potrebbe non essere corretto.">
            <a:extLst>
              <a:ext uri="{FF2B5EF4-FFF2-40B4-BE49-F238E27FC236}">
                <a16:creationId xmlns:a16="http://schemas.microsoft.com/office/drawing/2014/main" id="{5E8DFE1A-24E1-3676-293F-BF5C048F7D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7" t="14362" b="69183"/>
          <a:stretch/>
        </p:blipFill>
        <p:spPr bwMode="auto">
          <a:xfrm>
            <a:off x="4644485" y="265639"/>
            <a:ext cx="2903030" cy="81433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2DA6BE1-FD0B-2DBB-62EA-6B23668E7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14</a:t>
            </a:fld>
            <a:endParaRPr lang="it-IT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17C8078E-D2E9-3CBC-0718-A5CE33473D86}"/>
              </a:ext>
            </a:extLst>
          </p:cNvPr>
          <p:cNvSpPr txBox="1">
            <a:spLocks/>
          </p:cNvSpPr>
          <p:nvPr/>
        </p:nvSpPr>
        <p:spPr>
          <a:xfrm>
            <a:off x="385921" y="312908"/>
            <a:ext cx="11420157" cy="5230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Pressure sensitive MAT: sensors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D883E770-30DB-B3BF-01AA-2FD13EBD9E81}"/>
              </a:ext>
            </a:extLst>
          </p:cNvPr>
          <p:cNvSpPr/>
          <p:nvPr/>
        </p:nvSpPr>
        <p:spPr>
          <a:xfrm>
            <a:off x="334962" y="1109179"/>
            <a:ext cx="11522075" cy="9712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it-IT" sz="1600" u="sng" dirty="0">
                <a:solidFill>
                  <a:schemeClr val="tx1"/>
                </a:solidFill>
              </a:rPr>
              <a:t>Two</a:t>
            </a:r>
            <a:r>
              <a:rPr lang="it-IT" sz="1600" dirty="0">
                <a:solidFill>
                  <a:schemeClr val="tx1"/>
                </a:solidFill>
              </a:rPr>
              <a:t> </a:t>
            </a:r>
            <a:r>
              <a:rPr lang="it-IT" sz="1600" dirty="0" err="1">
                <a:solidFill>
                  <a:schemeClr val="tx1"/>
                </a:solidFill>
              </a:rPr>
              <a:t>sensor</a:t>
            </a:r>
            <a:r>
              <a:rPr lang="it-IT" sz="1600" dirty="0">
                <a:solidFill>
                  <a:schemeClr val="tx1"/>
                </a:solidFill>
              </a:rPr>
              <a:t> </a:t>
            </a:r>
            <a:r>
              <a:rPr lang="it-IT" sz="1600" dirty="0" err="1">
                <a:solidFill>
                  <a:schemeClr val="tx1"/>
                </a:solidFill>
              </a:rPr>
              <a:t>mats</a:t>
            </a:r>
            <a:r>
              <a:rPr lang="it-IT" sz="1600" dirty="0">
                <a:solidFill>
                  <a:schemeClr val="tx1"/>
                </a:solidFill>
              </a:rPr>
              <a:t>: </a:t>
            </a:r>
            <a:r>
              <a:rPr lang="en-US" sz="1600" b="1" dirty="0" err="1">
                <a:solidFill>
                  <a:srgbClr val="233D60"/>
                </a:solidFill>
              </a:rPr>
              <a:t>Tekscan</a:t>
            </a:r>
            <a:r>
              <a:rPr lang="en-US" sz="1600" b="1" dirty="0">
                <a:solidFill>
                  <a:srgbClr val="233D60"/>
                </a:solidFill>
              </a:rPr>
              <a:t> </a:t>
            </a:r>
            <a:r>
              <a:rPr lang="en-US" sz="1600" b="1" dirty="0" err="1">
                <a:solidFill>
                  <a:srgbClr val="233D60"/>
                </a:solidFill>
              </a:rPr>
              <a:t>CONFORMat</a:t>
            </a:r>
            <a:r>
              <a:rPr lang="en-US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™</a:t>
            </a:r>
            <a:r>
              <a:rPr lang="en-US" sz="1600" b="1" dirty="0">
                <a:solidFill>
                  <a:srgbClr val="233D60"/>
                </a:solidFill>
              </a:rPr>
              <a:t> system </a:t>
            </a:r>
            <a:r>
              <a:rPr lang="en-US" sz="1600" dirty="0">
                <a:solidFill>
                  <a:schemeClr val="tx1"/>
                </a:solidFill>
              </a:rPr>
              <a:t>in the Research configuration.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NOT use all 2000 sensors </a:t>
            </a:r>
            <a:r>
              <a:rPr lang="en-US" sz="160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sz="1600" dirty="0">
                <a:solidFill>
                  <a:schemeClr val="tx1"/>
                </a:solidFill>
              </a:rPr>
              <a:t>actively select only </a:t>
            </a:r>
            <a:r>
              <a:rPr lang="en-US" sz="1600" b="1" dirty="0">
                <a:solidFill>
                  <a:srgbClr val="233D60"/>
                </a:solidFill>
              </a:rPr>
              <a:t>672 SENSORS </a:t>
            </a:r>
            <a:r>
              <a:rPr lang="en-US" sz="1600" dirty="0">
                <a:solidFill>
                  <a:schemeClr val="tx1"/>
                </a:solidFill>
              </a:rPr>
              <a:t>grouped into </a:t>
            </a:r>
            <a:r>
              <a:rPr lang="en-US" sz="1600" b="1" dirty="0">
                <a:solidFill>
                  <a:srgbClr val="233D60"/>
                </a:solidFill>
              </a:rPr>
              <a:t>12 logical areas</a:t>
            </a:r>
            <a:r>
              <a:rPr lang="en-US" sz="1600" dirty="0">
                <a:solidFill>
                  <a:srgbClr val="233D60"/>
                </a:solidFill>
              </a:rPr>
              <a:t>.</a:t>
            </a:r>
            <a:endParaRPr lang="en-US" sz="1600" b="1" dirty="0">
              <a:solidFill>
                <a:srgbClr val="233D60"/>
              </a:solidFill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998AB93B-7B51-7C21-8439-A2EFDE0CAC1B}"/>
              </a:ext>
            </a:extLst>
          </p:cNvPr>
          <p:cNvSpPr/>
          <p:nvPr/>
        </p:nvSpPr>
        <p:spPr>
          <a:xfrm>
            <a:off x="5006182" y="6038672"/>
            <a:ext cx="2179637" cy="509526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Project design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495929B8-3AF6-1C80-5F73-54E299C96F6F}"/>
              </a:ext>
            </a:extLst>
          </p:cNvPr>
          <p:cNvSpPr/>
          <p:nvPr/>
        </p:nvSpPr>
        <p:spPr>
          <a:xfrm>
            <a:off x="9677401" y="6283881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Conclusion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3BA2E750-03C9-AC48-D8E1-35F9805308C1}"/>
              </a:ext>
            </a:extLst>
          </p:cNvPr>
          <p:cNvSpPr/>
          <p:nvPr/>
        </p:nvSpPr>
        <p:spPr>
          <a:xfrm>
            <a:off x="33496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Introduction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5E94F7B2-1ABE-789D-383C-A911EEE51D7C}"/>
              </a:ext>
            </a:extLst>
          </p:cNvPr>
          <p:cNvSpPr/>
          <p:nvPr/>
        </p:nvSpPr>
        <p:spPr>
          <a:xfrm>
            <a:off x="267057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</a:t>
            </a:r>
            <a:r>
              <a:rPr lang="it-IT" sz="1600" dirty="0" err="1">
                <a:solidFill>
                  <a:srgbClr val="E3E6EB"/>
                </a:solidFill>
              </a:rPr>
              <a:t>proposal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D6579DEA-A2B2-49E1-0638-C37B6B014A53}"/>
              </a:ext>
            </a:extLst>
          </p:cNvPr>
          <p:cNvSpPr/>
          <p:nvPr/>
        </p:nvSpPr>
        <p:spPr>
          <a:xfrm>
            <a:off x="7341792" y="6282690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Challenges</a:t>
            </a:r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21B7F0EC-B510-ADC8-F30A-EC0B3E69C857}"/>
              </a:ext>
            </a:extLst>
          </p:cNvPr>
          <p:cNvGrpSpPr/>
          <p:nvPr/>
        </p:nvGrpSpPr>
        <p:grpSpPr>
          <a:xfrm>
            <a:off x="4090133" y="2194397"/>
            <a:ext cx="4011734" cy="3554424"/>
            <a:chOff x="930655" y="1393239"/>
            <a:chExt cx="4157623" cy="3688047"/>
          </a:xfrm>
        </p:grpSpPr>
        <p:pic>
          <p:nvPicPr>
            <p:cNvPr id="4098" name="Picture 2" descr="BPMS System">
              <a:extLst>
                <a:ext uri="{FF2B5EF4-FFF2-40B4-BE49-F238E27FC236}">
                  <a16:creationId xmlns:a16="http://schemas.microsoft.com/office/drawing/2014/main" id="{BA8B595E-AB74-65BF-322A-A068DDC1298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207" t="1556" r="11955" b="2445"/>
            <a:stretch/>
          </p:blipFill>
          <p:spPr bwMode="auto">
            <a:xfrm>
              <a:off x="1087120" y="1393239"/>
              <a:ext cx="3844695" cy="33324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ttangolo 3">
              <a:extLst>
                <a:ext uri="{FF2B5EF4-FFF2-40B4-BE49-F238E27FC236}">
                  <a16:creationId xmlns:a16="http://schemas.microsoft.com/office/drawing/2014/main" id="{1D61AC08-8002-9CE7-9EB1-BD81CC9E7864}"/>
                </a:ext>
              </a:extLst>
            </p:cNvPr>
            <p:cNvSpPr/>
            <p:nvPr/>
          </p:nvSpPr>
          <p:spPr>
            <a:xfrm>
              <a:off x="930655" y="4725719"/>
              <a:ext cx="4157623" cy="35556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it-IT" sz="600" i="1" dirty="0">
                  <a:solidFill>
                    <a:schemeClr val="tx1"/>
                  </a:solidFill>
                  <a:sym typeface="Wingdings" panose="05000000000000000000" pitchFamily="2" charset="2"/>
                </a:rPr>
                <a:t>https://www.tekscan.com/products-solutions/systems/body-pressure-measurement-system-bpms-research</a:t>
              </a:r>
            </a:p>
          </p:txBody>
        </p:sp>
      </p:grp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A2825557-63DF-3104-1CC9-82EB9EAA1B3F}"/>
              </a:ext>
            </a:extLst>
          </p:cNvPr>
          <p:cNvSpPr/>
          <p:nvPr/>
        </p:nvSpPr>
        <p:spPr>
          <a:xfrm>
            <a:off x="8198491" y="2694039"/>
            <a:ext cx="3083783" cy="2344215"/>
          </a:xfrm>
          <a:prstGeom prst="roundRect">
            <a:avLst/>
          </a:prstGeom>
          <a:noFill/>
          <a:ln w="57150">
            <a:solidFill>
              <a:srgbClr val="E3E6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5000"/>
              </a:lnSpc>
              <a:spcAft>
                <a:spcPts val="500"/>
              </a:spcAft>
            </a:pPr>
            <a:r>
              <a:rPr lang="en-US" sz="1600" dirty="0">
                <a:solidFill>
                  <a:schemeClr val="tx1"/>
                </a:solidFill>
              </a:rPr>
              <a:t>On the </a:t>
            </a:r>
            <a:r>
              <a:rPr lang="en-US" sz="1600" b="1" dirty="0">
                <a:solidFill>
                  <a:srgbClr val="233D60"/>
                </a:solidFill>
              </a:rPr>
              <a:t>backrest</a:t>
            </a:r>
            <a:r>
              <a:rPr lang="en-US" sz="1600" dirty="0">
                <a:solidFill>
                  <a:schemeClr val="tx1"/>
                </a:solidFill>
              </a:rPr>
              <a:t>: each cell was associated with </a:t>
            </a:r>
            <a:r>
              <a:rPr lang="en-US" sz="1600" u="sng" dirty="0">
                <a:solidFill>
                  <a:schemeClr val="tx1"/>
                </a:solidFill>
              </a:rPr>
              <a:t>100 sensors.</a:t>
            </a:r>
          </a:p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n-US" sz="1600" dirty="0">
                <a:solidFill>
                  <a:schemeClr val="tx1"/>
                </a:solidFill>
              </a:rPr>
              <a:t>A total of </a:t>
            </a:r>
            <a:r>
              <a:rPr lang="en-US" sz="1600" b="1" dirty="0">
                <a:solidFill>
                  <a:srgbClr val="233D60"/>
                </a:solidFill>
              </a:rPr>
              <a:t>400 sensors distributed across 4 cells.</a:t>
            </a:r>
            <a:endParaRPr lang="it-IT" sz="1600" b="1" dirty="0">
              <a:solidFill>
                <a:srgbClr val="233D60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D6FEA8E1-CA82-8EF8-9C03-5E0E4312651E}"/>
              </a:ext>
            </a:extLst>
          </p:cNvPr>
          <p:cNvCxnSpPr>
            <a:cxnSpLocks/>
          </p:cNvCxnSpPr>
          <p:nvPr/>
        </p:nvCxnSpPr>
        <p:spPr>
          <a:xfrm flipH="1">
            <a:off x="5845215" y="3520795"/>
            <a:ext cx="2353276" cy="0"/>
          </a:xfrm>
          <a:prstGeom prst="straightConnector1">
            <a:avLst/>
          </a:prstGeom>
          <a:ln w="57150">
            <a:solidFill>
              <a:srgbClr val="E3E6E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4E127036-D5D3-0FE8-3836-B3022B2AA824}"/>
              </a:ext>
            </a:extLst>
          </p:cNvPr>
          <p:cNvCxnSpPr>
            <a:cxnSpLocks/>
          </p:cNvCxnSpPr>
          <p:nvPr/>
        </p:nvCxnSpPr>
        <p:spPr>
          <a:xfrm>
            <a:off x="3993511" y="5038254"/>
            <a:ext cx="694530" cy="0"/>
          </a:xfrm>
          <a:prstGeom prst="straightConnector1">
            <a:avLst/>
          </a:prstGeom>
          <a:ln w="57150">
            <a:solidFill>
              <a:srgbClr val="E3E6E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F5325C09-C021-063D-737D-BEE42F52126F}"/>
              </a:ext>
            </a:extLst>
          </p:cNvPr>
          <p:cNvSpPr/>
          <p:nvPr/>
        </p:nvSpPr>
        <p:spPr>
          <a:xfrm>
            <a:off x="909726" y="2365739"/>
            <a:ext cx="3083784" cy="3211740"/>
          </a:xfrm>
          <a:prstGeom prst="roundRect">
            <a:avLst/>
          </a:prstGeom>
          <a:noFill/>
          <a:ln w="57150">
            <a:solidFill>
              <a:srgbClr val="E3E6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15000"/>
              </a:lnSpc>
              <a:spcAft>
                <a:spcPts val="500"/>
              </a:spcAft>
            </a:pPr>
            <a:r>
              <a:rPr lang="en-US" sz="1600" dirty="0">
                <a:solidFill>
                  <a:schemeClr val="tx1"/>
                </a:solidFill>
              </a:rPr>
              <a:t>On the </a:t>
            </a:r>
            <a:r>
              <a:rPr lang="en-US" sz="1600" b="1" dirty="0">
                <a:solidFill>
                  <a:srgbClr val="233D60"/>
                </a:solidFill>
              </a:rPr>
              <a:t>seat</a:t>
            </a:r>
            <a:r>
              <a:rPr lang="en-US" sz="1600" dirty="0">
                <a:solidFill>
                  <a:schemeClr val="tx1"/>
                </a:solidFill>
              </a:rPr>
              <a:t>: </a:t>
            </a:r>
          </a:p>
          <a:p>
            <a:pPr marL="285750" indent="-285750" algn="just">
              <a:lnSpc>
                <a:spcPct val="11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</a:t>
            </a:r>
            <a:r>
              <a:rPr lang="en-US" sz="1600" u="sng" dirty="0">
                <a:solidFill>
                  <a:schemeClr val="tx1"/>
                </a:solidFill>
              </a:rPr>
              <a:t>6 rear cells </a:t>
            </a:r>
            <a:r>
              <a:rPr lang="en-US" sz="1600" dirty="0">
                <a:solidFill>
                  <a:schemeClr val="tx1"/>
                </a:solidFill>
              </a:rPr>
              <a:t>are monitored by 32 sensors each;</a:t>
            </a:r>
          </a:p>
          <a:p>
            <a:pPr marL="285750" indent="-285750" algn="just">
              <a:lnSpc>
                <a:spcPct val="115000"/>
              </a:lnSpc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</a:t>
            </a:r>
            <a:r>
              <a:rPr lang="en-US" sz="1600" u="sng" dirty="0">
                <a:solidFill>
                  <a:schemeClr val="tx1"/>
                </a:solidFill>
              </a:rPr>
              <a:t>2 larger front cells </a:t>
            </a:r>
            <a:r>
              <a:rPr lang="en-US" sz="1600" dirty="0">
                <a:solidFill>
                  <a:schemeClr val="tx1"/>
                </a:solidFill>
              </a:rPr>
              <a:t>are monitored by 40 sensors each. </a:t>
            </a:r>
          </a:p>
          <a:p>
            <a:pPr algn="ctr">
              <a:lnSpc>
                <a:spcPct val="115000"/>
              </a:lnSpc>
              <a:spcAft>
                <a:spcPts val="500"/>
              </a:spcAft>
            </a:pPr>
            <a:r>
              <a:rPr lang="en-US" sz="1600" b="1" dirty="0">
                <a:solidFill>
                  <a:srgbClr val="233D60"/>
                </a:solidFill>
              </a:rPr>
              <a:t>In total, the seat uses </a:t>
            </a:r>
            <a:br>
              <a:rPr lang="en-US" sz="1600" b="1" dirty="0">
                <a:solidFill>
                  <a:srgbClr val="233D60"/>
                </a:solidFill>
              </a:rPr>
            </a:br>
            <a:r>
              <a:rPr lang="en-US" sz="1600" b="1" dirty="0">
                <a:solidFill>
                  <a:srgbClr val="233D60"/>
                </a:solidFill>
              </a:rPr>
              <a:t>272 sensors.</a:t>
            </a:r>
            <a:endParaRPr lang="it-IT" sz="1600" b="1" dirty="0">
              <a:solidFill>
                <a:srgbClr val="233D60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417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22E5A-4624-7505-B8C4-2E67D3B0E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magine 10" descr="Immagine che contiene arredo, design, letto&#10;&#10;Il contenuto generato dall'IA potrebbe non essere corretto.">
            <a:extLst>
              <a:ext uri="{FF2B5EF4-FFF2-40B4-BE49-F238E27FC236}">
                <a16:creationId xmlns:a16="http://schemas.microsoft.com/office/drawing/2014/main" id="{C6521C4B-4367-3E38-F56A-6F9EC2F0BBD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7" t="14362" b="69183"/>
          <a:stretch/>
        </p:blipFill>
        <p:spPr bwMode="auto">
          <a:xfrm>
            <a:off x="4644485" y="265639"/>
            <a:ext cx="2903030" cy="81433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B79F082-C195-0595-5EFF-CFC151FEA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15</a:t>
            </a:fld>
            <a:endParaRPr lang="it-IT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27E4527A-BB7C-D62D-95ED-CDE1908DEF51}"/>
              </a:ext>
            </a:extLst>
          </p:cNvPr>
          <p:cNvSpPr txBox="1">
            <a:spLocks/>
          </p:cNvSpPr>
          <p:nvPr/>
        </p:nvSpPr>
        <p:spPr>
          <a:xfrm>
            <a:off x="385921" y="312908"/>
            <a:ext cx="11420157" cy="5230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Pressure sensitive MAT: embedded systems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21DAF4F8-EA9F-B881-C714-0461E6927F4A}"/>
              </a:ext>
            </a:extLst>
          </p:cNvPr>
          <p:cNvSpPr/>
          <p:nvPr/>
        </p:nvSpPr>
        <p:spPr>
          <a:xfrm>
            <a:off x="1206673" y="1275841"/>
            <a:ext cx="9778655" cy="1142999"/>
          </a:xfrm>
          <a:prstGeom prst="round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5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D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ata exported in real-time in ASCII format using a proprietary format (FSX) </a:t>
            </a:r>
            <a:b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1600" b="1" dirty="0">
                <a:solidFill>
                  <a:srgbClr val="FF776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not compatible</a:t>
            </a:r>
            <a:r>
              <a:rPr lang="en-US" sz="1600" dirty="0">
                <a:solidFill>
                  <a:srgbClr val="FF776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with embedded systems like Arduino.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848598DE-8A66-61F3-6AC7-DFE4F6EA773B}"/>
              </a:ext>
            </a:extLst>
          </p:cNvPr>
          <p:cNvSpPr/>
          <p:nvPr/>
        </p:nvSpPr>
        <p:spPr>
          <a:xfrm>
            <a:off x="5006182" y="6038672"/>
            <a:ext cx="2179637" cy="509526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Project design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1A3EC662-9BD2-6448-5BF3-9AB24E8459C4}"/>
              </a:ext>
            </a:extLst>
          </p:cNvPr>
          <p:cNvSpPr/>
          <p:nvPr/>
        </p:nvSpPr>
        <p:spPr>
          <a:xfrm>
            <a:off x="9677401" y="6283881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Conclusion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489E1686-2A0C-B42A-7214-C0F108CA464F}"/>
              </a:ext>
            </a:extLst>
          </p:cNvPr>
          <p:cNvSpPr/>
          <p:nvPr/>
        </p:nvSpPr>
        <p:spPr>
          <a:xfrm>
            <a:off x="33496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Introduction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CAF65A34-F170-6395-CCCF-E55C14ECCBC3}"/>
              </a:ext>
            </a:extLst>
          </p:cNvPr>
          <p:cNvSpPr/>
          <p:nvPr/>
        </p:nvSpPr>
        <p:spPr>
          <a:xfrm>
            <a:off x="267057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</a:t>
            </a:r>
            <a:r>
              <a:rPr lang="it-IT" sz="1600" dirty="0" err="1">
                <a:solidFill>
                  <a:srgbClr val="E3E6EB"/>
                </a:solidFill>
              </a:rPr>
              <a:t>proposal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9914865C-3074-874F-F88B-602DAC2D4070}"/>
              </a:ext>
            </a:extLst>
          </p:cNvPr>
          <p:cNvSpPr/>
          <p:nvPr/>
        </p:nvSpPr>
        <p:spPr>
          <a:xfrm>
            <a:off x="7341792" y="6282690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Challenges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62675C3F-D4D2-F8D6-43CF-628E0446765B}"/>
              </a:ext>
            </a:extLst>
          </p:cNvPr>
          <p:cNvSpPr/>
          <p:nvPr/>
        </p:nvSpPr>
        <p:spPr>
          <a:xfrm>
            <a:off x="2231571" y="2938589"/>
            <a:ext cx="7728858" cy="945208"/>
          </a:xfrm>
          <a:prstGeom prst="roundRect">
            <a:avLst/>
          </a:prstGeom>
          <a:noFill/>
          <a:ln w="57150">
            <a:solidFill>
              <a:srgbClr val="233D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233D60"/>
                </a:solidFill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S</a:t>
            </a:r>
            <a:r>
              <a:rPr lang="en-US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oftware bridge 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that converts the data into a format readable by Arduino.</a:t>
            </a: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0AED10DE-235A-7F54-DCCF-E3493159C44F}"/>
              </a:ext>
            </a:extLst>
          </p:cNvPr>
          <p:cNvSpPr/>
          <p:nvPr/>
        </p:nvSpPr>
        <p:spPr>
          <a:xfrm>
            <a:off x="1276559" y="4441345"/>
            <a:ext cx="9638882" cy="1293082"/>
          </a:xfrm>
          <a:prstGeom prst="round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500"/>
              </a:spcAft>
            </a:pPr>
            <a:r>
              <a:rPr lang="en-US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Software Development Kit (SDK)</a:t>
            </a:r>
            <a:r>
              <a:rPr lang="en-US" sz="1600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provided by </a:t>
            </a:r>
            <a:r>
              <a:rPr lang="en-US" sz="1600" i="1" dirty="0" err="1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Tekscan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 and its related</a:t>
            </a:r>
            <a:r>
              <a:rPr lang="en-US" sz="1600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Application </a:t>
            </a:r>
            <a:br>
              <a:rPr lang="en-US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Programming Interfaces (APIs)</a:t>
            </a:r>
            <a:r>
              <a:rPr lang="en-US" sz="1600" dirty="0">
                <a:solidFill>
                  <a:schemeClr val="tx1"/>
                </a:solidFill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enables the development of </a:t>
            </a:r>
            <a:r>
              <a:rPr lang="en-US" sz="1600" b="1" dirty="0">
                <a:solidFill>
                  <a:srgbClr val="009145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custom </a:t>
            </a:r>
            <a:br>
              <a:rPr lang="en-US" sz="1600" b="1" dirty="0">
                <a:solidFill>
                  <a:srgbClr val="009145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1600" b="1" dirty="0">
                <a:solidFill>
                  <a:srgbClr val="009145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applications 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in a Windows environment.</a:t>
            </a:r>
          </a:p>
        </p:txBody>
      </p:sp>
      <p:grpSp>
        <p:nvGrpSpPr>
          <p:cNvPr id="32" name="Gruppo 31">
            <a:extLst>
              <a:ext uri="{FF2B5EF4-FFF2-40B4-BE49-F238E27FC236}">
                <a16:creationId xmlns:a16="http://schemas.microsoft.com/office/drawing/2014/main" id="{4C669DD2-3748-9EEE-E5B2-C91E80F271A5}"/>
              </a:ext>
            </a:extLst>
          </p:cNvPr>
          <p:cNvGrpSpPr/>
          <p:nvPr/>
        </p:nvGrpSpPr>
        <p:grpSpPr>
          <a:xfrm>
            <a:off x="10210477" y="1223181"/>
            <a:ext cx="1208122" cy="1208122"/>
            <a:chOff x="10210477" y="1223181"/>
            <a:chExt cx="1208122" cy="1208122"/>
          </a:xfrm>
        </p:grpSpPr>
        <p:sp>
          <p:nvSpPr>
            <p:cNvPr id="20" name="Ovale 19">
              <a:extLst>
                <a:ext uri="{FF2B5EF4-FFF2-40B4-BE49-F238E27FC236}">
                  <a16:creationId xmlns:a16="http://schemas.microsoft.com/office/drawing/2014/main" id="{9ED1F332-1D33-0A66-3F46-179CDD56E9B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10477" y="1223181"/>
              <a:ext cx="1208122" cy="12081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23" name="Gruppo 22">
              <a:extLst>
                <a:ext uri="{FF2B5EF4-FFF2-40B4-BE49-F238E27FC236}">
                  <a16:creationId xmlns:a16="http://schemas.microsoft.com/office/drawing/2014/main" id="{92B414C9-BA8A-F2DD-BF2C-C4F24462076F}"/>
                </a:ext>
              </a:extLst>
            </p:cNvPr>
            <p:cNvGrpSpPr/>
            <p:nvPr/>
          </p:nvGrpSpPr>
          <p:grpSpPr>
            <a:xfrm>
              <a:off x="10396567" y="1346183"/>
              <a:ext cx="835941" cy="816520"/>
              <a:chOff x="10458598" y="1507442"/>
              <a:chExt cx="835941" cy="816520"/>
            </a:xfrm>
          </p:grpSpPr>
          <p:pic>
            <p:nvPicPr>
              <p:cNvPr id="1026" name="Picture 2" descr="Motherboard ">
                <a:extLst>
                  <a:ext uri="{FF2B5EF4-FFF2-40B4-BE49-F238E27FC236}">
                    <a16:creationId xmlns:a16="http://schemas.microsoft.com/office/drawing/2014/main" id="{764B4A8A-22E4-1759-E946-75240C4179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458598" y="1766217"/>
                <a:ext cx="557745" cy="55774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2" name="Picture 8" descr="No entry ">
                <a:extLst>
                  <a:ext uri="{FF2B5EF4-FFF2-40B4-BE49-F238E27FC236}">
                    <a16:creationId xmlns:a16="http://schemas.microsoft.com/office/drawing/2014/main" id="{DCFAC8F1-27F8-85AA-8B7E-D203D779EFF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36794" y="1507442"/>
                <a:ext cx="557745" cy="55774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33" name="Gruppo 32">
            <a:extLst>
              <a:ext uri="{FF2B5EF4-FFF2-40B4-BE49-F238E27FC236}">
                <a16:creationId xmlns:a16="http://schemas.microsoft.com/office/drawing/2014/main" id="{F2D454E3-D19E-5224-04DA-69640660545B}"/>
              </a:ext>
            </a:extLst>
          </p:cNvPr>
          <p:cNvGrpSpPr/>
          <p:nvPr/>
        </p:nvGrpSpPr>
        <p:grpSpPr>
          <a:xfrm>
            <a:off x="602612" y="4483825"/>
            <a:ext cx="1208122" cy="1208122"/>
            <a:chOff x="541846" y="4446650"/>
            <a:chExt cx="1208122" cy="1208122"/>
          </a:xfrm>
        </p:grpSpPr>
        <p:sp>
          <p:nvSpPr>
            <p:cNvPr id="21" name="Ovale 20">
              <a:extLst>
                <a:ext uri="{FF2B5EF4-FFF2-40B4-BE49-F238E27FC236}">
                  <a16:creationId xmlns:a16="http://schemas.microsoft.com/office/drawing/2014/main" id="{FD295433-B4AC-C145-2FC4-4A73250C244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1846" y="4446650"/>
              <a:ext cx="1208122" cy="120812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22" name="Gruppo 21">
              <a:extLst>
                <a:ext uri="{FF2B5EF4-FFF2-40B4-BE49-F238E27FC236}">
                  <a16:creationId xmlns:a16="http://schemas.microsoft.com/office/drawing/2014/main" id="{48DC7B19-D422-FF47-A126-9DBFBB0C19D0}"/>
                </a:ext>
              </a:extLst>
            </p:cNvPr>
            <p:cNvGrpSpPr/>
            <p:nvPr/>
          </p:nvGrpSpPr>
          <p:grpSpPr>
            <a:xfrm>
              <a:off x="766022" y="4673976"/>
              <a:ext cx="819270" cy="753469"/>
              <a:chOff x="867035" y="4705579"/>
              <a:chExt cx="819270" cy="753469"/>
            </a:xfrm>
          </p:grpSpPr>
          <p:pic>
            <p:nvPicPr>
              <p:cNvPr id="13" name="Picture 2" descr="Motherboard ">
                <a:extLst>
                  <a:ext uri="{FF2B5EF4-FFF2-40B4-BE49-F238E27FC236}">
                    <a16:creationId xmlns:a16="http://schemas.microsoft.com/office/drawing/2014/main" id="{809A732F-765F-33BA-2647-B36A85D2F90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7035" y="4901303"/>
                <a:ext cx="557745" cy="55774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4" name="Picture 10" descr="Check mark ">
                <a:extLst>
                  <a:ext uri="{FF2B5EF4-FFF2-40B4-BE49-F238E27FC236}">
                    <a16:creationId xmlns:a16="http://schemas.microsoft.com/office/drawing/2014/main" id="{8950B926-E049-6508-7A38-5F38BD8C6E3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63254" y="4705579"/>
                <a:ext cx="523051" cy="523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cxnSp>
        <p:nvCxnSpPr>
          <p:cNvPr id="25" name="Connettore 2 24">
            <a:extLst>
              <a:ext uri="{FF2B5EF4-FFF2-40B4-BE49-F238E27FC236}">
                <a16:creationId xmlns:a16="http://schemas.microsoft.com/office/drawing/2014/main" id="{1A9FA33B-478D-09CC-B25E-742AB9B0F375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 flipH="1">
            <a:off x="6096000" y="2418840"/>
            <a:ext cx="1" cy="519749"/>
          </a:xfrm>
          <a:prstGeom prst="straightConnector1">
            <a:avLst/>
          </a:prstGeom>
          <a:ln w="57150">
            <a:solidFill>
              <a:srgbClr val="233D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F7F29D17-2609-3D54-701D-152890A3A8AC}"/>
              </a:ext>
            </a:extLst>
          </p:cNvPr>
          <p:cNvCxnSpPr>
            <a:cxnSpLocks/>
            <a:stCxn id="8" idx="0"/>
            <a:endCxn id="7" idx="2"/>
          </p:cNvCxnSpPr>
          <p:nvPr/>
        </p:nvCxnSpPr>
        <p:spPr>
          <a:xfrm flipV="1">
            <a:off x="6096000" y="3883797"/>
            <a:ext cx="0" cy="557548"/>
          </a:xfrm>
          <a:prstGeom prst="straightConnector1">
            <a:avLst/>
          </a:prstGeom>
          <a:ln w="57150">
            <a:solidFill>
              <a:srgbClr val="233D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816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D2178-BA3D-8EFD-C7C9-EF0832992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che contiene arredo, design, letto&#10;&#10;Il contenuto generato dall'IA potrebbe non essere corretto.">
            <a:extLst>
              <a:ext uri="{FF2B5EF4-FFF2-40B4-BE49-F238E27FC236}">
                <a16:creationId xmlns:a16="http://schemas.microsoft.com/office/drawing/2014/main" id="{CF9860F8-C3F5-C1C1-76CC-60A09D168A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8" t="59393" r="1778" b="26134"/>
          <a:stretch/>
        </p:blipFill>
        <p:spPr bwMode="auto">
          <a:xfrm>
            <a:off x="4644485" y="464820"/>
            <a:ext cx="2903030" cy="7162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C4D0911-E811-C770-7AEF-5B1C57237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16</a:t>
            </a:fld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1FE1A38B-19AA-A965-B5FC-7DFB7B30A7F8}"/>
              </a:ext>
            </a:extLst>
          </p:cNvPr>
          <p:cNvSpPr/>
          <p:nvPr/>
        </p:nvSpPr>
        <p:spPr>
          <a:xfrm>
            <a:off x="5006182" y="6038672"/>
            <a:ext cx="2179637" cy="509526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Project design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A913921E-A5BF-13C3-71EF-F72D5A23C955}"/>
              </a:ext>
            </a:extLst>
          </p:cNvPr>
          <p:cNvSpPr/>
          <p:nvPr/>
        </p:nvSpPr>
        <p:spPr>
          <a:xfrm>
            <a:off x="9677401" y="6283881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Conclusion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12241BB9-6E82-11EF-61C9-E8780E3E7CBD}"/>
              </a:ext>
            </a:extLst>
          </p:cNvPr>
          <p:cNvSpPr/>
          <p:nvPr/>
        </p:nvSpPr>
        <p:spPr>
          <a:xfrm>
            <a:off x="33496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Introduction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38D21482-B6BC-9D39-5B03-8A8C603106AE}"/>
              </a:ext>
            </a:extLst>
          </p:cNvPr>
          <p:cNvSpPr/>
          <p:nvPr/>
        </p:nvSpPr>
        <p:spPr>
          <a:xfrm>
            <a:off x="267057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</a:t>
            </a:r>
            <a:r>
              <a:rPr lang="it-IT" sz="1600" dirty="0" err="1">
                <a:solidFill>
                  <a:srgbClr val="E3E6EB"/>
                </a:solidFill>
              </a:rPr>
              <a:t>proposal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12D667D9-77D2-F08A-7893-BAA28838DFB9}"/>
              </a:ext>
            </a:extLst>
          </p:cNvPr>
          <p:cNvSpPr/>
          <p:nvPr/>
        </p:nvSpPr>
        <p:spPr>
          <a:xfrm>
            <a:off x="7341792" y="6282690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Challenges</a:t>
            </a:r>
          </a:p>
        </p:txBody>
      </p:sp>
      <p:sp>
        <p:nvSpPr>
          <p:cNvPr id="27" name="Titolo 1">
            <a:extLst>
              <a:ext uri="{FF2B5EF4-FFF2-40B4-BE49-F238E27FC236}">
                <a16:creationId xmlns:a16="http://schemas.microsoft.com/office/drawing/2014/main" id="{59362C91-E93A-9005-BA0A-19A4A69DE20D}"/>
              </a:ext>
            </a:extLst>
          </p:cNvPr>
          <p:cNvSpPr txBox="1">
            <a:spLocks/>
          </p:cNvSpPr>
          <p:nvPr/>
        </p:nvSpPr>
        <p:spPr>
          <a:xfrm>
            <a:off x="385921" y="312908"/>
            <a:ext cx="11420157" cy="5230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Distributed electropneumatic system</a:t>
            </a:r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C37366B6-242C-CBCC-18A3-BDE538F443CC}"/>
              </a:ext>
            </a:extLst>
          </p:cNvPr>
          <p:cNvSpPr/>
          <p:nvPr/>
        </p:nvSpPr>
        <p:spPr>
          <a:xfrm>
            <a:off x="1061884" y="2015613"/>
            <a:ext cx="3232353" cy="1042219"/>
          </a:xfrm>
          <a:prstGeom prst="roundRect">
            <a:avLst/>
          </a:prstGeom>
          <a:noFill/>
          <a:ln w="57150">
            <a:solidFill>
              <a:srgbClr val="233D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</a:pPr>
            <a:r>
              <a:rPr lang="en-US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COMPRESSOR,  </a:t>
            </a:r>
            <a:r>
              <a:rPr lang="en-US" sz="18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the main source of compressed air.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6EBF7BBB-3CC1-F12B-0540-5618E4523054}"/>
              </a:ext>
            </a:extLst>
          </p:cNvPr>
          <p:cNvCxnSpPr>
            <a:cxnSpLocks/>
          </p:cNvCxnSpPr>
          <p:nvPr/>
        </p:nvCxnSpPr>
        <p:spPr>
          <a:xfrm>
            <a:off x="4294237" y="2842752"/>
            <a:ext cx="605423" cy="0"/>
          </a:xfrm>
          <a:prstGeom prst="straightConnector1">
            <a:avLst/>
          </a:prstGeom>
          <a:ln w="57150">
            <a:solidFill>
              <a:srgbClr val="233D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tangolo 2">
            <a:extLst>
              <a:ext uri="{FF2B5EF4-FFF2-40B4-BE49-F238E27FC236}">
                <a16:creationId xmlns:a16="http://schemas.microsoft.com/office/drawing/2014/main" id="{A44A67CC-90B5-EACE-A051-92DD2193A738}"/>
              </a:ext>
            </a:extLst>
          </p:cNvPr>
          <p:cNvSpPr/>
          <p:nvPr/>
        </p:nvSpPr>
        <p:spPr>
          <a:xfrm>
            <a:off x="4912995" y="3976538"/>
            <a:ext cx="422204" cy="1439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800" b="1" dirty="0">
                <a:solidFill>
                  <a:schemeClr val="tx1"/>
                </a:solidFill>
              </a:rPr>
              <a:t>24 V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289DA5D4-E710-2151-3A5A-38C70E489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314" y="1533260"/>
            <a:ext cx="2305372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734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D0A33-54F6-1F6B-F813-DE5B0E505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che contiene arredo, design, letto&#10;&#10;Il contenuto generato dall'IA potrebbe non essere corretto.">
            <a:extLst>
              <a:ext uri="{FF2B5EF4-FFF2-40B4-BE49-F238E27FC236}">
                <a16:creationId xmlns:a16="http://schemas.microsoft.com/office/drawing/2014/main" id="{718E94D8-35B7-02D3-3FA7-1AED188B12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8" t="59393" r="1778" b="26134"/>
          <a:stretch/>
        </p:blipFill>
        <p:spPr bwMode="auto">
          <a:xfrm>
            <a:off x="4644485" y="464820"/>
            <a:ext cx="2903030" cy="7162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1E9ED41-B3FD-C625-8962-9D3225C7F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17</a:t>
            </a:fld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40C40324-CDA7-DAEB-A6C1-3D170C4F28EB}"/>
              </a:ext>
            </a:extLst>
          </p:cNvPr>
          <p:cNvSpPr/>
          <p:nvPr/>
        </p:nvSpPr>
        <p:spPr>
          <a:xfrm>
            <a:off x="5006182" y="6038672"/>
            <a:ext cx="2179637" cy="509526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Project design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4A8B42F9-3F59-1DEB-7B97-F7D056648951}"/>
              </a:ext>
            </a:extLst>
          </p:cNvPr>
          <p:cNvSpPr/>
          <p:nvPr/>
        </p:nvSpPr>
        <p:spPr>
          <a:xfrm>
            <a:off x="9677401" y="6283881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Conclusion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ECF7B5F2-9453-1316-04EF-C0C2E5FCD71E}"/>
              </a:ext>
            </a:extLst>
          </p:cNvPr>
          <p:cNvSpPr/>
          <p:nvPr/>
        </p:nvSpPr>
        <p:spPr>
          <a:xfrm>
            <a:off x="33496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Introduction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38CBC16B-E9A2-6835-353F-BE014435F803}"/>
              </a:ext>
            </a:extLst>
          </p:cNvPr>
          <p:cNvSpPr/>
          <p:nvPr/>
        </p:nvSpPr>
        <p:spPr>
          <a:xfrm>
            <a:off x="267057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</a:t>
            </a:r>
            <a:r>
              <a:rPr lang="it-IT" sz="1600" dirty="0" err="1">
                <a:solidFill>
                  <a:srgbClr val="E3E6EB"/>
                </a:solidFill>
              </a:rPr>
              <a:t>proposal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449EA89E-687B-7DFF-CF92-7D838A8C6734}"/>
              </a:ext>
            </a:extLst>
          </p:cNvPr>
          <p:cNvSpPr/>
          <p:nvPr/>
        </p:nvSpPr>
        <p:spPr>
          <a:xfrm>
            <a:off x="7341792" y="6282690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Challenges</a:t>
            </a:r>
          </a:p>
        </p:txBody>
      </p:sp>
      <p:sp>
        <p:nvSpPr>
          <p:cNvPr id="27" name="Titolo 1">
            <a:extLst>
              <a:ext uri="{FF2B5EF4-FFF2-40B4-BE49-F238E27FC236}">
                <a16:creationId xmlns:a16="http://schemas.microsoft.com/office/drawing/2014/main" id="{38645F5F-FBE0-10BE-149D-05CDBDE12A39}"/>
              </a:ext>
            </a:extLst>
          </p:cNvPr>
          <p:cNvSpPr txBox="1">
            <a:spLocks/>
          </p:cNvSpPr>
          <p:nvPr/>
        </p:nvSpPr>
        <p:spPr>
          <a:xfrm>
            <a:off x="385921" y="312908"/>
            <a:ext cx="11420157" cy="5230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Distributed electropneumatic system</a:t>
            </a:r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8FF6A2C8-F868-B2EB-928E-C9358C9C57CD}"/>
              </a:ext>
            </a:extLst>
          </p:cNvPr>
          <p:cNvCxnSpPr>
            <a:cxnSpLocks/>
          </p:cNvCxnSpPr>
          <p:nvPr/>
        </p:nvCxnSpPr>
        <p:spPr>
          <a:xfrm>
            <a:off x="4294237" y="2842752"/>
            <a:ext cx="605423" cy="0"/>
          </a:xfrm>
          <a:prstGeom prst="straightConnector1">
            <a:avLst/>
          </a:prstGeom>
          <a:ln w="57150">
            <a:solidFill>
              <a:srgbClr val="E3E6E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3014CF0F-CFF3-37CE-5AEF-F6744783300D}"/>
              </a:ext>
            </a:extLst>
          </p:cNvPr>
          <p:cNvSpPr/>
          <p:nvPr/>
        </p:nvSpPr>
        <p:spPr>
          <a:xfrm>
            <a:off x="7911862" y="1251734"/>
            <a:ext cx="3219134" cy="1836908"/>
          </a:xfrm>
          <a:prstGeom prst="roundRect">
            <a:avLst/>
          </a:prstGeom>
          <a:noFill/>
          <a:ln w="57150">
            <a:solidFill>
              <a:srgbClr val="233D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</a:pPr>
            <a:r>
              <a:rPr lang="en-US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ON/OFF SOLENOID VALVE</a:t>
            </a:r>
            <a:r>
              <a:rPr lang="en-US" sz="1600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normally closed, which acts as the main pneumatic switch for the entire system</a:t>
            </a:r>
            <a:r>
              <a:rPr lang="en-US" sz="1600" dirty="0">
                <a:solidFill>
                  <a:schemeClr val="tx1"/>
                </a:solidFill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  <a:endParaRPr lang="it-IT" sz="14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18CD1188-6A5E-D958-6227-96DB82AA3177}"/>
              </a:ext>
            </a:extLst>
          </p:cNvPr>
          <p:cNvCxnSpPr>
            <a:cxnSpLocks/>
          </p:cNvCxnSpPr>
          <p:nvPr/>
        </p:nvCxnSpPr>
        <p:spPr>
          <a:xfrm flipH="1">
            <a:off x="7391400" y="2587769"/>
            <a:ext cx="520462" cy="0"/>
          </a:xfrm>
          <a:prstGeom prst="straightConnector1">
            <a:avLst/>
          </a:prstGeom>
          <a:ln w="57150">
            <a:solidFill>
              <a:srgbClr val="233D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magine 9">
            <a:extLst>
              <a:ext uri="{FF2B5EF4-FFF2-40B4-BE49-F238E27FC236}">
                <a16:creationId xmlns:a16="http://schemas.microsoft.com/office/drawing/2014/main" id="{5EEE9E9B-454B-5EF7-DCA5-937A2AFB0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314" y="1533260"/>
            <a:ext cx="2305372" cy="3791479"/>
          </a:xfrm>
          <a:prstGeom prst="rect">
            <a:avLst/>
          </a:prstGeom>
        </p:spPr>
      </p:pic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EF464ACC-68BB-5A1F-9E6F-D9190B793295}"/>
              </a:ext>
            </a:extLst>
          </p:cNvPr>
          <p:cNvSpPr/>
          <p:nvPr/>
        </p:nvSpPr>
        <p:spPr>
          <a:xfrm>
            <a:off x="1061884" y="2015613"/>
            <a:ext cx="3232353" cy="1042219"/>
          </a:xfrm>
          <a:prstGeom prst="roundRect">
            <a:avLst/>
          </a:prstGeom>
          <a:noFill/>
          <a:ln w="57150">
            <a:solidFill>
              <a:srgbClr val="E3E6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</a:pPr>
            <a:r>
              <a:rPr lang="en-US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COMPRESSOR,  </a:t>
            </a:r>
            <a:r>
              <a:rPr lang="en-US" sz="18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the main source of compressed air.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21297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15E79-1F3D-07B7-4DDE-5111D0CD8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che contiene arredo, design, letto&#10;&#10;Il contenuto generato dall'IA potrebbe non essere corretto.">
            <a:extLst>
              <a:ext uri="{FF2B5EF4-FFF2-40B4-BE49-F238E27FC236}">
                <a16:creationId xmlns:a16="http://schemas.microsoft.com/office/drawing/2014/main" id="{2FDC2FFF-61B1-23C1-44C8-FC2207FBF25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8" t="59393" r="1778" b="26134"/>
          <a:stretch/>
        </p:blipFill>
        <p:spPr bwMode="auto">
          <a:xfrm>
            <a:off x="4644485" y="464820"/>
            <a:ext cx="2903030" cy="7162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ECFAAF4-4AF4-FDCE-72AD-8657DB35A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18</a:t>
            </a:fld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1884E9B0-BD0D-ED05-C719-D102835AA8EC}"/>
              </a:ext>
            </a:extLst>
          </p:cNvPr>
          <p:cNvSpPr/>
          <p:nvPr/>
        </p:nvSpPr>
        <p:spPr>
          <a:xfrm>
            <a:off x="5006182" y="6038672"/>
            <a:ext cx="2179637" cy="509526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Project design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398C359F-6933-7113-A1D2-11D4576A7C0E}"/>
              </a:ext>
            </a:extLst>
          </p:cNvPr>
          <p:cNvSpPr/>
          <p:nvPr/>
        </p:nvSpPr>
        <p:spPr>
          <a:xfrm>
            <a:off x="9677401" y="6283881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Conclusion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DBB7BFF0-5699-7CA0-2656-34C911FD23C8}"/>
              </a:ext>
            </a:extLst>
          </p:cNvPr>
          <p:cNvSpPr/>
          <p:nvPr/>
        </p:nvSpPr>
        <p:spPr>
          <a:xfrm>
            <a:off x="33496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Introduction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022E1610-A013-4AF9-190D-30841BD64427}"/>
              </a:ext>
            </a:extLst>
          </p:cNvPr>
          <p:cNvSpPr/>
          <p:nvPr/>
        </p:nvSpPr>
        <p:spPr>
          <a:xfrm>
            <a:off x="267057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</a:t>
            </a:r>
            <a:r>
              <a:rPr lang="it-IT" sz="1600" dirty="0" err="1">
                <a:solidFill>
                  <a:srgbClr val="E3E6EB"/>
                </a:solidFill>
              </a:rPr>
              <a:t>proposal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705FF453-703B-2A2F-BAA9-5ADE6E43DC47}"/>
              </a:ext>
            </a:extLst>
          </p:cNvPr>
          <p:cNvSpPr/>
          <p:nvPr/>
        </p:nvSpPr>
        <p:spPr>
          <a:xfrm>
            <a:off x="7341792" y="6282690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Challenges</a:t>
            </a:r>
          </a:p>
        </p:txBody>
      </p:sp>
      <p:sp>
        <p:nvSpPr>
          <p:cNvPr id="27" name="Titolo 1">
            <a:extLst>
              <a:ext uri="{FF2B5EF4-FFF2-40B4-BE49-F238E27FC236}">
                <a16:creationId xmlns:a16="http://schemas.microsoft.com/office/drawing/2014/main" id="{F30F3E6E-FF8B-6445-E211-7D73A271B5F1}"/>
              </a:ext>
            </a:extLst>
          </p:cNvPr>
          <p:cNvSpPr txBox="1">
            <a:spLocks/>
          </p:cNvSpPr>
          <p:nvPr/>
        </p:nvSpPr>
        <p:spPr>
          <a:xfrm>
            <a:off x="385921" y="312908"/>
            <a:ext cx="11420157" cy="5230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Distributed electropneumatic system</a:t>
            </a:r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57D3F983-6494-CFB9-F525-BE78E4942FA8}"/>
              </a:ext>
            </a:extLst>
          </p:cNvPr>
          <p:cNvCxnSpPr>
            <a:cxnSpLocks/>
          </p:cNvCxnSpPr>
          <p:nvPr/>
        </p:nvCxnSpPr>
        <p:spPr>
          <a:xfrm>
            <a:off x="4294237" y="2842752"/>
            <a:ext cx="605423" cy="0"/>
          </a:xfrm>
          <a:prstGeom prst="straightConnector1">
            <a:avLst/>
          </a:prstGeom>
          <a:ln w="57150">
            <a:solidFill>
              <a:srgbClr val="E3E6E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magine 18">
            <a:extLst>
              <a:ext uri="{FF2B5EF4-FFF2-40B4-BE49-F238E27FC236}">
                <a16:creationId xmlns:a16="http://schemas.microsoft.com/office/drawing/2014/main" id="{C69857C8-A1A9-F59D-AF05-D821AA2CF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314" y="1533260"/>
            <a:ext cx="2305372" cy="3791479"/>
          </a:xfrm>
          <a:prstGeom prst="rect">
            <a:avLst/>
          </a:prstGeom>
        </p:spPr>
      </p:pic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1D894F1B-D815-DDFE-290A-19DB18263FA6}"/>
              </a:ext>
            </a:extLst>
          </p:cNvPr>
          <p:cNvSpPr/>
          <p:nvPr/>
        </p:nvSpPr>
        <p:spPr>
          <a:xfrm>
            <a:off x="7911862" y="1251734"/>
            <a:ext cx="3219134" cy="1836908"/>
          </a:xfrm>
          <a:prstGeom prst="roundRect">
            <a:avLst/>
          </a:prstGeom>
          <a:noFill/>
          <a:ln w="57150">
            <a:solidFill>
              <a:srgbClr val="E3E6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</a:pPr>
            <a:r>
              <a:rPr lang="en-US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ON/OFF SOLENOID VALVE</a:t>
            </a:r>
            <a:r>
              <a:rPr lang="en-US" sz="1600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normally closed, which acts as the main pneumatic switch for the entire system.</a:t>
            </a:r>
            <a:endParaRPr lang="it-IT" sz="14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0D1F9BDF-094A-9D54-7029-FFEBF0D0144A}"/>
              </a:ext>
            </a:extLst>
          </p:cNvPr>
          <p:cNvCxnSpPr>
            <a:cxnSpLocks/>
          </p:cNvCxnSpPr>
          <p:nvPr/>
        </p:nvCxnSpPr>
        <p:spPr>
          <a:xfrm flipH="1">
            <a:off x="7391400" y="2587769"/>
            <a:ext cx="520462" cy="0"/>
          </a:xfrm>
          <a:prstGeom prst="straightConnector1">
            <a:avLst/>
          </a:prstGeom>
          <a:ln w="57150">
            <a:solidFill>
              <a:srgbClr val="E3E6E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D159BB77-B056-ED51-7408-ACF61B449DB6}"/>
              </a:ext>
            </a:extLst>
          </p:cNvPr>
          <p:cNvSpPr/>
          <p:nvPr/>
        </p:nvSpPr>
        <p:spPr>
          <a:xfrm>
            <a:off x="7911862" y="3264310"/>
            <a:ext cx="3232353" cy="1088184"/>
          </a:xfrm>
          <a:prstGeom prst="roundRect">
            <a:avLst/>
          </a:prstGeom>
          <a:noFill/>
          <a:ln w="57150">
            <a:solidFill>
              <a:srgbClr val="233D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CHECK VALVE, 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allows air to flow only toward the cell.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56145054-8E1B-0038-8CA4-26E04D2F38ED}"/>
              </a:ext>
            </a:extLst>
          </p:cNvPr>
          <p:cNvCxnSpPr>
            <a:cxnSpLocks/>
          </p:cNvCxnSpPr>
          <p:nvPr/>
        </p:nvCxnSpPr>
        <p:spPr>
          <a:xfrm flipH="1">
            <a:off x="6912077" y="3501514"/>
            <a:ext cx="999785" cy="0"/>
          </a:xfrm>
          <a:prstGeom prst="straightConnector1">
            <a:avLst/>
          </a:prstGeom>
          <a:ln w="57150">
            <a:solidFill>
              <a:srgbClr val="233D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1CBC15EE-D8C4-DB07-4417-BB3C1DDD9C9D}"/>
              </a:ext>
            </a:extLst>
          </p:cNvPr>
          <p:cNvSpPr/>
          <p:nvPr/>
        </p:nvSpPr>
        <p:spPr>
          <a:xfrm>
            <a:off x="1061884" y="3428999"/>
            <a:ext cx="3232353" cy="1713271"/>
          </a:xfrm>
          <a:prstGeom prst="roundRect">
            <a:avLst/>
          </a:prstGeom>
          <a:noFill/>
          <a:ln w="57150">
            <a:solidFill>
              <a:srgbClr val="233D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3/2</a:t>
            </a:r>
            <a:r>
              <a:rPr lang="en-US" sz="1600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ELECTRO PNEUMATIC VALVE,</a:t>
            </a:r>
            <a:r>
              <a:rPr lang="en-US" sz="1600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normally closed, 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ensures air direction.</a:t>
            </a:r>
            <a:endParaRPr lang="it-IT" sz="14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1FBFBC59-EA8D-F14F-902E-C06BEB89AB12}"/>
              </a:ext>
            </a:extLst>
          </p:cNvPr>
          <p:cNvCxnSpPr>
            <a:cxnSpLocks/>
          </p:cNvCxnSpPr>
          <p:nvPr/>
        </p:nvCxnSpPr>
        <p:spPr>
          <a:xfrm>
            <a:off x="4294237" y="3973462"/>
            <a:ext cx="531763" cy="0"/>
          </a:xfrm>
          <a:prstGeom prst="straightConnector1">
            <a:avLst/>
          </a:prstGeom>
          <a:ln w="57150">
            <a:solidFill>
              <a:srgbClr val="233D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7F794356-01F6-36C2-B004-9858EDCDB2D3}"/>
              </a:ext>
            </a:extLst>
          </p:cNvPr>
          <p:cNvSpPr/>
          <p:nvPr/>
        </p:nvSpPr>
        <p:spPr>
          <a:xfrm>
            <a:off x="1061884" y="2015613"/>
            <a:ext cx="3232353" cy="1042219"/>
          </a:xfrm>
          <a:prstGeom prst="roundRect">
            <a:avLst/>
          </a:prstGeom>
          <a:noFill/>
          <a:ln w="57150">
            <a:solidFill>
              <a:srgbClr val="E3E6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</a:pPr>
            <a:r>
              <a:rPr lang="en-US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COMPRESSOR,  </a:t>
            </a:r>
            <a:r>
              <a:rPr lang="en-US" sz="18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the main source of compressed air.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44512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0F64-41D1-6896-268A-47FAE4AF9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magine 20">
            <a:extLst>
              <a:ext uri="{FF2B5EF4-FFF2-40B4-BE49-F238E27FC236}">
                <a16:creationId xmlns:a16="http://schemas.microsoft.com/office/drawing/2014/main" id="{45CD7D92-2FF7-03CD-CAC2-A0A7E00D6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314" y="1533260"/>
            <a:ext cx="2305372" cy="3791479"/>
          </a:xfrm>
          <a:prstGeom prst="rect">
            <a:avLst/>
          </a:prstGeom>
        </p:spPr>
      </p:pic>
      <p:pic>
        <p:nvPicPr>
          <p:cNvPr id="6" name="Immagine 5" descr="Immagine che contiene arredo, design, letto&#10;&#10;Il contenuto generato dall'IA potrebbe non essere corretto.">
            <a:extLst>
              <a:ext uri="{FF2B5EF4-FFF2-40B4-BE49-F238E27FC236}">
                <a16:creationId xmlns:a16="http://schemas.microsoft.com/office/drawing/2014/main" id="{A88B47B9-559E-13E6-3D0B-ED5B32558D3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8" t="59393" r="1778" b="26134"/>
          <a:stretch/>
        </p:blipFill>
        <p:spPr bwMode="auto">
          <a:xfrm>
            <a:off x="4644485" y="464820"/>
            <a:ext cx="2903030" cy="71628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3B94729-AA23-BC59-FB14-073DA0561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19</a:t>
            </a:fld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3F944A4-0256-978F-EEF7-5FB893B6CB99}"/>
              </a:ext>
            </a:extLst>
          </p:cNvPr>
          <p:cNvSpPr/>
          <p:nvPr/>
        </p:nvSpPr>
        <p:spPr>
          <a:xfrm>
            <a:off x="5006182" y="6038672"/>
            <a:ext cx="2179637" cy="509526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Project design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5A20C7E3-3846-B7D0-A320-5FC91C041795}"/>
              </a:ext>
            </a:extLst>
          </p:cNvPr>
          <p:cNvSpPr/>
          <p:nvPr/>
        </p:nvSpPr>
        <p:spPr>
          <a:xfrm>
            <a:off x="9677401" y="6283881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Conclusion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4DC5F974-5B63-FAA1-8882-047D5C3274A5}"/>
              </a:ext>
            </a:extLst>
          </p:cNvPr>
          <p:cNvSpPr/>
          <p:nvPr/>
        </p:nvSpPr>
        <p:spPr>
          <a:xfrm>
            <a:off x="33496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Introduction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D3A1643B-621A-0243-79A1-448C439E5D66}"/>
              </a:ext>
            </a:extLst>
          </p:cNvPr>
          <p:cNvSpPr/>
          <p:nvPr/>
        </p:nvSpPr>
        <p:spPr>
          <a:xfrm>
            <a:off x="267057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</a:t>
            </a:r>
            <a:r>
              <a:rPr lang="it-IT" sz="1600" dirty="0" err="1">
                <a:solidFill>
                  <a:srgbClr val="E3E6EB"/>
                </a:solidFill>
              </a:rPr>
              <a:t>proposal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DC320E83-0570-5559-1E84-BCCFBD1737B6}"/>
              </a:ext>
            </a:extLst>
          </p:cNvPr>
          <p:cNvSpPr/>
          <p:nvPr/>
        </p:nvSpPr>
        <p:spPr>
          <a:xfrm>
            <a:off x="7341792" y="6282690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Challenges</a:t>
            </a:r>
          </a:p>
        </p:txBody>
      </p:sp>
      <p:sp>
        <p:nvSpPr>
          <p:cNvPr id="27" name="Titolo 1">
            <a:extLst>
              <a:ext uri="{FF2B5EF4-FFF2-40B4-BE49-F238E27FC236}">
                <a16:creationId xmlns:a16="http://schemas.microsoft.com/office/drawing/2014/main" id="{1C3E22A8-5E92-2604-A724-5ECE56ED0876}"/>
              </a:ext>
            </a:extLst>
          </p:cNvPr>
          <p:cNvSpPr txBox="1">
            <a:spLocks/>
          </p:cNvSpPr>
          <p:nvPr/>
        </p:nvSpPr>
        <p:spPr>
          <a:xfrm>
            <a:off x="385921" y="312908"/>
            <a:ext cx="11420157" cy="5230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Distributed electropneumatic system</a:t>
            </a:r>
          </a:p>
        </p:txBody>
      </p: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B20422CE-9990-12EB-FA52-DF58B7C72C90}"/>
              </a:ext>
            </a:extLst>
          </p:cNvPr>
          <p:cNvCxnSpPr>
            <a:cxnSpLocks/>
          </p:cNvCxnSpPr>
          <p:nvPr/>
        </p:nvCxnSpPr>
        <p:spPr>
          <a:xfrm>
            <a:off x="4294237" y="2842752"/>
            <a:ext cx="605423" cy="0"/>
          </a:xfrm>
          <a:prstGeom prst="straightConnector1">
            <a:avLst/>
          </a:prstGeom>
          <a:ln w="57150">
            <a:solidFill>
              <a:srgbClr val="E3E6E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98A36696-056A-296B-D9B5-0D0CDB3DC520}"/>
              </a:ext>
            </a:extLst>
          </p:cNvPr>
          <p:cNvSpPr/>
          <p:nvPr/>
        </p:nvSpPr>
        <p:spPr>
          <a:xfrm>
            <a:off x="7911862" y="1251734"/>
            <a:ext cx="3219134" cy="1836908"/>
          </a:xfrm>
          <a:prstGeom prst="roundRect">
            <a:avLst/>
          </a:prstGeom>
          <a:noFill/>
          <a:ln w="57150">
            <a:solidFill>
              <a:srgbClr val="E3E6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</a:pPr>
            <a:r>
              <a:rPr lang="en-US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ON/OFF SOLENOID VALVE</a:t>
            </a:r>
            <a:r>
              <a:rPr lang="en-US" sz="1600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normally closed, which acts as the main pneumatic switch for the entire system.</a:t>
            </a:r>
            <a:endParaRPr lang="it-IT" sz="14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cxnSp>
        <p:nvCxnSpPr>
          <p:cNvPr id="7" name="Connettore 2 6">
            <a:extLst>
              <a:ext uri="{FF2B5EF4-FFF2-40B4-BE49-F238E27FC236}">
                <a16:creationId xmlns:a16="http://schemas.microsoft.com/office/drawing/2014/main" id="{1B3971F6-F4F7-DA03-C56A-9D959146A213}"/>
              </a:ext>
            </a:extLst>
          </p:cNvPr>
          <p:cNvCxnSpPr>
            <a:cxnSpLocks/>
          </p:cNvCxnSpPr>
          <p:nvPr/>
        </p:nvCxnSpPr>
        <p:spPr>
          <a:xfrm flipH="1">
            <a:off x="7391400" y="2587769"/>
            <a:ext cx="520462" cy="0"/>
          </a:xfrm>
          <a:prstGeom prst="straightConnector1">
            <a:avLst/>
          </a:prstGeom>
          <a:ln w="57150">
            <a:solidFill>
              <a:srgbClr val="E3E6E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A725048F-83DB-B607-4654-EF31FC87A1BB}"/>
              </a:ext>
            </a:extLst>
          </p:cNvPr>
          <p:cNvSpPr/>
          <p:nvPr/>
        </p:nvSpPr>
        <p:spPr>
          <a:xfrm>
            <a:off x="7911862" y="3264310"/>
            <a:ext cx="3232353" cy="1088184"/>
          </a:xfrm>
          <a:prstGeom prst="roundRect">
            <a:avLst/>
          </a:prstGeom>
          <a:noFill/>
          <a:ln w="57150">
            <a:solidFill>
              <a:srgbClr val="E3E6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CHECK VALVE, 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allows air to flow only toward the cell.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2B7D41AE-AFC9-3126-04E1-D8B9294697FF}"/>
              </a:ext>
            </a:extLst>
          </p:cNvPr>
          <p:cNvCxnSpPr>
            <a:cxnSpLocks/>
          </p:cNvCxnSpPr>
          <p:nvPr/>
        </p:nvCxnSpPr>
        <p:spPr>
          <a:xfrm flipH="1">
            <a:off x="6912077" y="3501514"/>
            <a:ext cx="999785" cy="0"/>
          </a:xfrm>
          <a:prstGeom prst="straightConnector1">
            <a:avLst/>
          </a:prstGeom>
          <a:ln w="57150">
            <a:solidFill>
              <a:srgbClr val="E3E6E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8201058F-839B-BF82-07A7-5198C423A653}"/>
              </a:ext>
            </a:extLst>
          </p:cNvPr>
          <p:cNvSpPr/>
          <p:nvPr/>
        </p:nvSpPr>
        <p:spPr>
          <a:xfrm>
            <a:off x="1061884" y="3428999"/>
            <a:ext cx="3232353" cy="1713271"/>
          </a:xfrm>
          <a:prstGeom prst="roundRect">
            <a:avLst/>
          </a:prstGeom>
          <a:noFill/>
          <a:ln w="57150">
            <a:solidFill>
              <a:srgbClr val="E3E6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3/2</a:t>
            </a:r>
            <a:r>
              <a:rPr lang="en-US" sz="1600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ELECTRO PNEUMATIC VALVE,</a:t>
            </a:r>
            <a:r>
              <a:rPr lang="en-US" sz="1600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normally closed, 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ensures air direction.</a:t>
            </a:r>
            <a:endParaRPr lang="it-IT" sz="14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DC7F416B-F623-8715-FFBD-DAD6C1A5BCC7}"/>
              </a:ext>
            </a:extLst>
          </p:cNvPr>
          <p:cNvCxnSpPr>
            <a:cxnSpLocks/>
          </p:cNvCxnSpPr>
          <p:nvPr/>
        </p:nvCxnSpPr>
        <p:spPr>
          <a:xfrm>
            <a:off x="4294237" y="3973462"/>
            <a:ext cx="531763" cy="0"/>
          </a:xfrm>
          <a:prstGeom prst="straightConnector1">
            <a:avLst/>
          </a:prstGeom>
          <a:ln w="57150">
            <a:solidFill>
              <a:srgbClr val="E3E6E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DFC47FFC-697A-EEAB-D000-6625AE78A655}"/>
              </a:ext>
            </a:extLst>
          </p:cNvPr>
          <p:cNvSpPr/>
          <p:nvPr/>
        </p:nvSpPr>
        <p:spPr>
          <a:xfrm>
            <a:off x="7897762" y="4589697"/>
            <a:ext cx="3232353" cy="1122843"/>
          </a:xfrm>
          <a:prstGeom prst="roundRect">
            <a:avLst/>
          </a:prstGeom>
          <a:noFill/>
          <a:ln w="57150">
            <a:solidFill>
              <a:srgbClr val="233D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MECHANICAL RELEASE VALVE </a:t>
            </a:r>
            <a:r>
              <a:rPr lang="en-US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keeps the internal pressure within safe limits. 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765CA736-FA47-0996-0C61-67CD284712CE}"/>
              </a:ext>
            </a:extLst>
          </p:cNvPr>
          <p:cNvCxnSpPr>
            <a:cxnSpLocks/>
          </p:cNvCxnSpPr>
          <p:nvPr/>
        </p:nvCxnSpPr>
        <p:spPr>
          <a:xfrm flipH="1">
            <a:off x="7341792" y="4882975"/>
            <a:ext cx="555970" cy="0"/>
          </a:xfrm>
          <a:prstGeom prst="straightConnector1">
            <a:avLst/>
          </a:prstGeom>
          <a:ln w="57150">
            <a:solidFill>
              <a:srgbClr val="233D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tangolo con angoli arrotondati 21">
            <a:extLst>
              <a:ext uri="{FF2B5EF4-FFF2-40B4-BE49-F238E27FC236}">
                <a16:creationId xmlns:a16="http://schemas.microsoft.com/office/drawing/2014/main" id="{0F1B995F-633D-53D5-2EEB-8A3CEC69F9D3}"/>
              </a:ext>
            </a:extLst>
          </p:cNvPr>
          <p:cNvSpPr/>
          <p:nvPr/>
        </p:nvSpPr>
        <p:spPr>
          <a:xfrm>
            <a:off x="1061884" y="2015613"/>
            <a:ext cx="3232353" cy="1042219"/>
          </a:xfrm>
          <a:prstGeom prst="roundRect">
            <a:avLst/>
          </a:prstGeom>
          <a:noFill/>
          <a:ln w="57150">
            <a:solidFill>
              <a:srgbClr val="E3E6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</a:pPr>
            <a:r>
              <a:rPr lang="en-US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COMPRESSOR,  </a:t>
            </a:r>
            <a:r>
              <a:rPr lang="en-US" sz="18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the main source of compressed air.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9345199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CE213-BF42-72C8-D141-AB86617C2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BC279720-5652-1F90-317A-D66A3BB8C3E2}"/>
              </a:ext>
            </a:extLst>
          </p:cNvPr>
          <p:cNvSpPr/>
          <p:nvPr/>
        </p:nvSpPr>
        <p:spPr>
          <a:xfrm>
            <a:off x="2605909" y="4649195"/>
            <a:ext cx="7178013" cy="1142876"/>
          </a:xfrm>
          <a:prstGeom prst="roundRect">
            <a:avLst/>
          </a:prstGeom>
          <a:noFill/>
          <a:ln w="57150">
            <a:solidFill>
              <a:srgbClr val="233D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Valves and compressor require </a:t>
            </a:r>
            <a:r>
              <a:rPr lang="en-US" sz="1600" b="1" dirty="0">
                <a:solidFill>
                  <a:srgbClr val="233D60"/>
                </a:solidFill>
              </a:rPr>
              <a:t>higher currents </a:t>
            </a:r>
            <a:r>
              <a:rPr lang="en-US" sz="1600" dirty="0">
                <a:solidFill>
                  <a:schemeClr val="tx1"/>
                </a:solidFill>
              </a:rPr>
              <a:t>than those the microcontroller can supply directly </a:t>
            </a:r>
            <a:r>
              <a:rPr lang="en-US" sz="1600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sz="1600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rgbClr val="233D60"/>
                </a:solidFill>
              </a:rPr>
              <a:t>RELAY CIRCUITS.</a:t>
            </a: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2" name="Immagine 1" descr="Immagine che contiene arredo, design, letto&#10;&#10;Il contenuto generato dall'IA potrebbe non essere corretto.">
            <a:extLst>
              <a:ext uri="{FF2B5EF4-FFF2-40B4-BE49-F238E27FC236}">
                <a16:creationId xmlns:a16="http://schemas.microsoft.com/office/drawing/2014/main" id="{2943064C-379E-E1C5-CBF6-12CB9F29FB9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8" t="81273" r="1778" b="8159"/>
          <a:stretch/>
        </p:blipFill>
        <p:spPr bwMode="auto">
          <a:xfrm>
            <a:off x="4644485" y="309802"/>
            <a:ext cx="2903030" cy="52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6BE9682C-6AD2-0F5A-963E-9E35E735448F}"/>
              </a:ext>
            </a:extLst>
          </p:cNvPr>
          <p:cNvSpPr/>
          <p:nvPr/>
        </p:nvSpPr>
        <p:spPr>
          <a:xfrm>
            <a:off x="4216401" y="1083363"/>
            <a:ext cx="6906492" cy="505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233D60"/>
                </a:solidFill>
              </a:rPr>
              <a:t>Arduino Mega 2560</a:t>
            </a:r>
            <a:r>
              <a:rPr lang="en-US" sz="1600" b="1" dirty="0">
                <a:solidFill>
                  <a:schemeClr val="tx1"/>
                </a:solidFill>
              </a:rPr>
              <a:t>:</a:t>
            </a:r>
            <a:r>
              <a:rPr lang="en-US" sz="1600" dirty="0">
                <a:solidFill>
                  <a:schemeClr val="tx1"/>
                </a:solidFill>
              </a:rPr>
              <a:t> the central control unit of the entire system.</a:t>
            </a:r>
            <a:endParaRPr lang="it-IT" sz="1600" dirty="0">
              <a:solidFill>
                <a:schemeClr val="tx1"/>
              </a:solidFill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1D33048F-0B5B-27B1-A477-2F5D685A98EE}"/>
              </a:ext>
            </a:extLst>
          </p:cNvPr>
          <p:cNvSpPr/>
          <p:nvPr/>
        </p:nvSpPr>
        <p:spPr>
          <a:xfrm>
            <a:off x="5006182" y="6038672"/>
            <a:ext cx="2179637" cy="509526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Project design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D4AC507B-1E92-6342-A5FA-507CCFA0A19C}"/>
              </a:ext>
            </a:extLst>
          </p:cNvPr>
          <p:cNvSpPr/>
          <p:nvPr/>
        </p:nvSpPr>
        <p:spPr>
          <a:xfrm>
            <a:off x="9677401" y="6283881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Conclusion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BA46CDFE-6239-7021-6A35-266106CDFDD5}"/>
              </a:ext>
            </a:extLst>
          </p:cNvPr>
          <p:cNvSpPr/>
          <p:nvPr/>
        </p:nvSpPr>
        <p:spPr>
          <a:xfrm>
            <a:off x="33496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Introduction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0D49CEF-FF89-2B9A-D2A2-07DF24BDED61}"/>
              </a:ext>
            </a:extLst>
          </p:cNvPr>
          <p:cNvSpPr/>
          <p:nvPr/>
        </p:nvSpPr>
        <p:spPr>
          <a:xfrm>
            <a:off x="267057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</a:t>
            </a:r>
            <a:r>
              <a:rPr lang="it-IT" sz="1600" dirty="0" err="1">
                <a:solidFill>
                  <a:srgbClr val="E3E6EB"/>
                </a:solidFill>
              </a:rPr>
              <a:t>proposal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8BB2AFD4-39A9-F514-F68B-31AF520AFF31}"/>
              </a:ext>
            </a:extLst>
          </p:cNvPr>
          <p:cNvSpPr/>
          <p:nvPr/>
        </p:nvSpPr>
        <p:spPr>
          <a:xfrm>
            <a:off x="7341792" y="6282690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Challenges</a:t>
            </a: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689AA92C-363F-29A7-FC9F-0728FDDE7A29}"/>
              </a:ext>
            </a:extLst>
          </p:cNvPr>
          <p:cNvSpPr txBox="1">
            <a:spLocks/>
          </p:cNvSpPr>
          <p:nvPr/>
        </p:nvSpPr>
        <p:spPr>
          <a:xfrm>
            <a:off x="385921" y="312908"/>
            <a:ext cx="11420157" cy="5230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Microcontroller: Arduino</a:t>
            </a:r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1B5C7EAE-60C7-2B10-5008-47F1EB4EDB94}"/>
              </a:ext>
            </a:extLst>
          </p:cNvPr>
          <p:cNvGrpSpPr>
            <a:grpSpLocks noChangeAspect="1"/>
          </p:cNvGrpSpPr>
          <p:nvPr/>
        </p:nvGrpSpPr>
        <p:grpSpPr>
          <a:xfrm>
            <a:off x="692231" y="1065929"/>
            <a:ext cx="3279837" cy="1615561"/>
            <a:chOff x="692231" y="2239942"/>
            <a:chExt cx="5403768" cy="2870538"/>
          </a:xfrm>
        </p:grpSpPr>
        <p:pic>
          <p:nvPicPr>
            <p:cNvPr id="5122" name="Picture 2" descr="Front view of Arduino Mega 2560 Rev3 microcontroller board featuring ATmega2560 chip, 54 digital I/O pins, 16 analog inputs, USB Type-B port, and power jack.">
              <a:extLst>
                <a:ext uri="{FF2B5EF4-FFF2-40B4-BE49-F238E27FC236}">
                  <a16:creationId xmlns:a16="http://schemas.microsoft.com/office/drawing/2014/main" id="{4678CED0-CE79-EF59-386C-C3DE917BBCB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7712" b="14626"/>
            <a:stretch/>
          </p:blipFill>
          <p:spPr bwMode="auto">
            <a:xfrm>
              <a:off x="692231" y="2239942"/>
              <a:ext cx="5403768" cy="27432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297E16A7-4B53-86C3-D6AF-B0549DE7011C}"/>
                </a:ext>
              </a:extLst>
            </p:cNvPr>
            <p:cNvSpPr/>
            <p:nvPr/>
          </p:nvSpPr>
          <p:spPr>
            <a:xfrm>
              <a:off x="834470" y="4895036"/>
              <a:ext cx="5119289" cy="21544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rPr lang="it-IT" sz="600" i="1" dirty="0">
                  <a:solidFill>
                    <a:schemeClr val="tx1"/>
                  </a:solidFill>
                  <a:sym typeface="Wingdings" panose="05000000000000000000" pitchFamily="2" charset="2"/>
                </a:rPr>
                <a:t>https://store.arduino.cc/products/arduino-mega-2560-rev3?srsltid=AfmBOoriXWEOzhxUq7rx2pqrkn9Ff-agWQZqJYAiDKFTW4Y360G7kTXg</a:t>
              </a:r>
            </a:p>
          </p:txBody>
        </p:sp>
      </p:grp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47DB2B10-A85B-9DC6-431A-2D24286699F2}"/>
              </a:ext>
            </a:extLst>
          </p:cNvPr>
          <p:cNvSpPr/>
          <p:nvPr/>
        </p:nvSpPr>
        <p:spPr>
          <a:xfrm>
            <a:off x="4372727" y="1661653"/>
            <a:ext cx="6593839" cy="948172"/>
          </a:xfrm>
          <a:prstGeom prst="round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Acquisition of pressure data from the MAT via a </a:t>
            </a:r>
            <a:r>
              <a:rPr lang="en-US" sz="1600" b="1" dirty="0">
                <a:solidFill>
                  <a:srgbClr val="233D60"/>
                </a:solidFill>
              </a:rPr>
              <a:t>USB connection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b="1" dirty="0">
                <a:solidFill>
                  <a:srgbClr val="233D60"/>
                </a:solidFill>
              </a:rPr>
              <a:t>Processing frequency: 10 Hz.</a:t>
            </a:r>
            <a:endParaRPr lang="it-IT" sz="1600" b="1" dirty="0">
              <a:solidFill>
                <a:srgbClr val="233D60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32A55A3E-AA10-5CAF-3AEE-5151D42A67C4}"/>
              </a:ext>
            </a:extLst>
          </p:cNvPr>
          <p:cNvSpPr/>
          <p:nvPr/>
        </p:nvSpPr>
        <p:spPr>
          <a:xfrm>
            <a:off x="778563" y="2858699"/>
            <a:ext cx="10807540" cy="15438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The microcontroller manages the control of the electro-pneumatic system, using </a:t>
            </a:r>
            <a:r>
              <a:rPr lang="en-US" sz="1600" b="1" dirty="0">
                <a:solidFill>
                  <a:srgbClr val="233D60"/>
                </a:solidFill>
              </a:rPr>
              <a:t>digital output pins </a:t>
            </a:r>
            <a:r>
              <a:rPr lang="en-US" sz="1600" dirty="0">
                <a:solidFill>
                  <a:schemeClr val="tx1"/>
                </a:solidFill>
              </a:rPr>
              <a:t>: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u="sng" dirty="0">
                <a:solidFill>
                  <a:schemeClr val="tx1"/>
                </a:solidFill>
              </a:rPr>
              <a:t>twelve</a:t>
            </a:r>
            <a:r>
              <a:rPr lang="en-US" sz="1600" dirty="0">
                <a:solidFill>
                  <a:schemeClr val="tx1"/>
                </a:solidFill>
              </a:rPr>
              <a:t>  for the individual control of 3/2 electro-pneumatic valves, 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u="sng" dirty="0">
                <a:solidFill>
                  <a:schemeClr val="tx1"/>
                </a:solidFill>
              </a:rPr>
              <a:t>one</a:t>
            </a:r>
            <a:r>
              <a:rPr lang="en-US" sz="1600" dirty="0">
                <a:solidFill>
                  <a:schemeClr val="tx1"/>
                </a:solidFill>
              </a:rPr>
              <a:t> dedicated pin for the main ON/OFF valve, 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u="sng" dirty="0">
                <a:solidFill>
                  <a:schemeClr val="tx1"/>
                </a:solidFill>
              </a:rPr>
              <a:t>one</a:t>
            </a:r>
            <a:r>
              <a:rPr lang="en-US" sz="1600" dirty="0">
                <a:solidFill>
                  <a:schemeClr val="tx1"/>
                </a:solidFill>
              </a:rPr>
              <a:t> additional pin for the compressor.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22C992B-5E07-8420-23F7-0FB6AE6AD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9015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21243-F4C7-51A2-8E7B-94764D452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arredo, design, letto&#10;&#10;Il contenuto generato dall'IA potrebbe non essere corretto.">
            <a:extLst>
              <a:ext uri="{FF2B5EF4-FFF2-40B4-BE49-F238E27FC236}">
                <a16:creationId xmlns:a16="http://schemas.microsoft.com/office/drawing/2014/main" id="{FD861A98-33D5-7FE0-10DE-4CF1FB3A3E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8" t="81273" r="1778" b="8159"/>
          <a:stretch/>
        </p:blipFill>
        <p:spPr bwMode="auto">
          <a:xfrm>
            <a:off x="4644485" y="309802"/>
            <a:ext cx="2903030" cy="52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Rettangolo 13">
            <a:extLst>
              <a:ext uri="{FF2B5EF4-FFF2-40B4-BE49-F238E27FC236}">
                <a16:creationId xmlns:a16="http://schemas.microsoft.com/office/drawing/2014/main" id="{73BD22E6-9DA1-CE8D-9D4E-A62A630A8E55}"/>
              </a:ext>
            </a:extLst>
          </p:cNvPr>
          <p:cNvSpPr/>
          <p:nvPr/>
        </p:nvSpPr>
        <p:spPr>
          <a:xfrm>
            <a:off x="5006182" y="6038672"/>
            <a:ext cx="2179637" cy="509526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Project design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2A099008-D3D2-A274-D827-BA35AA6CAB50}"/>
              </a:ext>
            </a:extLst>
          </p:cNvPr>
          <p:cNvSpPr/>
          <p:nvPr/>
        </p:nvSpPr>
        <p:spPr>
          <a:xfrm>
            <a:off x="9677401" y="6283881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Conclusion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D3E4ECD9-3108-69B5-AA1E-20C261BF34C2}"/>
              </a:ext>
            </a:extLst>
          </p:cNvPr>
          <p:cNvSpPr/>
          <p:nvPr/>
        </p:nvSpPr>
        <p:spPr>
          <a:xfrm>
            <a:off x="33496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Introduction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7EA2610B-66D1-80C9-5DC8-342CEF39C714}"/>
              </a:ext>
            </a:extLst>
          </p:cNvPr>
          <p:cNvSpPr/>
          <p:nvPr/>
        </p:nvSpPr>
        <p:spPr>
          <a:xfrm>
            <a:off x="267057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</a:t>
            </a:r>
            <a:r>
              <a:rPr lang="it-IT" sz="1600" dirty="0" err="1">
                <a:solidFill>
                  <a:srgbClr val="E3E6EB"/>
                </a:solidFill>
              </a:rPr>
              <a:t>proposal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FAC9D070-256C-2047-C52B-98E40642081A}"/>
              </a:ext>
            </a:extLst>
          </p:cNvPr>
          <p:cNvSpPr/>
          <p:nvPr/>
        </p:nvSpPr>
        <p:spPr>
          <a:xfrm>
            <a:off x="7341792" y="6282690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Challenges</a:t>
            </a: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5E54EE0D-D610-F13B-C2AD-94982EC95484}"/>
              </a:ext>
            </a:extLst>
          </p:cNvPr>
          <p:cNvSpPr txBox="1">
            <a:spLocks/>
          </p:cNvSpPr>
          <p:nvPr/>
        </p:nvSpPr>
        <p:spPr>
          <a:xfrm>
            <a:off x="385921" y="312908"/>
            <a:ext cx="11420157" cy="5230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Microcontroller: software</a:t>
            </a: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E9523043-1FC3-01E4-609D-53CCA115CFAA}"/>
              </a:ext>
            </a:extLst>
          </p:cNvPr>
          <p:cNvSpPr/>
          <p:nvPr/>
        </p:nvSpPr>
        <p:spPr>
          <a:xfrm>
            <a:off x="693596" y="1401227"/>
            <a:ext cx="1349054" cy="1640951"/>
          </a:xfrm>
          <a:prstGeom prst="roundRect">
            <a:avLst/>
          </a:prstGeom>
          <a:noFill/>
          <a:ln w="57150">
            <a:solidFill>
              <a:srgbClr val="E3E6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THE SYSTEM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8B7FD43C-D10D-BE67-ED03-C9011C66FE60}"/>
              </a:ext>
            </a:extLst>
          </p:cNvPr>
          <p:cNvSpPr/>
          <p:nvPr/>
        </p:nvSpPr>
        <p:spPr>
          <a:xfrm>
            <a:off x="693596" y="3641936"/>
            <a:ext cx="9652864" cy="1634795"/>
          </a:xfrm>
          <a:prstGeom prst="roundRect">
            <a:avLst/>
          </a:prstGeom>
          <a:noFill/>
          <a:ln w="57150">
            <a:solidFill>
              <a:srgbClr val="233D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buNone/>
            </a:pPr>
            <a:r>
              <a:rPr lang="en-US" sz="1600" dirty="0">
                <a:solidFill>
                  <a:schemeClr val="tx1"/>
                </a:solidFill>
              </a:rPr>
              <a:t>During the setup phase, it was </a:t>
            </a:r>
            <a:r>
              <a:rPr lang="en-US" sz="1600" b="1" dirty="0">
                <a:solidFill>
                  <a:srgbClr val="233D60"/>
                </a:solidFill>
              </a:rPr>
              <a:t>ESTIMATED</a:t>
            </a:r>
            <a:r>
              <a:rPr lang="en-US" sz="1600" dirty="0">
                <a:solidFill>
                  <a:schemeClr val="tx1"/>
                </a:solidFill>
              </a:rPr>
              <a:t> that the cell volume was </a:t>
            </a:r>
            <a:r>
              <a:rPr lang="en-US" sz="1600" b="1" dirty="0">
                <a:solidFill>
                  <a:srgbClr val="233D60"/>
                </a:solidFill>
              </a:rPr>
              <a:t>5 L </a:t>
            </a:r>
            <a:r>
              <a:rPr lang="en-US" sz="1600" dirty="0">
                <a:solidFill>
                  <a:schemeClr val="tx1"/>
                </a:solidFill>
              </a:rPr>
              <a:t>at ambient pressure.  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To reach </a:t>
            </a:r>
            <a:r>
              <a:rPr lang="en-US" sz="1600" b="1" dirty="0">
                <a:solidFill>
                  <a:srgbClr val="233D60"/>
                </a:solidFill>
              </a:rPr>
              <a:t>0.2 MPa</a:t>
            </a:r>
            <a:r>
              <a:rPr lang="en-US" sz="1600" dirty="0">
                <a:solidFill>
                  <a:schemeClr val="tx1"/>
                </a:solidFill>
              </a:rPr>
              <a:t> (~</a:t>
            </a:r>
            <a:r>
              <a:rPr lang="en-US" sz="1600" b="1" dirty="0">
                <a:solidFill>
                  <a:srgbClr val="233D60"/>
                </a:solidFill>
              </a:rPr>
              <a:t>10 L</a:t>
            </a:r>
            <a:r>
              <a:rPr lang="en-US" sz="1600" dirty="0">
                <a:solidFill>
                  <a:schemeClr val="tx1"/>
                </a:solidFill>
              </a:rPr>
              <a:t> at pressure), </a:t>
            </a:r>
            <a:r>
              <a:rPr lang="en-US" sz="1600" b="1" dirty="0">
                <a:solidFill>
                  <a:srgbClr val="233D60"/>
                </a:solidFill>
              </a:rPr>
              <a:t>17.14 s </a:t>
            </a:r>
            <a:r>
              <a:rPr lang="en-US" sz="1600" dirty="0">
                <a:solidFill>
                  <a:schemeClr val="tx1"/>
                </a:solidFill>
              </a:rPr>
              <a:t>of inflation are needed using a </a:t>
            </a:r>
            <a:r>
              <a:rPr lang="en-US" sz="1600" b="1" dirty="0">
                <a:solidFill>
                  <a:srgbClr val="233D60"/>
                </a:solidFill>
              </a:rPr>
              <a:t>35 L/min	</a:t>
            </a:r>
            <a:r>
              <a:rPr lang="en-US" sz="1600" dirty="0">
                <a:solidFill>
                  <a:schemeClr val="tx1"/>
                </a:solidFill>
              </a:rPr>
              <a:t>compressor.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0025F6E9-C1DB-C023-A909-3BFCA27D3830}"/>
              </a:ext>
            </a:extLst>
          </p:cNvPr>
          <p:cNvSpPr/>
          <p:nvPr/>
        </p:nvSpPr>
        <p:spPr>
          <a:xfrm>
            <a:off x="2998840" y="1403198"/>
            <a:ext cx="8499564" cy="688306"/>
          </a:xfrm>
          <a:prstGeom prst="round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Developed in </a:t>
            </a:r>
            <a:r>
              <a:rPr lang="en-US" sz="1600" b="1" dirty="0">
                <a:solidFill>
                  <a:srgbClr val="233D60"/>
                </a:solidFill>
              </a:rPr>
              <a:t>C++ using the Arduino IDE</a:t>
            </a:r>
            <a:endParaRPr lang="en-US" sz="1600" dirty="0">
              <a:solidFill>
                <a:srgbClr val="233D60"/>
              </a:solidFill>
            </a:endParaRPr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274736A1-A553-B5DA-7FEA-1A615D550AFC}"/>
              </a:ext>
            </a:extLst>
          </p:cNvPr>
          <p:cNvSpPr/>
          <p:nvPr/>
        </p:nvSpPr>
        <p:spPr>
          <a:xfrm>
            <a:off x="2997483" y="2355403"/>
            <a:ext cx="8500920" cy="688305"/>
          </a:xfrm>
          <a:prstGeom prst="round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real-time control of the </a:t>
            </a:r>
            <a:r>
              <a:rPr lang="en-US" sz="1600" b="1" dirty="0">
                <a:solidFill>
                  <a:srgbClr val="233D60"/>
                </a:solidFill>
              </a:rPr>
              <a:t>12 pneumatic cells </a:t>
            </a:r>
            <a:r>
              <a:rPr lang="en-US" sz="1600" dirty="0">
                <a:solidFill>
                  <a:schemeClr val="tx1"/>
                </a:solidFill>
              </a:rPr>
              <a:t>by processing pressure data at </a:t>
            </a:r>
            <a:r>
              <a:rPr lang="en-US" sz="1600" b="1" dirty="0">
                <a:solidFill>
                  <a:srgbClr val="233D60"/>
                </a:solidFill>
              </a:rPr>
              <a:t>10 Hz</a:t>
            </a:r>
            <a:endParaRPr lang="en-US" sz="1600" dirty="0">
              <a:solidFill>
                <a:srgbClr val="233D60"/>
              </a:solidFill>
            </a:endParaRPr>
          </a:p>
        </p:txBody>
      </p: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9FB23FAC-FB3A-75DE-4250-C4CEEB8FBF4F}"/>
              </a:ext>
            </a:extLst>
          </p:cNvPr>
          <p:cNvGrpSpPr>
            <a:grpSpLocks noChangeAspect="1"/>
          </p:cNvGrpSpPr>
          <p:nvPr/>
        </p:nvGrpSpPr>
        <p:grpSpPr>
          <a:xfrm>
            <a:off x="2649252" y="1403740"/>
            <a:ext cx="696461" cy="687764"/>
            <a:chOff x="2896668" y="1146246"/>
            <a:chExt cx="505662" cy="505662"/>
          </a:xfrm>
        </p:grpSpPr>
        <p:sp>
          <p:nvSpPr>
            <p:cNvPr id="10" name="Ovale 9">
              <a:extLst>
                <a:ext uri="{FF2B5EF4-FFF2-40B4-BE49-F238E27FC236}">
                  <a16:creationId xmlns:a16="http://schemas.microsoft.com/office/drawing/2014/main" id="{1717C5AB-DA39-4DE5-A568-D8AC8A57A87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96668" y="1146246"/>
              <a:ext cx="505662" cy="50566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19" name="Picture 2" descr="Motherboard ">
              <a:extLst>
                <a:ext uri="{FF2B5EF4-FFF2-40B4-BE49-F238E27FC236}">
                  <a16:creationId xmlns:a16="http://schemas.microsoft.com/office/drawing/2014/main" id="{90C0B040-8F83-5AA0-E748-9574257810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1237" y="1213462"/>
              <a:ext cx="358918" cy="3589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Gruppo 19">
            <a:extLst>
              <a:ext uri="{FF2B5EF4-FFF2-40B4-BE49-F238E27FC236}">
                <a16:creationId xmlns:a16="http://schemas.microsoft.com/office/drawing/2014/main" id="{8D06F88C-FB67-427B-4023-DE8DD1B37A50}"/>
              </a:ext>
            </a:extLst>
          </p:cNvPr>
          <p:cNvGrpSpPr>
            <a:grpSpLocks noChangeAspect="1"/>
          </p:cNvGrpSpPr>
          <p:nvPr/>
        </p:nvGrpSpPr>
        <p:grpSpPr>
          <a:xfrm>
            <a:off x="2632538" y="2355944"/>
            <a:ext cx="721529" cy="687764"/>
            <a:chOff x="2878468" y="1801348"/>
            <a:chExt cx="523862" cy="505662"/>
          </a:xfrm>
        </p:grpSpPr>
        <p:sp>
          <p:nvSpPr>
            <p:cNvPr id="13" name="Ovale 12">
              <a:extLst>
                <a:ext uri="{FF2B5EF4-FFF2-40B4-BE49-F238E27FC236}">
                  <a16:creationId xmlns:a16="http://schemas.microsoft.com/office/drawing/2014/main" id="{60B38FC6-9A13-A628-B31E-B83B74BB811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96668" y="1801348"/>
              <a:ext cx="505662" cy="50566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1027" name="Picture 3" descr="Time efficiency ">
              <a:extLst>
                <a:ext uri="{FF2B5EF4-FFF2-40B4-BE49-F238E27FC236}">
                  <a16:creationId xmlns:a16="http://schemas.microsoft.com/office/drawing/2014/main" id="{A8742694-8F09-2716-4C96-FDAEE45F26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8468" y="1853564"/>
              <a:ext cx="452322" cy="4523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Parentesi graffa aperta 22">
            <a:extLst>
              <a:ext uri="{FF2B5EF4-FFF2-40B4-BE49-F238E27FC236}">
                <a16:creationId xmlns:a16="http://schemas.microsoft.com/office/drawing/2014/main" id="{A1C5311B-C8AA-507A-D605-1988036724BF}"/>
              </a:ext>
            </a:extLst>
          </p:cNvPr>
          <p:cNvSpPr/>
          <p:nvPr/>
        </p:nvSpPr>
        <p:spPr>
          <a:xfrm>
            <a:off x="2201989" y="1401227"/>
            <a:ext cx="296276" cy="1640951"/>
          </a:xfrm>
          <a:prstGeom prst="leftBrace">
            <a:avLst>
              <a:gd name="adj1" fmla="val 61096"/>
              <a:gd name="adj2" fmla="val 50000"/>
            </a:avLst>
          </a:prstGeom>
          <a:ln w="57150">
            <a:solidFill>
              <a:srgbClr val="E3E6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27" name="Gruppo 26">
            <a:extLst>
              <a:ext uri="{FF2B5EF4-FFF2-40B4-BE49-F238E27FC236}">
                <a16:creationId xmlns:a16="http://schemas.microsoft.com/office/drawing/2014/main" id="{C2036ADE-0CFB-7969-7870-F4290ED09392}"/>
              </a:ext>
            </a:extLst>
          </p:cNvPr>
          <p:cNvGrpSpPr>
            <a:grpSpLocks noChangeAspect="1"/>
          </p:cNvGrpSpPr>
          <p:nvPr/>
        </p:nvGrpSpPr>
        <p:grpSpPr>
          <a:xfrm>
            <a:off x="9846122" y="3616273"/>
            <a:ext cx="1842194" cy="1686120"/>
            <a:chOff x="3357758" y="1066283"/>
            <a:chExt cx="4631332" cy="4238959"/>
          </a:xfrm>
        </p:grpSpPr>
        <p:sp>
          <p:nvSpPr>
            <p:cNvPr id="26" name="Ovale 25">
              <a:extLst>
                <a:ext uri="{FF2B5EF4-FFF2-40B4-BE49-F238E27FC236}">
                  <a16:creationId xmlns:a16="http://schemas.microsoft.com/office/drawing/2014/main" id="{E0A33AEA-2351-DEDD-3972-907C717C78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57758" y="1096843"/>
              <a:ext cx="4132714" cy="4132714"/>
            </a:xfrm>
            <a:prstGeom prst="ellipse">
              <a:avLst/>
            </a:prstGeom>
            <a:solidFill>
              <a:srgbClr val="E3E6E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25" name="Immagine 24">
              <a:extLst>
                <a:ext uri="{FF2B5EF4-FFF2-40B4-BE49-F238E27FC236}">
                  <a16:creationId xmlns:a16="http://schemas.microsoft.com/office/drawing/2014/main" id="{417A0A91-2A2F-50FE-2D6C-BA4F0BC62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8008" b="97461" l="586" r="91797">
                          <a14:foregroundMark x1="25391" y1="29102" x2="25391" y2="29102"/>
                          <a14:foregroundMark x1="11914" y1="13086" x2="6445" y2="50977"/>
                          <a14:foregroundMark x1="6445" y1="50977" x2="31055" y2="51172"/>
                          <a14:foregroundMark x1="31055" y1="51172" x2="38086" y2="30273"/>
                          <a14:foregroundMark x1="38086" y1="30273" x2="38086" y2="29883"/>
                          <a14:foregroundMark x1="781" y1="15234" x2="781" y2="15234"/>
                          <a14:foregroundMark x1="10352" y1="25586" x2="33594" y2="54297"/>
                          <a14:foregroundMark x1="33594" y1="54297" x2="35352" y2="52539"/>
                          <a14:foregroundMark x1="42383" y1="39648" x2="39844" y2="28516"/>
                          <a14:foregroundMark x1="39844" y1="28516" x2="36328" y2="23438"/>
                          <a14:foregroundMark x1="25000" y1="29883" x2="25000" y2="29883"/>
                          <a14:foregroundMark x1="21289" y1="29492" x2="21289" y2="29492"/>
                          <a14:foregroundMark x1="22656" y1="29492" x2="27539" y2="31055"/>
                          <a14:foregroundMark x1="28125" y1="24609" x2="26172" y2="32813"/>
                          <a14:foregroundMark x1="1367" y1="20313" x2="2148" y2="34180"/>
                          <a14:foregroundMark x1="2539" y1="13281" x2="36719" y2="14258"/>
                          <a14:foregroundMark x1="40339" y1="15820" x2="40234" y2="18945"/>
                          <a14:foregroundMark x1="40430" y1="13086" x2="40339" y2="15820"/>
                          <a14:foregroundMark x1="16211" y1="12109" x2="39648" y2="13086"/>
                          <a14:foregroundMark x1="49219" y1="94141" x2="49219" y2="94141"/>
                          <a14:foregroundMark x1="91992" y1="78711" x2="91992" y2="78711"/>
                          <a14:foregroundMark x1="40234" y1="45508" x2="40234" y2="45508"/>
                          <a14:foregroundMark x1="37891" y1="33203" x2="38477" y2="58008"/>
                          <a14:foregroundMark x1="2344" y1="31836" x2="2539" y2="48633"/>
                          <a14:foregroundMark x1="2539" y1="48633" x2="5859" y2="58398"/>
                          <a14:foregroundMark x1="5859" y1="58398" x2="36914" y2="59766"/>
                          <a14:foregroundMark x1="18945" y1="20117" x2="25391" y2="49414"/>
                          <a14:foregroundMark x1="18750" y1="25586" x2="10742" y2="43164"/>
                          <a14:foregroundMark x1="19922" y1="38672" x2="28125" y2="55273"/>
                          <a14:foregroundMark x1="28125" y1="55273" x2="28125" y2="55078"/>
                          <a14:foregroundMark x1="28711" y1="31836" x2="29102" y2="48633"/>
                          <a14:foregroundMark x1="3516" y1="58594" x2="3516" y2="58594"/>
                          <a14:foregroundMark x1="2344" y1="52148" x2="2344" y2="59766"/>
                          <a14:foregroundMark x1="55859" y1="8203" x2="55859" y2="8203"/>
                          <a14:foregroundMark x1="39258" y1="24609" x2="6641" y2="23438"/>
                          <a14:foregroundMark x1="12109" y1="31836" x2="11328" y2="50586"/>
                          <a14:foregroundMark x1="19922" y1="41797" x2="19922" y2="50195"/>
                          <a14:foregroundMark x1="33984" y1="31445" x2="33984" y2="31445"/>
                          <a14:foregroundMark x1="11523" y1="59766" x2="11523" y2="59766"/>
                          <a14:foregroundMark x1="46875" y1="97461" x2="46875" y2="97461"/>
                          <a14:foregroundMark x1="53602" y1="72168" x2="53711" y2="72852"/>
                          <a14:backgroundMark x1="12500" y1="62305" x2="12500" y2="62305"/>
                          <a14:backgroundMark x1="75195" y1="34961" x2="75195" y2="34961"/>
                          <a14:backgroundMark x1="43164" y1="15820" x2="43164" y2="15820"/>
                          <a14:backgroundMark x1="53516" y1="70117" x2="53516" y2="70117"/>
                          <a14:backgroundMark x1="53125" y1="68945" x2="53125" y2="68945"/>
                          <a14:backgroundMark x1="51953" y1="70117" x2="51953" y2="70117"/>
                          <a14:backgroundMark x1="53320" y1="70898" x2="53320" y2="70898"/>
                          <a14:backgroundMark x1="53711" y1="70898" x2="53711" y2="70898"/>
                          <a14:backgroundMark x1="53125" y1="69727" x2="53906" y2="72070"/>
                          <a14:backgroundMark x1="53320" y1="68945" x2="53320" y2="68945"/>
                          <a14:backgroundMark x1="52930" y1="67578" x2="53906" y2="72070"/>
                          <a14:backgroundMark x1="66016" y1="44922" x2="70508" y2="45313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3750132" y="1066283"/>
              <a:ext cx="4238958" cy="4238959"/>
            </a:xfrm>
            <a:prstGeom prst="rect">
              <a:avLst/>
            </a:prstGeom>
          </p:spPr>
        </p:pic>
      </p:grp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1CB8787-697A-C3C2-23F5-4E2AF6BFA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21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1809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AE7BE-8EA9-93CF-823F-CA9D1938A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arredo, design, letto&#10;&#10;Il contenuto generato dall'IA potrebbe non essere corretto.">
            <a:extLst>
              <a:ext uri="{FF2B5EF4-FFF2-40B4-BE49-F238E27FC236}">
                <a16:creationId xmlns:a16="http://schemas.microsoft.com/office/drawing/2014/main" id="{F9A825C8-5A5D-A124-AD51-1F01BA6376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8" t="81273" r="1778" b="8159"/>
          <a:stretch/>
        </p:blipFill>
        <p:spPr bwMode="auto">
          <a:xfrm>
            <a:off x="4644485" y="309802"/>
            <a:ext cx="2903030" cy="52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Rettangolo 13">
            <a:extLst>
              <a:ext uri="{FF2B5EF4-FFF2-40B4-BE49-F238E27FC236}">
                <a16:creationId xmlns:a16="http://schemas.microsoft.com/office/drawing/2014/main" id="{395A11E1-A8BC-D354-0621-72FAEA41C0DC}"/>
              </a:ext>
            </a:extLst>
          </p:cNvPr>
          <p:cNvSpPr/>
          <p:nvPr/>
        </p:nvSpPr>
        <p:spPr>
          <a:xfrm>
            <a:off x="5006182" y="6038672"/>
            <a:ext cx="2179637" cy="509526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Project design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D2DDBABE-55D3-860D-C32B-AD1EB7702D6E}"/>
              </a:ext>
            </a:extLst>
          </p:cNvPr>
          <p:cNvSpPr/>
          <p:nvPr/>
        </p:nvSpPr>
        <p:spPr>
          <a:xfrm>
            <a:off x="9677401" y="6283881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Conclusion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BADE7A26-DA23-1F21-83F6-3B79DE3C5FCF}"/>
              </a:ext>
            </a:extLst>
          </p:cNvPr>
          <p:cNvSpPr/>
          <p:nvPr/>
        </p:nvSpPr>
        <p:spPr>
          <a:xfrm>
            <a:off x="33496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Introduction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88043F9A-C6F5-AFF9-CB03-7EFB6900D813}"/>
              </a:ext>
            </a:extLst>
          </p:cNvPr>
          <p:cNvSpPr/>
          <p:nvPr/>
        </p:nvSpPr>
        <p:spPr>
          <a:xfrm>
            <a:off x="267057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</a:t>
            </a:r>
            <a:r>
              <a:rPr lang="it-IT" sz="1600" dirty="0" err="1">
                <a:solidFill>
                  <a:srgbClr val="E3E6EB"/>
                </a:solidFill>
              </a:rPr>
              <a:t>proposal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1E8EEE0-BA15-845D-5BBC-F29B98DEFF2E}"/>
              </a:ext>
            </a:extLst>
          </p:cNvPr>
          <p:cNvSpPr/>
          <p:nvPr/>
        </p:nvSpPr>
        <p:spPr>
          <a:xfrm>
            <a:off x="7341792" y="6282690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Challenges</a:t>
            </a:r>
          </a:p>
        </p:txBody>
      </p:sp>
      <p:sp>
        <p:nvSpPr>
          <p:cNvPr id="12" name="Titolo 1">
            <a:extLst>
              <a:ext uri="{FF2B5EF4-FFF2-40B4-BE49-F238E27FC236}">
                <a16:creationId xmlns:a16="http://schemas.microsoft.com/office/drawing/2014/main" id="{7A12E4C7-4C56-EE8D-80B3-A720D3C0B62D}"/>
              </a:ext>
            </a:extLst>
          </p:cNvPr>
          <p:cNvSpPr txBox="1">
            <a:spLocks/>
          </p:cNvSpPr>
          <p:nvPr/>
        </p:nvSpPr>
        <p:spPr>
          <a:xfrm>
            <a:off x="385921" y="312908"/>
            <a:ext cx="11420157" cy="5230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Microcontroller: software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7ADA8E3C-760D-3AE2-389F-9C92D12F07D3}"/>
              </a:ext>
            </a:extLst>
          </p:cNvPr>
          <p:cNvSpPr/>
          <p:nvPr/>
        </p:nvSpPr>
        <p:spPr>
          <a:xfrm>
            <a:off x="692229" y="2834004"/>
            <a:ext cx="3162140" cy="995355"/>
          </a:xfrm>
          <a:prstGeom prst="roundRect">
            <a:avLst/>
          </a:prstGeom>
          <a:noFill/>
          <a:ln w="57150">
            <a:solidFill>
              <a:srgbClr val="E3E6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buNone/>
            </a:pPr>
            <a:r>
              <a:rPr lang="it-IT" sz="1600" b="1" dirty="0">
                <a:solidFill>
                  <a:srgbClr val="233D60"/>
                </a:solidFill>
              </a:rPr>
              <a:t>DURING </a:t>
            </a:r>
            <a:br>
              <a:rPr lang="it-IT" sz="1600" b="1" dirty="0">
                <a:solidFill>
                  <a:srgbClr val="233D60"/>
                </a:solidFill>
              </a:rPr>
            </a:br>
            <a:r>
              <a:rPr lang="it-IT" sz="1600" b="1" dirty="0">
                <a:solidFill>
                  <a:srgbClr val="233D60"/>
                </a:solidFill>
              </a:rPr>
              <a:t>NORMAL USE</a:t>
            </a:r>
            <a:endParaRPr lang="en-US" sz="1600" b="1" dirty="0">
              <a:solidFill>
                <a:srgbClr val="233D60"/>
              </a:solidFill>
            </a:endParaRP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D2CB437D-C128-C8B0-1A5F-BBF9B7A28BB5}"/>
              </a:ext>
            </a:extLst>
          </p:cNvPr>
          <p:cNvSpPr/>
          <p:nvPr/>
        </p:nvSpPr>
        <p:spPr>
          <a:xfrm>
            <a:off x="1584959" y="4270521"/>
            <a:ext cx="9913443" cy="12192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233D60"/>
                </a:solidFill>
              </a:rPr>
              <a:t>Pressure control </a:t>
            </a:r>
            <a:r>
              <a:rPr lang="en-US" sz="1600" dirty="0">
                <a:solidFill>
                  <a:schemeClr val="tx1"/>
                </a:solidFill>
              </a:rPr>
              <a:t>on each individual sensor: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calculation and monitoring of average pressures based on the </a:t>
            </a:r>
            <a:r>
              <a:rPr lang="en-US" sz="1600" i="1" dirty="0" err="1">
                <a:solidFill>
                  <a:schemeClr val="tx1"/>
                </a:solidFill>
              </a:rPr>
              <a:t>Reswick</a:t>
            </a:r>
            <a:r>
              <a:rPr lang="en-US" sz="1600" i="1" dirty="0">
                <a:solidFill>
                  <a:schemeClr val="tx1"/>
                </a:solidFill>
              </a:rPr>
              <a:t> and Rogers curve, </a:t>
            </a: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triggering automatic interventions if the 300 mmHg hour threshold is exceeded.</a:t>
            </a:r>
          </a:p>
        </p:txBody>
      </p:sp>
      <p:pic>
        <p:nvPicPr>
          <p:cNvPr id="3074" name="Picture 2" descr="Gauge ">
            <a:extLst>
              <a:ext uri="{FF2B5EF4-FFF2-40B4-BE49-F238E27FC236}">
                <a16:creationId xmlns:a16="http://schemas.microsoft.com/office/drawing/2014/main" id="{58C8439B-FF9C-DEA5-ACE1-9991DB7A4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5359" y="427052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31C93848-9C75-C59A-FE4F-304DA71E3E85}"/>
              </a:ext>
            </a:extLst>
          </p:cNvPr>
          <p:cNvSpPr/>
          <p:nvPr/>
        </p:nvSpPr>
        <p:spPr>
          <a:xfrm>
            <a:off x="692229" y="1368276"/>
            <a:ext cx="3162141" cy="995355"/>
          </a:xfrm>
          <a:prstGeom prst="roundRect">
            <a:avLst/>
          </a:prstGeom>
          <a:noFill/>
          <a:ln w="57150">
            <a:solidFill>
              <a:srgbClr val="E3E6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buNone/>
            </a:pPr>
            <a:r>
              <a:rPr lang="it-IT" sz="1600" b="1" dirty="0">
                <a:solidFill>
                  <a:srgbClr val="233D60"/>
                </a:solidFill>
              </a:rPr>
              <a:t>AT SYSTEM </a:t>
            </a:r>
            <a:br>
              <a:rPr lang="it-IT" sz="1600" b="1" dirty="0">
                <a:solidFill>
                  <a:srgbClr val="233D60"/>
                </a:solidFill>
              </a:rPr>
            </a:br>
            <a:r>
              <a:rPr lang="it-IT" sz="1600" b="1" dirty="0">
                <a:solidFill>
                  <a:srgbClr val="233D60"/>
                </a:solidFill>
              </a:rPr>
              <a:t>STARTUP</a:t>
            </a:r>
            <a:endParaRPr lang="en-US" sz="1600" b="1" dirty="0">
              <a:solidFill>
                <a:srgbClr val="233D60"/>
              </a:solidFill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E23AA3DC-90E8-256D-CAA5-1CA07B8BBFD9}"/>
              </a:ext>
            </a:extLst>
          </p:cNvPr>
          <p:cNvSpPr/>
          <p:nvPr/>
        </p:nvSpPr>
        <p:spPr>
          <a:xfrm>
            <a:off x="3636295" y="1368276"/>
            <a:ext cx="7863475" cy="995355"/>
          </a:xfrm>
          <a:prstGeom prst="roundRect">
            <a:avLst/>
          </a:prstGeom>
          <a:solidFill>
            <a:srgbClr val="E3E6EB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>
              <a:lnSpc>
                <a:spcPct val="150000"/>
              </a:lnSpc>
            </a:pPr>
            <a:r>
              <a:rPr lang="it-IT" sz="1600" dirty="0">
                <a:solidFill>
                  <a:schemeClr val="tx1"/>
                </a:solidFill>
              </a:rPr>
              <a:t>	a</a:t>
            </a:r>
            <a:r>
              <a:rPr lang="en-US" sz="1600" dirty="0" err="1">
                <a:solidFill>
                  <a:schemeClr val="tx1"/>
                </a:solidFill>
              </a:rPr>
              <a:t>ll</a:t>
            </a:r>
            <a:r>
              <a:rPr lang="en-US" sz="1600" dirty="0">
                <a:solidFill>
                  <a:schemeClr val="tx1"/>
                </a:solidFill>
              </a:rPr>
              <a:t> cells are inflated for </a:t>
            </a:r>
            <a:r>
              <a:rPr lang="en-US" sz="1600" b="1" dirty="0">
                <a:solidFill>
                  <a:srgbClr val="233D60"/>
                </a:solidFill>
              </a:rPr>
              <a:t>20 s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to ensure operational pressure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40A06CC5-62C8-3B75-5200-261D92D19CD7}"/>
              </a:ext>
            </a:extLst>
          </p:cNvPr>
          <p:cNvSpPr/>
          <p:nvPr/>
        </p:nvSpPr>
        <p:spPr>
          <a:xfrm>
            <a:off x="3636294" y="2834004"/>
            <a:ext cx="7863475" cy="995355"/>
          </a:xfrm>
          <a:prstGeom prst="roundRect">
            <a:avLst/>
          </a:prstGeom>
          <a:solidFill>
            <a:srgbClr val="E3E6EB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it-IT" sz="1600" dirty="0">
                <a:solidFill>
                  <a:schemeClr val="tx1"/>
                </a:solidFill>
              </a:rPr>
              <a:t>	the system </a:t>
            </a:r>
            <a:r>
              <a:rPr lang="it-IT" sz="1600" dirty="0" err="1">
                <a:solidFill>
                  <a:schemeClr val="tx1"/>
                </a:solidFill>
              </a:rPr>
              <a:t>performs</a:t>
            </a:r>
            <a:r>
              <a:rPr lang="it-IT" sz="1600" dirty="0">
                <a:solidFill>
                  <a:schemeClr val="tx1"/>
                </a:solidFill>
              </a:rPr>
              <a:t> a </a:t>
            </a:r>
            <a:r>
              <a:rPr lang="it-IT" sz="1600" b="1" dirty="0">
                <a:solidFill>
                  <a:srgbClr val="233D60"/>
                </a:solidFill>
              </a:rPr>
              <a:t>brief general </a:t>
            </a:r>
            <a:r>
              <a:rPr lang="it-IT" sz="1600" b="1" dirty="0" err="1">
                <a:solidFill>
                  <a:srgbClr val="233D60"/>
                </a:solidFill>
              </a:rPr>
              <a:t>inflation</a:t>
            </a:r>
            <a:r>
              <a:rPr lang="it-IT" sz="1600" b="1" dirty="0">
                <a:solidFill>
                  <a:srgbClr val="233D60"/>
                </a:solidFill>
              </a:rPr>
              <a:t> </a:t>
            </a:r>
            <a:r>
              <a:rPr lang="it-IT" sz="1600" dirty="0" err="1">
                <a:solidFill>
                  <a:schemeClr val="tx1"/>
                </a:solidFill>
              </a:rPr>
              <a:t>every</a:t>
            </a:r>
            <a:r>
              <a:rPr lang="it-IT" sz="1600" dirty="0">
                <a:solidFill>
                  <a:schemeClr val="tx1"/>
                </a:solidFill>
              </a:rPr>
              <a:t> </a:t>
            </a:r>
            <a:r>
              <a:rPr lang="it-IT" sz="1600" b="1" dirty="0">
                <a:solidFill>
                  <a:srgbClr val="233D60"/>
                </a:solidFill>
              </a:rPr>
              <a:t>3 min </a:t>
            </a:r>
            <a:endParaRPr lang="en-US" sz="1600" b="1" dirty="0">
              <a:solidFill>
                <a:srgbClr val="233D60"/>
              </a:solidFill>
            </a:endParaRPr>
          </a:p>
        </p:txBody>
      </p:sp>
      <p:sp>
        <p:nvSpPr>
          <p:cNvPr id="25" name="Ovale 24">
            <a:extLst>
              <a:ext uri="{FF2B5EF4-FFF2-40B4-BE49-F238E27FC236}">
                <a16:creationId xmlns:a16="http://schemas.microsoft.com/office/drawing/2014/main" id="{F85BBBB1-B38E-22D1-6E8C-8CB33EEA1903}"/>
              </a:ext>
            </a:extLst>
          </p:cNvPr>
          <p:cNvSpPr/>
          <p:nvPr/>
        </p:nvSpPr>
        <p:spPr>
          <a:xfrm>
            <a:off x="3128202" y="1277120"/>
            <a:ext cx="1400537" cy="117713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109E70AC-39DB-61BD-18F7-9519D3F16B60}"/>
              </a:ext>
            </a:extLst>
          </p:cNvPr>
          <p:cNvSpPr/>
          <p:nvPr/>
        </p:nvSpPr>
        <p:spPr>
          <a:xfrm>
            <a:off x="3377439" y="2766038"/>
            <a:ext cx="1151300" cy="110207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7" name="Picture 2" descr="Alarm ">
            <a:extLst>
              <a:ext uri="{FF2B5EF4-FFF2-40B4-BE49-F238E27FC236}">
                <a16:creationId xmlns:a16="http://schemas.microsoft.com/office/drawing/2014/main" id="{12E3FFF4-E0B1-D783-E0A7-9B713B7E3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1810" y="2987640"/>
            <a:ext cx="622557" cy="622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Immagine 28">
            <a:extLst>
              <a:ext uri="{FF2B5EF4-FFF2-40B4-BE49-F238E27FC236}">
                <a16:creationId xmlns:a16="http://schemas.microsoft.com/office/drawing/2014/main" id="{025D2BBC-0088-E14C-5BAD-4157278D97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1324" y="1399411"/>
            <a:ext cx="871139" cy="871139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CB9AFB07-9771-86DF-FD13-073A97F60787}"/>
              </a:ext>
            </a:extLst>
          </p:cNvPr>
          <p:cNvSpPr txBox="1"/>
          <p:nvPr/>
        </p:nvSpPr>
        <p:spPr>
          <a:xfrm>
            <a:off x="334962" y="5854006"/>
            <a:ext cx="5954078" cy="184666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lang="en-US" sz="600" dirty="0">
                <a:solidFill>
                  <a:srgbClr val="21212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Gefen, A. (2009). </a:t>
            </a:r>
            <a:r>
              <a:rPr lang="en-US" sz="600" i="1" dirty="0" err="1">
                <a:solidFill>
                  <a:srgbClr val="21212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Reswick</a:t>
            </a:r>
            <a:r>
              <a:rPr lang="en-US" sz="600" i="1" dirty="0">
                <a:solidFill>
                  <a:srgbClr val="21212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 and Rogers pressure-time curve for pressure ulcer risk. </a:t>
            </a:r>
            <a:endParaRPr lang="it-IT" sz="600" i="1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9CE909A-5FA5-3105-D3DF-4863D8B0B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22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17205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3E816-5371-601A-55AF-87B40C84F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E30EEA00-7CB7-BD6E-1BF1-7B2F730A1553}"/>
              </a:ext>
            </a:extLst>
          </p:cNvPr>
          <p:cNvSpPr/>
          <p:nvPr/>
        </p:nvSpPr>
        <p:spPr>
          <a:xfrm>
            <a:off x="2675924" y="1132082"/>
            <a:ext cx="6840153" cy="801143"/>
          </a:xfrm>
          <a:prstGeom prst="roundRect">
            <a:avLst/>
          </a:prstGeom>
          <a:noFill/>
          <a:ln w="57150">
            <a:solidFill>
              <a:srgbClr val="E3E6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</a:pPr>
            <a:r>
              <a:rPr lang="en-GB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Shape and number of air chambers</a:t>
            </a:r>
            <a:r>
              <a:rPr lang="en-GB" sz="1600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:  </a:t>
            </a:r>
            <a:r>
              <a:rPr lang="en-GB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balance ergonomics </a:t>
            </a:r>
            <a:br>
              <a:rPr lang="en-GB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GB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and technical simplicity.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2459AEE1-7666-67E2-C8F4-F49B9CE01141}"/>
              </a:ext>
            </a:extLst>
          </p:cNvPr>
          <p:cNvSpPr/>
          <p:nvPr/>
        </p:nvSpPr>
        <p:spPr>
          <a:xfrm>
            <a:off x="1548703" y="2258977"/>
            <a:ext cx="9094595" cy="1287577"/>
          </a:xfrm>
          <a:prstGeom prst="round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</a:pPr>
            <a:r>
              <a:rPr lang="en-GB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Wiring</a:t>
            </a:r>
            <a:r>
              <a:rPr lang="en-GB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: holes in the trike frame to pass the air tubes under the frame. </a:t>
            </a:r>
            <a:br>
              <a:rPr lang="en-GB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GB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A net under the frame could hold the tubes and valves neatly, making </a:t>
            </a:r>
            <a:br>
              <a:rPr lang="en-GB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GB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the system lighter, safer, and better organized.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A43E233F-B6C2-B51D-909F-6008D7793B0C}"/>
              </a:ext>
            </a:extLst>
          </p:cNvPr>
          <p:cNvSpPr/>
          <p:nvPr/>
        </p:nvSpPr>
        <p:spPr>
          <a:xfrm>
            <a:off x="2675924" y="3872306"/>
            <a:ext cx="6840153" cy="818870"/>
          </a:xfrm>
          <a:prstGeom prst="roundRect">
            <a:avLst/>
          </a:prstGeom>
          <a:noFill/>
          <a:ln w="57150">
            <a:solidFill>
              <a:srgbClr val="E3E6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</a:pPr>
            <a:r>
              <a:rPr lang="en-GB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Software interface</a:t>
            </a:r>
            <a:r>
              <a:rPr lang="en-GB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: to make software bridge </a:t>
            </a:r>
            <a:br>
              <a:rPr lang="en-GB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GB" sz="1600" dirty="0" err="1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using</a:t>
            </a:r>
            <a:r>
              <a:rPr lang="en-GB" sz="1600" i="1" dirty="0" err="1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Tekscan</a:t>
            </a:r>
            <a:r>
              <a:rPr lang="en-GB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 SDK.</a:t>
            </a:r>
            <a:endParaRPr lang="it-IT" sz="1600" dirty="0">
              <a:solidFill>
                <a:schemeClr val="tx1"/>
              </a:solidFill>
              <a:effectLst/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BFF99EBA-629E-D281-370A-6CF69761C34E}"/>
              </a:ext>
            </a:extLst>
          </p:cNvPr>
          <p:cNvSpPr/>
          <p:nvPr/>
        </p:nvSpPr>
        <p:spPr>
          <a:xfrm>
            <a:off x="1588370" y="5016929"/>
            <a:ext cx="9094595" cy="654535"/>
          </a:xfrm>
          <a:prstGeom prst="round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50000"/>
              </a:lnSpc>
              <a:spcAft>
                <a:spcPts val="500"/>
              </a:spcAft>
            </a:pPr>
            <a:r>
              <a:rPr lang="en-GB" sz="1600" b="1" dirty="0">
                <a:solidFill>
                  <a:srgbClr val="233D60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Outdoor use and total weight</a:t>
            </a:r>
            <a:r>
              <a:rPr lang="en-GB" sz="1600" dirty="0">
                <a:solidFill>
                  <a:schemeClr val="tx1"/>
                </a:solidFill>
                <a:effectLst/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: we need to make lighter versions.</a:t>
            </a:r>
            <a:r>
              <a:rPr lang="it-IT" sz="1600" dirty="0">
                <a:solidFill>
                  <a:schemeClr val="tx1"/>
                </a:solidFill>
              </a:rPr>
              <a:t> </a:t>
            </a:r>
            <a:endParaRPr lang="it-IT" sz="1600" i="1" dirty="0">
              <a:solidFill>
                <a:schemeClr val="tx1"/>
              </a:solidFill>
              <a:sym typeface="Wingdings" panose="05000000000000000000" pitchFamily="2" charset="2"/>
            </a:endParaRP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8B6B960-DCC3-7276-BE72-7D3694C29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23</a:t>
            </a:fld>
            <a:endParaRPr lang="it-IT"/>
          </a:p>
        </p:txBody>
      </p:sp>
      <p:sp>
        <p:nvSpPr>
          <p:cNvPr id="19" name="Titolo 1">
            <a:extLst>
              <a:ext uri="{FF2B5EF4-FFF2-40B4-BE49-F238E27FC236}">
                <a16:creationId xmlns:a16="http://schemas.microsoft.com/office/drawing/2014/main" id="{B42AF4EB-59AF-8EB2-7D53-13CE7A843458}"/>
              </a:ext>
            </a:extLst>
          </p:cNvPr>
          <p:cNvSpPr txBox="1">
            <a:spLocks/>
          </p:cNvSpPr>
          <p:nvPr/>
        </p:nvSpPr>
        <p:spPr>
          <a:xfrm>
            <a:off x="385921" y="312908"/>
            <a:ext cx="11420157" cy="5230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Steps for future improvements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BAE46CF6-069C-0F6D-0B33-DBE3E6633646}"/>
              </a:ext>
            </a:extLst>
          </p:cNvPr>
          <p:cNvSpPr/>
          <p:nvPr/>
        </p:nvSpPr>
        <p:spPr>
          <a:xfrm>
            <a:off x="500618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design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9098F7E5-9AAE-D7C6-8978-48AC085E7EEE}"/>
              </a:ext>
            </a:extLst>
          </p:cNvPr>
          <p:cNvSpPr/>
          <p:nvPr/>
        </p:nvSpPr>
        <p:spPr>
          <a:xfrm>
            <a:off x="7341792" y="6038672"/>
            <a:ext cx="2179637" cy="523050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Challenges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1F0132C5-D803-A25F-F8AE-1FD1A453AE78}"/>
              </a:ext>
            </a:extLst>
          </p:cNvPr>
          <p:cNvSpPr/>
          <p:nvPr/>
        </p:nvSpPr>
        <p:spPr>
          <a:xfrm>
            <a:off x="9677401" y="6283881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Conclusion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C18F3746-DA88-BD65-A1A3-29D6828ABEB6}"/>
              </a:ext>
            </a:extLst>
          </p:cNvPr>
          <p:cNvSpPr/>
          <p:nvPr/>
        </p:nvSpPr>
        <p:spPr>
          <a:xfrm>
            <a:off x="33496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Introduction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295D25D2-4BE6-B5A5-E02B-C7E26E772F30}"/>
              </a:ext>
            </a:extLst>
          </p:cNvPr>
          <p:cNvSpPr/>
          <p:nvPr/>
        </p:nvSpPr>
        <p:spPr>
          <a:xfrm>
            <a:off x="267057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</a:t>
            </a:r>
            <a:r>
              <a:rPr lang="it-IT" sz="1600" dirty="0" err="1">
                <a:solidFill>
                  <a:srgbClr val="E3E6EB"/>
                </a:solidFill>
              </a:rPr>
              <a:t>proposal</a:t>
            </a:r>
            <a:endParaRPr lang="it-IT" sz="1600" dirty="0">
              <a:solidFill>
                <a:srgbClr val="E3E6EB"/>
              </a:solidFill>
            </a:endParaRPr>
          </a:p>
        </p:txBody>
      </p:sp>
      <p:grpSp>
        <p:nvGrpSpPr>
          <p:cNvPr id="23" name="Gruppo 22">
            <a:extLst>
              <a:ext uri="{FF2B5EF4-FFF2-40B4-BE49-F238E27FC236}">
                <a16:creationId xmlns:a16="http://schemas.microsoft.com/office/drawing/2014/main" id="{F79CE2DB-9FE9-7629-FDDC-C1C0A0BF81E2}"/>
              </a:ext>
            </a:extLst>
          </p:cNvPr>
          <p:cNvGrpSpPr/>
          <p:nvPr/>
        </p:nvGrpSpPr>
        <p:grpSpPr>
          <a:xfrm>
            <a:off x="2241043" y="1109178"/>
            <a:ext cx="859055" cy="859055"/>
            <a:chOff x="1780173" y="1271986"/>
            <a:chExt cx="859055" cy="859055"/>
          </a:xfrm>
        </p:grpSpPr>
        <p:sp>
          <p:nvSpPr>
            <p:cNvPr id="22" name="Ovale 21">
              <a:extLst>
                <a:ext uri="{FF2B5EF4-FFF2-40B4-BE49-F238E27FC236}">
                  <a16:creationId xmlns:a16="http://schemas.microsoft.com/office/drawing/2014/main" id="{40253CD1-50CE-8439-612A-32ED80B24D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80173" y="1271986"/>
              <a:ext cx="859055" cy="85905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pic>
          <p:nvPicPr>
            <p:cNvPr id="2050" name="Picture 2" descr="Shapes">
              <a:extLst>
                <a:ext uri="{FF2B5EF4-FFF2-40B4-BE49-F238E27FC236}">
                  <a16:creationId xmlns:a16="http://schemas.microsoft.com/office/drawing/2014/main" id="{A164B7CF-4C8A-65F0-7B93-8E1A564FFA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01743" y="1335197"/>
              <a:ext cx="712856" cy="7128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8AECE29F-3356-33F7-87EB-DBFFFB9AC688}"/>
              </a:ext>
            </a:extLst>
          </p:cNvPr>
          <p:cNvGrpSpPr>
            <a:grpSpLocks noChangeAspect="1"/>
          </p:cNvGrpSpPr>
          <p:nvPr/>
        </p:nvGrpSpPr>
        <p:grpSpPr>
          <a:xfrm>
            <a:off x="9832253" y="2271731"/>
            <a:ext cx="1326433" cy="1304689"/>
            <a:chOff x="10117336" y="2283425"/>
            <a:chExt cx="1089210" cy="1089209"/>
          </a:xfrm>
        </p:grpSpPr>
        <p:sp>
          <p:nvSpPr>
            <p:cNvPr id="18" name="Ovale 17">
              <a:extLst>
                <a:ext uri="{FF2B5EF4-FFF2-40B4-BE49-F238E27FC236}">
                  <a16:creationId xmlns:a16="http://schemas.microsoft.com/office/drawing/2014/main" id="{5E62A342-454E-96D1-FF2F-4839F6F07A5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117336" y="2283425"/>
              <a:ext cx="1089210" cy="108920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14" name="Immagine 13">
              <a:extLst>
                <a:ext uri="{FF2B5EF4-FFF2-40B4-BE49-F238E27FC236}">
                  <a16:creationId xmlns:a16="http://schemas.microsoft.com/office/drawing/2014/main" id="{B957A5C8-E42C-A10A-3452-9923A9638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70375" y="2381995"/>
              <a:ext cx="936171" cy="936171"/>
            </a:xfrm>
            <a:prstGeom prst="rect">
              <a:avLst/>
            </a:prstGeom>
          </p:spPr>
        </p:pic>
      </p:grpSp>
      <p:grpSp>
        <p:nvGrpSpPr>
          <p:cNvPr id="25" name="Gruppo 24">
            <a:extLst>
              <a:ext uri="{FF2B5EF4-FFF2-40B4-BE49-F238E27FC236}">
                <a16:creationId xmlns:a16="http://schemas.microsoft.com/office/drawing/2014/main" id="{134623CF-BE22-D212-9FF7-AF2F05542B9D}"/>
              </a:ext>
            </a:extLst>
          </p:cNvPr>
          <p:cNvGrpSpPr/>
          <p:nvPr/>
        </p:nvGrpSpPr>
        <p:grpSpPr>
          <a:xfrm>
            <a:off x="2241042" y="3856781"/>
            <a:ext cx="859055" cy="859055"/>
            <a:chOff x="1780172" y="3705654"/>
            <a:chExt cx="859055" cy="859055"/>
          </a:xfrm>
        </p:grpSpPr>
        <p:sp>
          <p:nvSpPr>
            <p:cNvPr id="21" name="Ovale 20">
              <a:extLst>
                <a:ext uri="{FF2B5EF4-FFF2-40B4-BE49-F238E27FC236}">
                  <a16:creationId xmlns:a16="http://schemas.microsoft.com/office/drawing/2014/main" id="{5E6DC938-E8BD-1209-8C67-22B06841E6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80172" y="3705654"/>
              <a:ext cx="859055" cy="85905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grpSp>
          <p:nvGrpSpPr>
            <p:cNvPr id="15" name="Gruppo 14">
              <a:extLst>
                <a:ext uri="{FF2B5EF4-FFF2-40B4-BE49-F238E27FC236}">
                  <a16:creationId xmlns:a16="http://schemas.microsoft.com/office/drawing/2014/main" id="{30F5477C-2F1A-76F8-1F67-A42D900DC5C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818630" y="3826084"/>
              <a:ext cx="695969" cy="640071"/>
              <a:chOff x="867035" y="4705579"/>
              <a:chExt cx="819270" cy="753469"/>
            </a:xfrm>
          </p:grpSpPr>
          <p:pic>
            <p:nvPicPr>
              <p:cNvPr id="16" name="Picture 2" descr="Motherboard ">
                <a:extLst>
                  <a:ext uri="{FF2B5EF4-FFF2-40B4-BE49-F238E27FC236}">
                    <a16:creationId xmlns:a16="http://schemas.microsoft.com/office/drawing/2014/main" id="{71481C77-7166-168C-15BC-4AA81687B2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7035" y="4901303"/>
                <a:ext cx="557745" cy="55774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7" name="Picture 10" descr="Check mark ">
                <a:extLst>
                  <a:ext uri="{FF2B5EF4-FFF2-40B4-BE49-F238E27FC236}">
                    <a16:creationId xmlns:a16="http://schemas.microsoft.com/office/drawing/2014/main" id="{CE4F83D6-90A3-2B9D-E6B5-5CC5085A4A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63254" y="4705579"/>
                <a:ext cx="523051" cy="52305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8C40C287-2FA7-138F-DEDF-28EB33B16F5C}"/>
              </a:ext>
            </a:extLst>
          </p:cNvPr>
          <p:cNvGrpSpPr/>
          <p:nvPr/>
        </p:nvGrpSpPr>
        <p:grpSpPr>
          <a:xfrm>
            <a:off x="10033597" y="4715836"/>
            <a:ext cx="1110113" cy="1110113"/>
            <a:chOff x="10135543" y="4715836"/>
            <a:chExt cx="1110113" cy="1110113"/>
          </a:xfrm>
        </p:grpSpPr>
        <p:sp>
          <p:nvSpPr>
            <p:cNvPr id="20" name="Ovale 19">
              <a:extLst>
                <a:ext uri="{FF2B5EF4-FFF2-40B4-BE49-F238E27FC236}">
                  <a16:creationId xmlns:a16="http://schemas.microsoft.com/office/drawing/2014/main" id="{3A447165-10B0-00BD-DA2D-308B78AF6F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135543" y="4715836"/>
              <a:ext cx="1110113" cy="111011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pic>
          <p:nvPicPr>
            <p:cNvPr id="2052" name="Picture 4" descr="Weight loss ">
              <a:extLst>
                <a:ext uri="{FF2B5EF4-FFF2-40B4-BE49-F238E27FC236}">
                  <a16:creationId xmlns:a16="http://schemas.microsoft.com/office/drawing/2014/main" id="{FCD72A63-9750-3121-A284-7E6F4929A0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57542" y="4930052"/>
              <a:ext cx="801144" cy="8011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44409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0BE71-D69B-E449-16FA-36DF44B96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magine 36">
            <a:extLst>
              <a:ext uri="{FF2B5EF4-FFF2-40B4-BE49-F238E27FC236}">
                <a16:creationId xmlns:a16="http://schemas.microsoft.com/office/drawing/2014/main" id="{8CB72CA1-2DD5-2C63-B023-4A1FC7A88EE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1044255" y="303347"/>
            <a:ext cx="10592598" cy="4948915"/>
          </a:xfrm>
          <a:prstGeom prst="rect">
            <a:avLst/>
          </a:prstGeom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709A6D67-1AFA-2BF2-2789-27B0AFB28CF7}"/>
              </a:ext>
            </a:extLst>
          </p:cNvPr>
          <p:cNvSpPr/>
          <p:nvPr/>
        </p:nvSpPr>
        <p:spPr>
          <a:xfrm>
            <a:off x="555147" y="1908263"/>
            <a:ext cx="3387700" cy="2155957"/>
          </a:xfrm>
          <a:prstGeom prst="roundRect">
            <a:avLst/>
          </a:prstGeom>
          <a:solidFill>
            <a:srgbClr val="E3E6EB">
              <a:alpha val="5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it-IT" dirty="0">
              <a:solidFill>
                <a:schemeClr val="tx1"/>
              </a:solidFill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20DAC0C2-8840-F8A5-034A-A0A6C2716464}"/>
              </a:ext>
            </a:extLst>
          </p:cNvPr>
          <p:cNvSpPr/>
          <p:nvPr/>
        </p:nvSpPr>
        <p:spPr>
          <a:xfrm>
            <a:off x="4402150" y="1908263"/>
            <a:ext cx="3387700" cy="2155957"/>
          </a:xfrm>
          <a:prstGeom prst="roundRect">
            <a:avLst/>
          </a:prstGeom>
          <a:solidFill>
            <a:srgbClr val="E3E6EB">
              <a:alpha val="5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it-IT" dirty="0">
              <a:solidFill>
                <a:schemeClr val="tx1"/>
              </a:solidFill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866770C7-8499-A492-C504-5CDA05BEB04E}"/>
              </a:ext>
            </a:extLst>
          </p:cNvPr>
          <p:cNvSpPr/>
          <p:nvPr/>
        </p:nvSpPr>
        <p:spPr>
          <a:xfrm>
            <a:off x="8249153" y="1892754"/>
            <a:ext cx="3387700" cy="2195867"/>
          </a:xfrm>
          <a:prstGeom prst="roundRect">
            <a:avLst/>
          </a:prstGeom>
          <a:solidFill>
            <a:srgbClr val="E3E6EB">
              <a:alpha val="5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500"/>
              </a:spcAft>
            </a:pPr>
            <a:endParaRPr lang="it-IT" dirty="0">
              <a:solidFill>
                <a:schemeClr val="tx1"/>
              </a:solidFill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BB6C6C3-B3FB-65D6-9C72-9B861B23E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24</a:t>
            </a:fld>
            <a:endParaRPr lang="it-IT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1650FE46-B551-A87C-4415-8FBAA37D1722}"/>
              </a:ext>
            </a:extLst>
          </p:cNvPr>
          <p:cNvSpPr/>
          <p:nvPr/>
        </p:nvSpPr>
        <p:spPr>
          <a:xfrm>
            <a:off x="267057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</a:t>
            </a:r>
            <a:r>
              <a:rPr lang="it-IT" sz="1600" dirty="0" err="1">
                <a:solidFill>
                  <a:srgbClr val="E3E6EB"/>
                </a:solidFill>
              </a:rPr>
              <a:t>proposal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00B26AD5-B5B6-D2C2-A849-A2ED982605DF}"/>
              </a:ext>
            </a:extLst>
          </p:cNvPr>
          <p:cNvSpPr/>
          <p:nvPr/>
        </p:nvSpPr>
        <p:spPr>
          <a:xfrm>
            <a:off x="500618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design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EE695F01-A923-C8CB-8D78-A48E250020B0}"/>
              </a:ext>
            </a:extLst>
          </p:cNvPr>
          <p:cNvSpPr/>
          <p:nvPr/>
        </p:nvSpPr>
        <p:spPr>
          <a:xfrm>
            <a:off x="7341792" y="6296214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Challenges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93873860-A780-F4AB-FF0C-23FFD824AFCD}"/>
              </a:ext>
            </a:extLst>
          </p:cNvPr>
          <p:cNvSpPr/>
          <p:nvPr/>
        </p:nvSpPr>
        <p:spPr>
          <a:xfrm>
            <a:off x="9677401" y="6038672"/>
            <a:ext cx="2179637" cy="524241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chemeClr val="bg1"/>
                </a:solidFill>
              </a:rPr>
              <a:t>Conclusion</a:t>
            </a:r>
            <a:endParaRPr lang="it-IT" sz="1600" dirty="0">
              <a:solidFill>
                <a:schemeClr val="bg1"/>
              </a:solidFill>
            </a:endParaRP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37402B79-46DF-728D-53CF-C1BECF4298E6}"/>
              </a:ext>
            </a:extLst>
          </p:cNvPr>
          <p:cNvSpPr/>
          <p:nvPr/>
        </p:nvSpPr>
        <p:spPr>
          <a:xfrm>
            <a:off x="33496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Introduction</a:t>
            </a:r>
            <a:endParaRPr lang="it-IT" sz="1600" dirty="0">
              <a:solidFill>
                <a:srgbClr val="E3E6EB"/>
              </a:solidFill>
            </a:endParaRPr>
          </a:p>
        </p:txBody>
      </p:sp>
      <p:pic>
        <p:nvPicPr>
          <p:cNvPr id="26" name="Picture 2" descr="BPMS System">
            <a:extLst>
              <a:ext uri="{FF2B5EF4-FFF2-40B4-BE49-F238E27FC236}">
                <a16:creationId xmlns:a16="http://schemas.microsoft.com/office/drawing/2014/main" id="{4CBD0CE8-5592-2C78-6258-3B41113228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1000" b="92833" l="17889" r="80556">
                        <a14:foregroundMark x1="21444" y1="31500" x2="21444" y2="31500"/>
                        <a14:foregroundMark x1="17889" y1="26500" x2="17889" y2="26500"/>
                        <a14:foregroundMark x1="45667" y1="87833" x2="45667" y2="87833"/>
                        <a14:foregroundMark x1="47000" y1="92833" x2="47000" y2="92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207" t="12261" r="22357" b="2445"/>
          <a:stretch>
            <a:fillRect/>
          </a:stretch>
        </p:blipFill>
        <p:spPr bwMode="auto">
          <a:xfrm flipH="1">
            <a:off x="5157330" y="2081080"/>
            <a:ext cx="1684113" cy="1507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Front view of Arduino Mega 2560 Rev3 microcontroller board featuring ATmega2560 chip, 54 digital I/O pins, 16 analog inputs, USB Type-B port, and power jack.">
            <a:extLst>
              <a:ext uri="{FF2B5EF4-FFF2-40B4-BE49-F238E27FC236}">
                <a16:creationId xmlns:a16="http://schemas.microsoft.com/office/drawing/2014/main" id="{854D8400-9B5B-F1BB-223D-E16A7219FA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2857" b="78429" l="5359" r="92069">
                        <a14:foregroundMark x1="5573" y1="33429" x2="8146" y2="33429"/>
                        <a14:foregroundMark x1="8146" y1="33429" x2="8146" y2="33429"/>
                        <a14:foregroundMark x1="8896" y1="69429" x2="10932" y2="68000"/>
                        <a14:foregroundMark x1="9539" y1="70286" x2="14791" y2="71000"/>
                        <a14:foregroundMark x1="13076" y1="78429" x2="13076" y2="78429"/>
                        <a14:foregroundMark x1="89818" y1="25143" x2="92069" y2="77000"/>
                        <a14:foregroundMark x1="5573" y1="32571" x2="8146" y2="31857"/>
                        <a14:foregroundMark x1="8146" y1="31857" x2="8146" y2="31857"/>
                        <a14:foregroundMark x1="6217" y1="34143" x2="15756" y2="31429"/>
                        <a14:foregroundMark x1="73848" y1="59286" x2="79850" y2="58429"/>
                        <a14:foregroundMark x1="53912" y1="42000" x2="52197" y2="55286"/>
                        <a14:foregroundMark x1="26045" y1="70571" x2="39228" y2="71143"/>
                        <a14:foregroundMark x1="39228" y1="71143" x2="39228" y2="70571"/>
                        <a14:foregroundMark x1="15756" y1="59571" x2="15756" y2="54571"/>
                        <a14:foregroundMark x1="65488" y1="24429" x2="86388" y2="22857"/>
                        <a14:foregroundMark x1="86388" y1="22857" x2="87460" y2="23143"/>
                        <a14:foregroundMark x1="23365" y1="76286" x2="23365" y2="76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7712" b="14626"/>
          <a:stretch/>
        </p:blipFill>
        <p:spPr bwMode="auto">
          <a:xfrm>
            <a:off x="8782145" y="2345678"/>
            <a:ext cx="2321716" cy="109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Immagine 28" descr="Immagine che contiene design&#10;&#10;Il contenuto generato dall'IA potrebbe non essere corretto.">
            <a:extLst>
              <a:ext uri="{FF2B5EF4-FFF2-40B4-BE49-F238E27FC236}">
                <a16:creationId xmlns:a16="http://schemas.microsoft.com/office/drawing/2014/main" id="{0C303CEC-002A-C209-8E2B-25033B8085F9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964" b="89080" l="4303" r="90189">
                        <a14:foregroundMark x1="20654" y1="69735" x2="21515" y2="76443"/>
                        <a14:foregroundMark x1="18072" y1="68487" x2="14114" y2="80499"/>
                        <a14:foregroundMark x1="20355" y1="81337" x2="51291" y2="85491"/>
                        <a14:foregroundMark x1="14114" y1="80499" x2="17599" y2="80967"/>
                        <a14:foregroundMark x1="44750" y1="84555" x2="27243" y2="88588"/>
                        <a14:foregroundMark x1="6672" y1="79378" x2="19277" y2="66771"/>
                        <a14:foregroundMark x1="19277" y1="66771" x2="30293" y2="68487"/>
                        <a14:foregroundMark x1="20674" y1="84618" x2="39071" y2="87676"/>
                        <a14:foregroundMark x1="39071" y1="87676" x2="41480" y2="89080"/>
                        <a14:foregroundMark x1="56799" y1="5772" x2="57831" y2="19813"/>
                        <a14:foregroundMark x1="57831" y1="19813" x2="72461" y2="17629"/>
                        <a14:foregroundMark x1="72461" y1="17629" x2="58520" y2="5616"/>
                        <a14:foregroundMark x1="58520" y1="5616" x2="54561" y2="4212"/>
                        <a14:foregroundMark x1="81411" y1="43214" x2="78657" y2="58034"/>
                        <a14:foregroundMark x1="78657" y1="58034" x2="75904" y2="59126"/>
                        <a14:foregroundMark x1="84509" y1="41654" x2="77797" y2="53510"/>
                        <a14:foregroundMark x1="88468" y1="45554" x2="88468" y2="45554"/>
                        <a14:foregroundMark x1="88468" y1="46022" x2="88468" y2="46022"/>
                        <a14:foregroundMark x1="88468" y1="46022" x2="88468" y2="46022"/>
                        <a14:foregroundMark x1="90189" y1="45710" x2="90189" y2="45710"/>
                        <a14:foregroundMark x1="90189" y1="45710" x2="90189" y2="45710"/>
                        <a14:foregroundMark x1="90189" y1="45710" x2="90189" y2="45710"/>
                        <a14:foregroundMark x1="90189" y1="45710" x2="71601" y2="68019"/>
                        <a14:foregroundMark x1="71601" y1="68019" x2="50947" y2="74415"/>
                        <a14:backgroundMark x1="17728" y1="84555" x2="17728" y2="84555"/>
                        <a14:backgroundMark x1="16695" y1="80967" x2="16695" y2="82371"/>
                        <a14:backgroundMark x1="6885" y1="80187" x2="25990" y2="91732"/>
                        <a14:backgroundMark x1="4475" y1="80187" x2="9294" y2="9032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299" t="4152" r="7619" b="8997"/>
          <a:stretch/>
        </p:blipFill>
        <p:spPr bwMode="auto">
          <a:xfrm>
            <a:off x="1499499" y="2016572"/>
            <a:ext cx="1498995" cy="172871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84ABE348-C5C2-C48D-9350-A2983C53A4DB}"/>
              </a:ext>
            </a:extLst>
          </p:cNvPr>
          <p:cNvCxnSpPr>
            <a:cxnSpLocks/>
            <a:stCxn id="35" idx="2"/>
            <a:endCxn id="40" idx="2"/>
          </p:cNvCxnSpPr>
          <p:nvPr/>
        </p:nvCxnSpPr>
        <p:spPr>
          <a:xfrm>
            <a:off x="6472073" y="5471924"/>
            <a:ext cx="3136923" cy="0"/>
          </a:xfrm>
          <a:prstGeom prst="line">
            <a:avLst/>
          </a:prstGeom>
          <a:ln w="76200">
            <a:solidFill>
              <a:schemeClr val="accent6">
                <a:lumMod val="1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ttangolo 29">
            <a:extLst>
              <a:ext uri="{FF2B5EF4-FFF2-40B4-BE49-F238E27FC236}">
                <a16:creationId xmlns:a16="http://schemas.microsoft.com/office/drawing/2014/main" id="{17F47669-ADE8-F644-ADB5-FFE0EEB610D2}"/>
              </a:ext>
            </a:extLst>
          </p:cNvPr>
          <p:cNvSpPr/>
          <p:nvPr/>
        </p:nvSpPr>
        <p:spPr>
          <a:xfrm>
            <a:off x="3023674" y="5007020"/>
            <a:ext cx="1346241" cy="3453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rgbClr val="69698C"/>
                </a:solidFill>
              </a:rPr>
              <a:t>08.04.2025</a:t>
            </a:r>
            <a:endParaRPr lang="it-IT" dirty="0">
              <a:solidFill>
                <a:srgbClr val="69698C"/>
              </a:solidFill>
            </a:endParaRP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1A4A8394-8557-4F5B-D9AC-19D9A44E2BF2}"/>
              </a:ext>
            </a:extLst>
          </p:cNvPr>
          <p:cNvSpPr/>
          <p:nvPr/>
        </p:nvSpPr>
        <p:spPr>
          <a:xfrm>
            <a:off x="1613984" y="5224445"/>
            <a:ext cx="1012810" cy="3453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accent6">
                    <a:lumMod val="75000"/>
                  </a:schemeClr>
                </a:solidFill>
              </a:rPr>
              <a:t>25.03.2025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8533AAD4-E6BA-6BB8-593F-FBB71B4C020A}"/>
              </a:ext>
            </a:extLst>
          </p:cNvPr>
          <p:cNvSpPr/>
          <p:nvPr/>
        </p:nvSpPr>
        <p:spPr>
          <a:xfrm>
            <a:off x="1612171" y="5410145"/>
            <a:ext cx="1068150" cy="3453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accent6">
                    <a:lumMod val="75000"/>
                  </a:schemeClr>
                </a:solidFill>
              </a:rPr>
              <a:t>Focus group</a:t>
            </a: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E04A0536-7ED0-2C88-7A95-CF6B0B5D6349}"/>
              </a:ext>
            </a:extLst>
          </p:cNvPr>
          <p:cNvSpPr/>
          <p:nvPr/>
        </p:nvSpPr>
        <p:spPr>
          <a:xfrm>
            <a:off x="3102030" y="5542977"/>
            <a:ext cx="1293583" cy="423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>
                <a:solidFill>
                  <a:srgbClr val="69698C"/>
                </a:solidFill>
              </a:rPr>
              <a:t>Proposal</a:t>
            </a:r>
            <a:endParaRPr lang="it-IT" dirty="0">
              <a:solidFill>
                <a:srgbClr val="69698C"/>
              </a:solidFill>
            </a:endParaRPr>
          </a:p>
        </p:txBody>
      </p:sp>
      <p:sp>
        <p:nvSpPr>
          <p:cNvPr id="34" name="Ovale 33">
            <a:extLst>
              <a:ext uri="{FF2B5EF4-FFF2-40B4-BE49-F238E27FC236}">
                <a16:creationId xmlns:a16="http://schemas.microsoft.com/office/drawing/2014/main" id="{5A67EE3F-B807-4C09-F649-E13D7B83E692}"/>
              </a:ext>
            </a:extLst>
          </p:cNvPr>
          <p:cNvSpPr>
            <a:spLocks noChangeAspect="1"/>
          </p:cNvSpPr>
          <p:nvPr/>
        </p:nvSpPr>
        <p:spPr>
          <a:xfrm>
            <a:off x="2663674" y="5336924"/>
            <a:ext cx="270000" cy="270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Ovale 34">
            <a:extLst>
              <a:ext uri="{FF2B5EF4-FFF2-40B4-BE49-F238E27FC236}">
                <a16:creationId xmlns:a16="http://schemas.microsoft.com/office/drawing/2014/main" id="{11A7C031-6665-924F-F5EB-6FBE6C322B10}"/>
              </a:ext>
            </a:extLst>
          </p:cNvPr>
          <p:cNvSpPr>
            <a:spLocks noChangeAspect="1"/>
          </p:cNvSpPr>
          <p:nvPr/>
        </p:nvSpPr>
        <p:spPr>
          <a:xfrm>
            <a:off x="6472073" y="5156924"/>
            <a:ext cx="630000" cy="630000"/>
          </a:xfrm>
          <a:prstGeom prst="ellipse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C00000"/>
              </a:solidFill>
            </a:endParaRPr>
          </a:p>
        </p:txBody>
      </p:sp>
      <p:cxnSp>
        <p:nvCxnSpPr>
          <p:cNvPr id="36" name="Connettore diritto 35">
            <a:extLst>
              <a:ext uri="{FF2B5EF4-FFF2-40B4-BE49-F238E27FC236}">
                <a16:creationId xmlns:a16="http://schemas.microsoft.com/office/drawing/2014/main" id="{D833A79D-E81C-D0B0-6DE4-AB5801C698C1}"/>
              </a:ext>
            </a:extLst>
          </p:cNvPr>
          <p:cNvCxnSpPr>
            <a:cxnSpLocks/>
            <a:stCxn id="34" idx="6"/>
          </p:cNvCxnSpPr>
          <p:nvPr/>
        </p:nvCxnSpPr>
        <p:spPr>
          <a:xfrm>
            <a:off x="2933674" y="5471924"/>
            <a:ext cx="1154420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e 37">
            <a:extLst>
              <a:ext uri="{FF2B5EF4-FFF2-40B4-BE49-F238E27FC236}">
                <a16:creationId xmlns:a16="http://schemas.microsoft.com/office/drawing/2014/main" id="{05C0E3BF-72DF-439C-BF07-E5ABE0410017}"/>
              </a:ext>
            </a:extLst>
          </p:cNvPr>
          <p:cNvSpPr>
            <a:spLocks noChangeAspect="1"/>
          </p:cNvSpPr>
          <p:nvPr/>
        </p:nvSpPr>
        <p:spPr>
          <a:xfrm>
            <a:off x="3537812" y="5291924"/>
            <a:ext cx="360000" cy="3600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C00000"/>
              </a:solidFill>
            </a:endParaRPr>
          </a:p>
        </p:txBody>
      </p:sp>
      <p:cxnSp>
        <p:nvCxnSpPr>
          <p:cNvPr id="39" name="Connettore diritto 38">
            <a:extLst>
              <a:ext uri="{FF2B5EF4-FFF2-40B4-BE49-F238E27FC236}">
                <a16:creationId xmlns:a16="http://schemas.microsoft.com/office/drawing/2014/main" id="{4E83B87C-9D0D-1729-6ABF-C3873FA229DA}"/>
              </a:ext>
            </a:extLst>
          </p:cNvPr>
          <p:cNvCxnSpPr>
            <a:cxnSpLocks/>
            <a:stCxn id="38" idx="6"/>
            <a:endCxn id="35" idx="2"/>
          </p:cNvCxnSpPr>
          <p:nvPr/>
        </p:nvCxnSpPr>
        <p:spPr>
          <a:xfrm>
            <a:off x="3897812" y="5471924"/>
            <a:ext cx="2574261" cy="0"/>
          </a:xfrm>
          <a:prstGeom prst="line">
            <a:avLst/>
          </a:prstGeom>
          <a:ln w="57150">
            <a:solidFill>
              <a:schemeClr val="accent6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e 39">
            <a:extLst>
              <a:ext uri="{FF2B5EF4-FFF2-40B4-BE49-F238E27FC236}">
                <a16:creationId xmlns:a16="http://schemas.microsoft.com/office/drawing/2014/main" id="{779AB1F7-7D16-B102-E7B5-BDAC3A081B6A}"/>
              </a:ext>
            </a:extLst>
          </p:cNvPr>
          <p:cNvSpPr>
            <a:spLocks noChangeAspect="1"/>
          </p:cNvSpPr>
          <p:nvPr/>
        </p:nvSpPr>
        <p:spPr>
          <a:xfrm>
            <a:off x="9608996" y="5111924"/>
            <a:ext cx="720000" cy="720000"/>
          </a:xfrm>
          <a:prstGeom prst="ellipse">
            <a:avLst/>
          </a:prstGeom>
          <a:solidFill>
            <a:srgbClr val="1515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1" name="Picture 2" descr="Icona stilizzata persona con capelli lunghi e scuri su bicicletta reclinata">
            <a:extLst>
              <a:ext uri="{FF2B5EF4-FFF2-40B4-BE49-F238E27FC236}">
                <a16:creationId xmlns:a16="http://schemas.microsoft.com/office/drawing/2014/main" id="{9D25F0CA-F8A0-F8BD-308E-5FC35C757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9961" b="89844" l="5176" r="95898">
                        <a14:foregroundMark x1="21289" y1="50977" x2="21289" y2="50977"/>
                        <a14:foregroundMark x1="5273" y1="54883" x2="5273" y2="55371"/>
                        <a14:foregroundMark x1="6152" y1="58594" x2="6152" y2="58594"/>
                        <a14:foregroundMark x1="93945" y1="46973" x2="93945" y2="46973"/>
                        <a14:foregroundMark x1="95898" y1="39160" x2="95898" y2="39160"/>
                        <a14:foregroundMark x1="76660" y1="57129" x2="76660" y2="57129"/>
                        <a14:foregroundMark x1="55078" y1="54102" x2="55078" y2="5410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1881" y="4785532"/>
            <a:ext cx="969418" cy="96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ttangolo 41">
            <a:extLst>
              <a:ext uri="{FF2B5EF4-FFF2-40B4-BE49-F238E27FC236}">
                <a16:creationId xmlns:a16="http://schemas.microsoft.com/office/drawing/2014/main" id="{8F8EE652-EC2D-90FB-F687-16D693C5C367}"/>
              </a:ext>
            </a:extLst>
          </p:cNvPr>
          <p:cNvSpPr/>
          <p:nvPr/>
        </p:nvSpPr>
        <p:spPr>
          <a:xfrm>
            <a:off x="9036590" y="4739785"/>
            <a:ext cx="1776300" cy="3453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rgbClr val="233D60"/>
                </a:solidFill>
              </a:rPr>
              <a:t>26.06.2025</a:t>
            </a:r>
          </a:p>
        </p:txBody>
      </p:sp>
    </p:spTree>
    <p:extLst>
      <p:ext uri="{BB962C8B-B14F-4D97-AF65-F5344CB8AC3E}">
        <p14:creationId xmlns:p14="http://schemas.microsoft.com/office/powerpoint/2010/main" val="2015963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90806-35B4-A276-84AA-BF644FE7F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magine 36">
            <a:extLst>
              <a:ext uri="{FF2B5EF4-FFF2-40B4-BE49-F238E27FC236}">
                <a16:creationId xmlns:a16="http://schemas.microsoft.com/office/drawing/2014/main" id="{05BA31E0-56E6-91D1-63D4-F4EF051B0E3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1044255" y="303347"/>
            <a:ext cx="10592598" cy="4948915"/>
          </a:xfrm>
          <a:prstGeom prst="rect">
            <a:avLst/>
          </a:prstGeom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186A3A20-AA8E-7A69-6BFB-BC291DF708FC}"/>
              </a:ext>
            </a:extLst>
          </p:cNvPr>
          <p:cNvSpPr/>
          <p:nvPr/>
        </p:nvSpPr>
        <p:spPr>
          <a:xfrm>
            <a:off x="555147" y="764694"/>
            <a:ext cx="3387700" cy="3749434"/>
          </a:xfrm>
          <a:prstGeom prst="roundRect">
            <a:avLst/>
          </a:prstGeom>
          <a:solidFill>
            <a:srgbClr val="E3E6EB">
              <a:alpha val="5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b="1" dirty="0">
              <a:solidFill>
                <a:srgbClr val="233D60"/>
              </a:solidFill>
            </a:endParaRPr>
          </a:p>
          <a:p>
            <a:pPr algn="ctr">
              <a:lnSpc>
                <a:spcPct val="150000"/>
              </a:lnSpc>
            </a:pPr>
            <a:endParaRPr lang="en-US" b="1" dirty="0">
              <a:solidFill>
                <a:srgbClr val="233D6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233D60"/>
                </a:solidFill>
              </a:rPr>
              <a:t>CUSHION</a:t>
            </a:r>
            <a:endParaRPr lang="en-US" b="1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Cells, Material</a:t>
            </a:r>
            <a:endParaRPr lang="it-IT" dirty="0">
              <a:solidFill>
                <a:schemeClr val="tx1"/>
              </a:solidFill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77CE6898-DD91-B028-FB73-96B651E9D1E6}"/>
              </a:ext>
            </a:extLst>
          </p:cNvPr>
          <p:cNvSpPr/>
          <p:nvPr/>
        </p:nvSpPr>
        <p:spPr>
          <a:xfrm>
            <a:off x="4402150" y="764694"/>
            <a:ext cx="3387700" cy="3749434"/>
          </a:xfrm>
          <a:prstGeom prst="roundRect">
            <a:avLst/>
          </a:prstGeom>
          <a:solidFill>
            <a:srgbClr val="E3E6EB">
              <a:alpha val="5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b="1" dirty="0">
              <a:solidFill>
                <a:srgbClr val="233D60"/>
              </a:solidFill>
            </a:endParaRPr>
          </a:p>
          <a:p>
            <a:pPr algn="ctr">
              <a:lnSpc>
                <a:spcPct val="150000"/>
              </a:lnSpc>
            </a:pPr>
            <a:endParaRPr lang="en-US" b="1" dirty="0">
              <a:solidFill>
                <a:srgbClr val="233D60"/>
              </a:solidFill>
            </a:endParaRPr>
          </a:p>
          <a:p>
            <a:pPr algn="ctr">
              <a:lnSpc>
                <a:spcPct val="150000"/>
              </a:lnSpc>
            </a:pPr>
            <a:endParaRPr lang="en-US" b="1" dirty="0">
              <a:solidFill>
                <a:srgbClr val="233D60"/>
              </a:solidFill>
            </a:endParaRPr>
          </a:p>
          <a:p>
            <a:pPr algn="ctr">
              <a:lnSpc>
                <a:spcPct val="150000"/>
              </a:lnSpc>
            </a:pPr>
            <a:endParaRPr lang="en-US" b="1" dirty="0">
              <a:solidFill>
                <a:srgbClr val="233D6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233D60"/>
                </a:solidFill>
              </a:rPr>
              <a:t>PRESSURE SENSITIVE MAT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it-IT" dirty="0" err="1">
                <a:solidFill>
                  <a:schemeClr val="tx1"/>
                </a:solidFill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Sensors</a:t>
            </a:r>
            <a:r>
              <a:rPr lang="it-IT" dirty="0">
                <a:solidFill>
                  <a:schemeClr val="tx1"/>
                </a:solidFill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, </a:t>
            </a:r>
            <a:br>
              <a:rPr lang="it-IT" dirty="0">
                <a:solidFill>
                  <a:schemeClr val="tx1"/>
                </a:solidFill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tx1"/>
                </a:solidFill>
                <a:latin typeface="Manrope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Embedded Systems</a:t>
            </a:r>
            <a:endParaRPr lang="it-IT" dirty="0">
              <a:solidFill>
                <a:schemeClr val="tx1"/>
              </a:solidFill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A5A86FB7-C877-FF8E-B585-14FEC22D4DB6}"/>
              </a:ext>
            </a:extLst>
          </p:cNvPr>
          <p:cNvSpPr/>
          <p:nvPr/>
        </p:nvSpPr>
        <p:spPr>
          <a:xfrm>
            <a:off x="8249153" y="749185"/>
            <a:ext cx="3387700" cy="3818842"/>
          </a:xfrm>
          <a:prstGeom prst="roundRect">
            <a:avLst/>
          </a:prstGeom>
          <a:solidFill>
            <a:srgbClr val="E3E6EB">
              <a:alpha val="50000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500"/>
              </a:spcAft>
            </a:pPr>
            <a:endParaRPr lang="it-IT" b="1" dirty="0">
              <a:solidFill>
                <a:srgbClr val="233D60"/>
              </a:solidFill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500"/>
              </a:spcAft>
            </a:pPr>
            <a:endParaRPr lang="it-IT" b="1" dirty="0">
              <a:solidFill>
                <a:srgbClr val="233D60"/>
              </a:solidFill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500"/>
              </a:spcAft>
            </a:pPr>
            <a:r>
              <a:rPr lang="it-IT" b="1" dirty="0">
                <a:solidFill>
                  <a:srgbClr val="233D60"/>
                </a:solidFill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MICROCONTROLLER</a:t>
            </a:r>
            <a:endParaRPr lang="it-IT" b="1" dirty="0">
              <a:solidFill>
                <a:schemeClr val="tx1"/>
              </a:solidFill>
              <a:latin typeface="Manrope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500"/>
              </a:spcAft>
            </a:pPr>
            <a:r>
              <a:rPr lang="en-US" dirty="0">
                <a:solidFill>
                  <a:schemeClr val="tx1"/>
                </a:solidFill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Arduino, </a:t>
            </a:r>
            <a:r>
              <a:rPr lang="en-US" dirty="0">
                <a:solidFill>
                  <a:schemeClr val="tx1"/>
                </a:solidFill>
                <a:latin typeface="Manrope" charset="0"/>
                <a:ea typeface="Calibri" panose="020F0502020204030204" pitchFamily="34" charset="0"/>
                <a:cs typeface="Times New Roman" panose="02020603050405020304" pitchFamily="18" charset="0"/>
              </a:rPr>
              <a:t>Software</a:t>
            </a:r>
            <a:r>
              <a:rPr lang="it-IT" dirty="0">
                <a:solidFill>
                  <a:schemeClr val="tx1"/>
                </a:solidFill>
                <a:latin typeface="Manrope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EFF2B62-FEAB-F57B-8444-9F60E5586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25</a:t>
            </a:fld>
            <a:endParaRPr lang="it-IT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6BC70CD0-382D-B767-0AA9-AB7CE30036AA}"/>
              </a:ext>
            </a:extLst>
          </p:cNvPr>
          <p:cNvSpPr/>
          <p:nvPr/>
        </p:nvSpPr>
        <p:spPr>
          <a:xfrm>
            <a:off x="267057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</a:t>
            </a:r>
            <a:r>
              <a:rPr lang="it-IT" sz="1600" dirty="0" err="1">
                <a:solidFill>
                  <a:srgbClr val="E3E6EB"/>
                </a:solidFill>
              </a:rPr>
              <a:t>proposal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3EE50140-5908-C4DE-8D31-0EE9CA81BACD}"/>
              </a:ext>
            </a:extLst>
          </p:cNvPr>
          <p:cNvSpPr/>
          <p:nvPr/>
        </p:nvSpPr>
        <p:spPr>
          <a:xfrm>
            <a:off x="500618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design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A515FCDB-E317-E91C-B521-F5683DBF55DD}"/>
              </a:ext>
            </a:extLst>
          </p:cNvPr>
          <p:cNvSpPr/>
          <p:nvPr/>
        </p:nvSpPr>
        <p:spPr>
          <a:xfrm>
            <a:off x="7341792" y="6296214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Challenges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AD9B6416-32D5-426D-2D39-4FE8AE3158F7}"/>
              </a:ext>
            </a:extLst>
          </p:cNvPr>
          <p:cNvSpPr/>
          <p:nvPr/>
        </p:nvSpPr>
        <p:spPr>
          <a:xfrm>
            <a:off x="9677401" y="6038672"/>
            <a:ext cx="2179637" cy="524241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chemeClr val="bg1"/>
                </a:solidFill>
              </a:rPr>
              <a:t>Conclusion</a:t>
            </a:r>
            <a:endParaRPr lang="it-IT" sz="1600" dirty="0">
              <a:solidFill>
                <a:schemeClr val="bg1"/>
              </a:solidFill>
            </a:endParaRP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F280EB40-C730-9659-1AF5-A2414500386A}"/>
              </a:ext>
            </a:extLst>
          </p:cNvPr>
          <p:cNvSpPr/>
          <p:nvPr/>
        </p:nvSpPr>
        <p:spPr>
          <a:xfrm>
            <a:off x="33496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Introduction</a:t>
            </a:r>
            <a:endParaRPr lang="it-IT" sz="1600" dirty="0">
              <a:solidFill>
                <a:srgbClr val="E3E6EB"/>
              </a:solidFill>
            </a:endParaRPr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B5262B06-29E0-8771-7672-C70AE851EA83}"/>
              </a:ext>
            </a:extLst>
          </p:cNvPr>
          <p:cNvCxnSpPr>
            <a:cxnSpLocks/>
            <a:stCxn id="17" idx="2"/>
            <a:endCxn id="27" idx="2"/>
          </p:cNvCxnSpPr>
          <p:nvPr/>
        </p:nvCxnSpPr>
        <p:spPr>
          <a:xfrm>
            <a:off x="6472073" y="5471924"/>
            <a:ext cx="3136923" cy="0"/>
          </a:xfrm>
          <a:prstGeom prst="line">
            <a:avLst/>
          </a:prstGeom>
          <a:ln w="76200">
            <a:solidFill>
              <a:schemeClr val="accent6">
                <a:lumMod val="1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ttangolo 11">
            <a:extLst>
              <a:ext uri="{FF2B5EF4-FFF2-40B4-BE49-F238E27FC236}">
                <a16:creationId xmlns:a16="http://schemas.microsoft.com/office/drawing/2014/main" id="{EBB1792C-4387-D5D5-25E7-5BAA7DA58249}"/>
              </a:ext>
            </a:extLst>
          </p:cNvPr>
          <p:cNvSpPr/>
          <p:nvPr/>
        </p:nvSpPr>
        <p:spPr>
          <a:xfrm>
            <a:off x="3023674" y="5007020"/>
            <a:ext cx="1346241" cy="3453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>
                <a:solidFill>
                  <a:srgbClr val="69698C"/>
                </a:solidFill>
              </a:rPr>
              <a:t>08.04.2025</a:t>
            </a:r>
            <a:endParaRPr lang="it-IT" dirty="0">
              <a:solidFill>
                <a:srgbClr val="69698C"/>
              </a:solidFill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5B3EE565-CA37-F291-68D2-765B1167E817}"/>
              </a:ext>
            </a:extLst>
          </p:cNvPr>
          <p:cNvSpPr/>
          <p:nvPr/>
        </p:nvSpPr>
        <p:spPr>
          <a:xfrm>
            <a:off x="1613984" y="5224445"/>
            <a:ext cx="1012810" cy="3453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accent6">
                    <a:lumMod val="75000"/>
                  </a:schemeClr>
                </a:solidFill>
              </a:rPr>
              <a:t>25.03.2025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E40EAAA6-F2D2-451C-02CA-89516F6302D1}"/>
              </a:ext>
            </a:extLst>
          </p:cNvPr>
          <p:cNvSpPr/>
          <p:nvPr/>
        </p:nvSpPr>
        <p:spPr>
          <a:xfrm>
            <a:off x="1612171" y="5410145"/>
            <a:ext cx="1068150" cy="3453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>
                <a:solidFill>
                  <a:schemeClr val="accent6">
                    <a:lumMod val="75000"/>
                  </a:schemeClr>
                </a:solidFill>
              </a:rPr>
              <a:t>Focus group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5689F3E2-655F-DFCF-FCC3-3F62E26F657B}"/>
              </a:ext>
            </a:extLst>
          </p:cNvPr>
          <p:cNvSpPr/>
          <p:nvPr/>
        </p:nvSpPr>
        <p:spPr>
          <a:xfrm>
            <a:off x="3102030" y="5542977"/>
            <a:ext cx="1293583" cy="423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dirty="0" err="1">
                <a:solidFill>
                  <a:srgbClr val="69698C"/>
                </a:solidFill>
              </a:rPr>
              <a:t>Proposal</a:t>
            </a:r>
            <a:endParaRPr lang="it-IT" dirty="0">
              <a:solidFill>
                <a:srgbClr val="69698C"/>
              </a:solidFill>
            </a:endParaRPr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39660C4A-3A2E-9AF8-1B25-4038B6B72F7F}"/>
              </a:ext>
            </a:extLst>
          </p:cNvPr>
          <p:cNvSpPr>
            <a:spLocks noChangeAspect="1"/>
          </p:cNvSpPr>
          <p:nvPr/>
        </p:nvSpPr>
        <p:spPr>
          <a:xfrm>
            <a:off x="2663674" y="5336924"/>
            <a:ext cx="270000" cy="2700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E6268635-F11E-6FAF-68A6-D99304DAB30A}"/>
              </a:ext>
            </a:extLst>
          </p:cNvPr>
          <p:cNvSpPr>
            <a:spLocks noChangeAspect="1"/>
          </p:cNvSpPr>
          <p:nvPr/>
        </p:nvSpPr>
        <p:spPr>
          <a:xfrm>
            <a:off x="6472073" y="5156924"/>
            <a:ext cx="630000" cy="630000"/>
          </a:xfrm>
          <a:prstGeom prst="ellipse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C00000"/>
              </a:solidFill>
            </a:endParaRPr>
          </a:p>
        </p:txBody>
      </p:sp>
      <p:cxnSp>
        <p:nvCxnSpPr>
          <p:cNvPr id="18" name="Connettore diritto 17">
            <a:extLst>
              <a:ext uri="{FF2B5EF4-FFF2-40B4-BE49-F238E27FC236}">
                <a16:creationId xmlns:a16="http://schemas.microsoft.com/office/drawing/2014/main" id="{7601B6D6-2893-C9AA-CAFF-BB1C97FA60BD}"/>
              </a:ext>
            </a:extLst>
          </p:cNvPr>
          <p:cNvCxnSpPr>
            <a:cxnSpLocks/>
            <a:stCxn id="16" idx="6"/>
          </p:cNvCxnSpPr>
          <p:nvPr/>
        </p:nvCxnSpPr>
        <p:spPr>
          <a:xfrm>
            <a:off x="2933674" y="5471924"/>
            <a:ext cx="1154420" cy="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e 18">
            <a:extLst>
              <a:ext uri="{FF2B5EF4-FFF2-40B4-BE49-F238E27FC236}">
                <a16:creationId xmlns:a16="http://schemas.microsoft.com/office/drawing/2014/main" id="{A47C1955-1CC2-7759-1C72-0027E0C7D827}"/>
              </a:ext>
            </a:extLst>
          </p:cNvPr>
          <p:cNvSpPr>
            <a:spLocks noChangeAspect="1"/>
          </p:cNvSpPr>
          <p:nvPr/>
        </p:nvSpPr>
        <p:spPr>
          <a:xfrm>
            <a:off x="3537812" y="5291924"/>
            <a:ext cx="360000" cy="3600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rgbClr val="C00000"/>
              </a:solidFill>
            </a:endParaRPr>
          </a:p>
        </p:txBody>
      </p:sp>
      <p:cxnSp>
        <p:nvCxnSpPr>
          <p:cNvPr id="25" name="Connettore diritto 24">
            <a:extLst>
              <a:ext uri="{FF2B5EF4-FFF2-40B4-BE49-F238E27FC236}">
                <a16:creationId xmlns:a16="http://schemas.microsoft.com/office/drawing/2014/main" id="{D00A3B6E-3C22-A795-6AEE-2EBF074D38BC}"/>
              </a:ext>
            </a:extLst>
          </p:cNvPr>
          <p:cNvCxnSpPr>
            <a:cxnSpLocks/>
            <a:stCxn id="19" idx="6"/>
            <a:endCxn id="17" idx="2"/>
          </p:cNvCxnSpPr>
          <p:nvPr/>
        </p:nvCxnSpPr>
        <p:spPr>
          <a:xfrm>
            <a:off x="3897812" y="5471924"/>
            <a:ext cx="2574261" cy="0"/>
          </a:xfrm>
          <a:prstGeom prst="line">
            <a:avLst/>
          </a:prstGeom>
          <a:ln w="57150">
            <a:solidFill>
              <a:schemeClr val="accent6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e 26">
            <a:extLst>
              <a:ext uri="{FF2B5EF4-FFF2-40B4-BE49-F238E27FC236}">
                <a16:creationId xmlns:a16="http://schemas.microsoft.com/office/drawing/2014/main" id="{E22EBAFB-4026-5678-B8FB-AD6131233244}"/>
              </a:ext>
            </a:extLst>
          </p:cNvPr>
          <p:cNvSpPr>
            <a:spLocks noChangeAspect="1"/>
          </p:cNvSpPr>
          <p:nvPr/>
        </p:nvSpPr>
        <p:spPr>
          <a:xfrm>
            <a:off x="9608996" y="5111924"/>
            <a:ext cx="720000" cy="72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8" name="Picture 2" descr="Icona stilizzata persona con capelli lunghi e scuri su bicicletta reclinata">
            <a:extLst>
              <a:ext uri="{FF2B5EF4-FFF2-40B4-BE49-F238E27FC236}">
                <a16:creationId xmlns:a16="http://schemas.microsoft.com/office/drawing/2014/main" id="{9B759459-A0BF-A578-CBBF-B83E735B9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1" b="89844" l="5176" r="95898">
                        <a14:foregroundMark x1="21289" y1="50977" x2="21289" y2="50977"/>
                        <a14:foregroundMark x1="5273" y1="54883" x2="5273" y2="55371"/>
                        <a14:foregroundMark x1="6152" y1="58594" x2="6152" y2="58594"/>
                        <a14:foregroundMark x1="93945" y1="46973" x2="93945" y2="46973"/>
                        <a14:foregroundMark x1="95898" y1="39160" x2="95898" y2="39160"/>
                        <a14:foregroundMark x1="76660" y1="57129" x2="76660" y2="57129"/>
                        <a14:foregroundMark x1="55078" y1="54102" x2="55078" y2="5410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4287" y="4767553"/>
            <a:ext cx="969418" cy="969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Rettangolo 48">
            <a:extLst>
              <a:ext uri="{FF2B5EF4-FFF2-40B4-BE49-F238E27FC236}">
                <a16:creationId xmlns:a16="http://schemas.microsoft.com/office/drawing/2014/main" id="{E9C2E42D-69E0-A3CE-FCF6-49B13A3EC1C4}"/>
              </a:ext>
            </a:extLst>
          </p:cNvPr>
          <p:cNvSpPr/>
          <p:nvPr/>
        </p:nvSpPr>
        <p:spPr>
          <a:xfrm>
            <a:off x="9054853" y="5553963"/>
            <a:ext cx="1776300" cy="3453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>
                <a:solidFill>
                  <a:srgbClr val="233D60"/>
                </a:solidFill>
              </a:rPr>
              <a:t>26.06.2025</a:t>
            </a:r>
          </a:p>
        </p:txBody>
      </p:sp>
      <p:pic>
        <p:nvPicPr>
          <p:cNvPr id="26" name="Picture 2" descr="BPMS System">
            <a:extLst>
              <a:ext uri="{FF2B5EF4-FFF2-40B4-BE49-F238E27FC236}">
                <a16:creationId xmlns:a16="http://schemas.microsoft.com/office/drawing/2014/main" id="{AE545D0E-E2EA-53C5-8C75-8750563A43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1000" b="92833" l="17889" r="80556">
                        <a14:foregroundMark x1="21444" y1="31500" x2="21444" y2="31500"/>
                        <a14:foregroundMark x1="17889" y1="26500" x2="17889" y2="26500"/>
                        <a14:foregroundMark x1="45667" y1="87833" x2="45667" y2="87833"/>
                        <a14:foregroundMark x1="47000" y1="92833" x2="47000" y2="92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4207" t="12261" r="22357" b="2445"/>
          <a:stretch>
            <a:fillRect/>
          </a:stretch>
        </p:blipFill>
        <p:spPr bwMode="auto">
          <a:xfrm flipH="1">
            <a:off x="5157330" y="937511"/>
            <a:ext cx="1684113" cy="1507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Front view of Arduino Mega 2560 Rev3 microcontroller board featuring ATmega2560 chip, 54 digital I/O pins, 16 analog inputs, USB Type-B port, and power jack.">
            <a:extLst>
              <a:ext uri="{FF2B5EF4-FFF2-40B4-BE49-F238E27FC236}">
                <a16:creationId xmlns:a16="http://schemas.microsoft.com/office/drawing/2014/main" id="{CB4E804D-B717-AA77-DE42-DFB11C3EEC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2857" b="78429" l="5359" r="92069">
                        <a14:foregroundMark x1="5573" y1="33429" x2="8146" y2="33429"/>
                        <a14:foregroundMark x1="8146" y1="33429" x2="8146" y2="33429"/>
                        <a14:foregroundMark x1="8896" y1="69429" x2="10932" y2="68000"/>
                        <a14:foregroundMark x1="9539" y1="70286" x2="14791" y2="71000"/>
                        <a14:foregroundMark x1="13076" y1="78429" x2="13076" y2="78429"/>
                        <a14:foregroundMark x1="89818" y1="25143" x2="92069" y2="77000"/>
                        <a14:foregroundMark x1="5573" y1="32571" x2="8146" y2="31857"/>
                        <a14:foregroundMark x1="8146" y1="31857" x2="8146" y2="31857"/>
                        <a14:foregroundMark x1="6217" y1="34143" x2="15756" y2="31429"/>
                        <a14:foregroundMark x1="73848" y1="59286" x2="79850" y2="58429"/>
                        <a14:foregroundMark x1="53912" y1="42000" x2="52197" y2="55286"/>
                        <a14:foregroundMark x1="26045" y1="70571" x2="39228" y2="71143"/>
                        <a14:foregroundMark x1="39228" y1="71143" x2="39228" y2="70571"/>
                        <a14:foregroundMark x1="15756" y1="59571" x2="15756" y2="54571"/>
                        <a14:foregroundMark x1="65488" y1="24429" x2="86388" y2="22857"/>
                        <a14:foregroundMark x1="86388" y1="22857" x2="87460" y2="23143"/>
                        <a14:foregroundMark x1="23365" y1="76286" x2="23365" y2="7628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7712" b="14626"/>
          <a:stretch/>
        </p:blipFill>
        <p:spPr bwMode="auto">
          <a:xfrm>
            <a:off x="8782145" y="1202109"/>
            <a:ext cx="2321716" cy="109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Immagine 28" descr="Immagine che contiene design&#10;&#10;Il contenuto generato dall'IA potrebbe non essere corretto.">
            <a:extLst>
              <a:ext uri="{FF2B5EF4-FFF2-40B4-BE49-F238E27FC236}">
                <a16:creationId xmlns:a16="http://schemas.microsoft.com/office/drawing/2014/main" id="{0635CE0E-FAFE-03E4-620A-27633BC43C20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964" b="89080" l="4303" r="90189">
                        <a14:foregroundMark x1="20654" y1="69735" x2="21515" y2="76443"/>
                        <a14:foregroundMark x1="18072" y1="68487" x2="14114" y2="80499"/>
                        <a14:foregroundMark x1="20355" y1="81337" x2="51291" y2="85491"/>
                        <a14:foregroundMark x1="14114" y1="80499" x2="17599" y2="80967"/>
                        <a14:foregroundMark x1="44750" y1="84555" x2="27243" y2="88588"/>
                        <a14:foregroundMark x1="6672" y1="79378" x2="19277" y2="66771"/>
                        <a14:foregroundMark x1="19277" y1="66771" x2="30293" y2="68487"/>
                        <a14:foregroundMark x1="20674" y1="84618" x2="39071" y2="87676"/>
                        <a14:foregroundMark x1="39071" y1="87676" x2="41480" y2="89080"/>
                        <a14:foregroundMark x1="56799" y1="5772" x2="57831" y2="19813"/>
                        <a14:foregroundMark x1="57831" y1="19813" x2="72461" y2="17629"/>
                        <a14:foregroundMark x1="72461" y1="17629" x2="58520" y2="5616"/>
                        <a14:foregroundMark x1="58520" y1="5616" x2="54561" y2="4212"/>
                        <a14:foregroundMark x1="81411" y1="43214" x2="78657" y2="58034"/>
                        <a14:foregroundMark x1="78657" y1="58034" x2="75904" y2="59126"/>
                        <a14:foregroundMark x1="84509" y1="41654" x2="77797" y2="53510"/>
                        <a14:foregroundMark x1="88468" y1="45554" x2="88468" y2="45554"/>
                        <a14:foregroundMark x1="88468" y1="46022" x2="88468" y2="46022"/>
                        <a14:foregroundMark x1="88468" y1="46022" x2="88468" y2="46022"/>
                        <a14:foregroundMark x1="90189" y1="45710" x2="90189" y2="45710"/>
                        <a14:foregroundMark x1="90189" y1="45710" x2="90189" y2="45710"/>
                        <a14:foregroundMark x1="90189" y1="45710" x2="90189" y2="45710"/>
                        <a14:foregroundMark x1="90189" y1="45710" x2="71601" y2="68019"/>
                        <a14:foregroundMark x1="71601" y1="68019" x2="50947" y2="74415"/>
                        <a14:backgroundMark x1="17728" y1="84555" x2="17728" y2="84555"/>
                        <a14:backgroundMark x1="16695" y1="80967" x2="16695" y2="82371"/>
                        <a14:backgroundMark x1="6885" y1="80187" x2="25990" y2="91732"/>
                        <a14:backgroundMark x1="4475" y1="80187" x2="9294" y2="9032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299" t="4152" r="7619" b="8997"/>
          <a:stretch/>
        </p:blipFill>
        <p:spPr bwMode="auto">
          <a:xfrm>
            <a:off x="1499499" y="873003"/>
            <a:ext cx="1498995" cy="172871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39181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FBC11-DD4C-823F-4999-649AF36A9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BD497223-A4FD-8AE1-2375-7EFF7891C7C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26.06.2025</a:t>
            </a:r>
          </a:p>
          <a:p>
            <a:endParaRPr lang="en-US" dirty="0"/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7216E392-5159-78CB-AACB-3FDBC12D9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376" y="3433718"/>
            <a:ext cx="10084456" cy="2108271"/>
          </a:xfrm>
        </p:spPr>
        <p:txBody>
          <a:bodyPr/>
          <a:lstStyle/>
          <a:p>
            <a:r>
              <a:rPr lang="en-US" dirty="0"/>
              <a:t>Paralympics and Sport rehabilitation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43B40CC-31AF-B76F-DC62-B1EF7528C1E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/>
              <a:t>Academic Year 2024-2025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312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B69B3-045B-1DCB-1C7D-0759147D3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FEF6D40-BAAD-99BE-364C-8426A1681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27</a:t>
            </a:fld>
            <a:endParaRPr lang="it-IT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852CDDFF-9267-A24B-93DD-9B2CB02B1F7D}"/>
              </a:ext>
            </a:extLst>
          </p:cNvPr>
          <p:cNvSpPr txBox="1">
            <a:spLocks/>
          </p:cNvSpPr>
          <p:nvPr/>
        </p:nvSpPr>
        <p:spPr>
          <a:xfrm>
            <a:off x="385921" y="312908"/>
            <a:ext cx="11420157" cy="5230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dirty="0" err="1"/>
              <a:t>Final</a:t>
            </a:r>
            <a:r>
              <a:rPr lang="it-IT" b="1" dirty="0"/>
              <a:t> CAD </a:t>
            </a:r>
            <a:r>
              <a:rPr lang="it-IT" b="1" dirty="0" err="1"/>
              <a:t>dimensions</a:t>
            </a:r>
            <a:endParaRPr lang="en-US" dirty="0"/>
          </a:p>
        </p:txBody>
      </p:sp>
      <p:pic>
        <p:nvPicPr>
          <p:cNvPr id="2" name="Immagine 1" descr="Immagine che contiene diagramma, linea, Rettangolo, Parallelo&#10;&#10;Il contenuto generato dall'IA potrebbe non essere corretto.">
            <a:extLst>
              <a:ext uri="{FF2B5EF4-FFF2-40B4-BE49-F238E27FC236}">
                <a16:creationId xmlns:a16="http://schemas.microsoft.com/office/drawing/2014/main" id="{8F6B0B17-6343-3A4C-1BD2-1840948688B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3" t="6250" r="83" b="2204"/>
          <a:stretch/>
        </p:blipFill>
        <p:spPr bwMode="auto">
          <a:xfrm>
            <a:off x="334962" y="1653395"/>
            <a:ext cx="5375164" cy="332285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" name="Immagine 2" descr="Immagine che contiene linea, diagramma, design&#10;&#10;Il contenuto generato dall'IA potrebbe non essere corretto.">
            <a:extLst>
              <a:ext uri="{FF2B5EF4-FFF2-40B4-BE49-F238E27FC236}">
                <a16:creationId xmlns:a16="http://schemas.microsoft.com/office/drawing/2014/main" id="{566561A7-E6F8-77D7-3245-D83F6E7CC8C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3" t="1" r="5839" b="16243"/>
          <a:stretch/>
        </p:blipFill>
        <p:spPr bwMode="auto">
          <a:xfrm>
            <a:off x="5710126" y="2781184"/>
            <a:ext cx="5870829" cy="106727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69ACAEC4-CF6F-6089-C234-654691000EF1}"/>
              </a:ext>
            </a:extLst>
          </p:cNvPr>
          <p:cNvSpPr/>
          <p:nvPr/>
        </p:nvSpPr>
        <p:spPr>
          <a:xfrm>
            <a:off x="5006182" y="6038672"/>
            <a:ext cx="2179637" cy="509526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Project design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BD4ACB5A-7163-BDB8-F055-A870281239FC}"/>
              </a:ext>
            </a:extLst>
          </p:cNvPr>
          <p:cNvSpPr/>
          <p:nvPr/>
        </p:nvSpPr>
        <p:spPr>
          <a:xfrm>
            <a:off x="9677401" y="6283881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Conclusion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FCEEC5-DC6F-47BC-6CF2-60B6EA7CB138}"/>
              </a:ext>
            </a:extLst>
          </p:cNvPr>
          <p:cNvSpPr/>
          <p:nvPr/>
        </p:nvSpPr>
        <p:spPr>
          <a:xfrm>
            <a:off x="33496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Introduction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C5B2BD3C-1D17-B3E6-3D5A-78CC75856354}"/>
              </a:ext>
            </a:extLst>
          </p:cNvPr>
          <p:cNvSpPr/>
          <p:nvPr/>
        </p:nvSpPr>
        <p:spPr>
          <a:xfrm>
            <a:off x="267057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</a:t>
            </a:r>
            <a:r>
              <a:rPr lang="it-IT" sz="1600" dirty="0" err="1">
                <a:solidFill>
                  <a:srgbClr val="E3E6EB"/>
                </a:solidFill>
              </a:rPr>
              <a:t>proposal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FCDA8A06-0B66-34DE-FB57-25022D285F26}"/>
              </a:ext>
            </a:extLst>
          </p:cNvPr>
          <p:cNvSpPr/>
          <p:nvPr/>
        </p:nvSpPr>
        <p:spPr>
          <a:xfrm>
            <a:off x="7341792" y="6282690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Challenges</a:t>
            </a:r>
          </a:p>
        </p:txBody>
      </p:sp>
      <p:pic>
        <p:nvPicPr>
          <p:cNvPr id="7" name="Immagine 6" descr="Immagine che contiene diagramma, linea, Rettangolo, Parallelo&#10;&#10;Il contenuto generato dall'IA potrebbe non essere corretto.">
            <a:extLst>
              <a:ext uri="{FF2B5EF4-FFF2-40B4-BE49-F238E27FC236}">
                <a16:creationId xmlns:a16="http://schemas.microsoft.com/office/drawing/2014/main" id="{4A9DC75A-810F-1B7B-6EDD-75D804743FD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3" t="6250" r="83" b="2204"/>
          <a:stretch/>
        </p:blipFill>
        <p:spPr bwMode="auto">
          <a:xfrm>
            <a:off x="334962" y="1653395"/>
            <a:ext cx="5375164" cy="332285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Immagine 7" descr="Immagine che contiene design&#10;&#10;Il contenuto generato dall'IA potrebbe non essere corretto.">
            <a:extLst>
              <a:ext uri="{FF2B5EF4-FFF2-40B4-BE49-F238E27FC236}">
                <a16:creationId xmlns:a16="http://schemas.microsoft.com/office/drawing/2014/main" id="{F432EE3A-A873-67FA-F670-0290D30A4B27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99" t="4152" r="7619" b="8997"/>
          <a:stretch/>
        </p:blipFill>
        <p:spPr bwMode="auto">
          <a:xfrm>
            <a:off x="8699039" y="383489"/>
            <a:ext cx="1964055" cy="226504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Ovale 12">
            <a:extLst>
              <a:ext uri="{FF2B5EF4-FFF2-40B4-BE49-F238E27FC236}">
                <a16:creationId xmlns:a16="http://schemas.microsoft.com/office/drawing/2014/main" id="{A98BE2B6-8938-9E02-70EC-290C89F26FE9}"/>
              </a:ext>
            </a:extLst>
          </p:cNvPr>
          <p:cNvSpPr/>
          <p:nvPr/>
        </p:nvSpPr>
        <p:spPr>
          <a:xfrm rot="6547776">
            <a:off x="9620594" y="213360"/>
            <a:ext cx="1042500" cy="1224281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1368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59D3E-CAD8-378A-E6B7-B8F8DF193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ABC6C43-511D-5A8C-FC9D-32FB6B497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28</a:t>
            </a:fld>
            <a:endParaRPr lang="it-IT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B604A6E2-875E-1D4F-DDFF-079DB9392CE5}"/>
              </a:ext>
            </a:extLst>
          </p:cNvPr>
          <p:cNvSpPr txBox="1">
            <a:spLocks/>
          </p:cNvSpPr>
          <p:nvPr/>
        </p:nvSpPr>
        <p:spPr>
          <a:xfrm>
            <a:off x="385921" y="312908"/>
            <a:ext cx="11420157" cy="5230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dirty="0" err="1"/>
              <a:t>Final</a:t>
            </a:r>
            <a:r>
              <a:rPr lang="it-IT" b="1" dirty="0"/>
              <a:t> CAD </a:t>
            </a:r>
            <a:r>
              <a:rPr lang="it-IT" b="1" dirty="0" err="1"/>
              <a:t>dimensions</a:t>
            </a:r>
            <a:endParaRPr lang="en-US" dirty="0"/>
          </a:p>
        </p:txBody>
      </p:sp>
      <p:pic>
        <p:nvPicPr>
          <p:cNvPr id="4" name="Immagine 3" descr="Immagine che contiene linea, Parallelo&#10;&#10;Il contenuto generato dall'IA potrebbe non essere corretto.">
            <a:extLst>
              <a:ext uri="{FF2B5EF4-FFF2-40B4-BE49-F238E27FC236}">
                <a16:creationId xmlns:a16="http://schemas.microsoft.com/office/drawing/2014/main" id="{D63C6332-1977-06B0-CD96-0C078D101CA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1" t="3819" r="15954" b="1209"/>
          <a:stretch/>
        </p:blipFill>
        <p:spPr bwMode="auto">
          <a:xfrm>
            <a:off x="575470" y="1169945"/>
            <a:ext cx="4274739" cy="462374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Immagine 8" descr="Immagine che contiene schizzo, disegno, bianco, linea&#10;&#10;Il contenuto generato dall'IA potrebbe non essere corretto.">
            <a:extLst>
              <a:ext uri="{FF2B5EF4-FFF2-40B4-BE49-F238E27FC236}">
                <a16:creationId xmlns:a16="http://schemas.microsoft.com/office/drawing/2014/main" id="{4A6BD84F-CC75-5524-5C45-EDF57D798AC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" t="18959" r="3959" b="20089"/>
          <a:stretch/>
        </p:blipFill>
        <p:spPr bwMode="auto">
          <a:xfrm>
            <a:off x="5396890" y="2645788"/>
            <a:ext cx="6069440" cy="114427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AA080051-9A67-6AA4-CA6C-A8F96CD60EA4}"/>
              </a:ext>
            </a:extLst>
          </p:cNvPr>
          <p:cNvSpPr/>
          <p:nvPr/>
        </p:nvSpPr>
        <p:spPr>
          <a:xfrm>
            <a:off x="5006182" y="6038672"/>
            <a:ext cx="2179637" cy="509526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Project design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936F5304-70B4-1A5E-2B3B-6751210815E6}"/>
              </a:ext>
            </a:extLst>
          </p:cNvPr>
          <p:cNvSpPr/>
          <p:nvPr/>
        </p:nvSpPr>
        <p:spPr>
          <a:xfrm>
            <a:off x="9677401" y="6283881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Conclusion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18F5F23A-ABE2-77E5-C2C8-6BFFF74EA505}"/>
              </a:ext>
            </a:extLst>
          </p:cNvPr>
          <p:cNvSpPr/>
          <p:nvPr/>
        </p:nvSpPr>
        <p:spPr>
          <a:xfrm>
            <a:off x="33496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Introduction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D04A7255-E9B0-6FCD-748C-974B5A086C73}"/>
              </a:ext>
            </a:extLst>
          </p:cNvPr>
          <p:cNvSpPr/>
          <p:nvPr/>
        </p:nvSpPr>
        <p:spPr>
          <a:xfrm>
            <a:off x="267057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</a:t>
            </a:r>
            <a:r>
              <a:rPr lang="it-IT" sz="1600" dirty="0" err="1">
                <a:solidFill>
                  <a:srgbClr val="E3E6EB"/>
                </a:solidFill>
              </a:rPr>
              <a:t>proposal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D8136494-F7A5-0C60-5879-BECD2591DACB}"/>
              </a:ext>
            </a:extLst>
          </p:cNvPr>
          <p:cNvSpPr/>
          <p:nvPr/>
        </p:nvSpPr>
        <p:spPr>
          <a:xfrm>
            <a:off x="7341792" y="6282690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Challenges</a:t>
            </a:r>
          </a:p>
        </p:txBody>
      </p:sp>
      <p:pic>
        <p:nvPicPr>
          <p:cNvPr id="7" name="Immagine 6" descr="Immagine che contiene design&#10;&#10;Il contenuto generato dall'IA potrebbe non essere corretto.">
            <a:extLst>
              <a:ext uri="{FF2B5EF4-FFF2-40B4-BE49-F238E27FC236}">
                <a16:creationId xmlns:a16="http://schemas.microsoft.com/office/drawing/2014/main" id="{327A4A8D-094C-7A6F-2C74-18D5E3AD86C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99" t="4152" r="7619" b="8997"/>
          <a:stretch/>
        </p:blipFill>
        <p:spPr bwMode="auto">
          <a:xfrm>
            <a:off x="8699039" y="383489"/>
            <a:ext cx="1964055" cy="226504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Ovale 7">
            <a:extLst>
              <a:ext uri="{FF2B5EF4-FFF2-40B4-BE49-F238E27FC236}">
                <a16:creationId xmlns:a16="http://schemas.microsoft.com/office/drawing/2014/main" id="{205B27B2-57A9-D99A-CAC2-D6EB8CFCD936}"/>
              </a:ext>
            </a:extLst>
          </p:cNvPr>
          <p:cNvSpPr/>
          <p:nvPr/>
        </p:nvSpPr>
        <p:spPr>
          <a:xfrm rot="6547776">
            <a:off x="9093934" y="796693"/>
            <a:ext cx="1417433" cy="1429585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9442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8FBE2-E36C-8019-A2C2-179E15290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B79E0C8-7C61-4979-A0A4-EDC3FE911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29</a:t>
            </a:fld>
            <a:endParaRPr lang="it-IT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98987BE3-210C-85FD-8E0A-E069940C78D2}"/>
              </a:ext>
            </a:extLst>
          </p:cNvPr>
          <p:cNvSpPr txBox="1">
            <a:spLocks/>
          </p:cNvSpPr>
          <p:nvPr/>
        </p:nvSpPr>
        <p:spPr>
          <a:xfrm>
            <a:off x="385921" y="312908"/>
            <a:ext cx="11420157" cy="5230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dirty="0" err="1"/>
              <a:t>Final</a:t>
            </a:r>
            <a:r>
              <a:rPr lang="it-IT" b="1" dirty="0"/>
              <a:t> CAD </a:t>
            </a:r>
            <a:r>
              <a:rPr lang="it-IT" b="1" dirty="0" err="1"/>
              <a:t>dimensions</a:t>
            </a:r>
            <a:endParaRPr lang="en-US" dirty="0"/>
          </a:p>
        </p:txBody>
      </p:sp>
      <p:pic>
        <p:nvPicPr>
          <p:cNvPr id="9" name="Immagine 8" descr="Immagine che contiene linea, schizzo, diagramma, bianco&#10;&#10;Il contenuto generato dall'IA potrebbe non essere corretto.">
            <a:extLst>
              <a:ext uri="{FF2B5EF4-FFF2-40B4-BE49-F238E27FC236}">
                <a16:creationId xmlns:a16="http://schemas.microsoft.com/office/drawing/2014/main" id="{F607D07E-F499-1025-7576-0F60B46B25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66" r="4255" b="24257"/>
          <a:stretch/>
        </p:blipFill>
        <p:spPr bwMode="auto">
          <a:xfrm>
            <a:off x="5368695" y="2630403"/>
            <a:ext cx="6239966" cy="118778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13" name="Gruppo 12">
            <a:extLst>
              <a:ext uri="{FF2B5EF4-FFF2-40B4-BE49-F238E27FC236}">
                <a16:creationId xmlns:a16="http://schemas.microsoft.com/office/drawing/2014/main" id="{5A6B2288-AE2D-852D-2A35-E1103C4D9F25}"/>
              </a:ext>
            </a:extLst>
          </p:cNvPr>
          <p:cNvGrpSpPr/>
          <p:nvPr/>
        </p:nvGrpSpPr>
        <p:grpSpPr>
          <a:xfrm>
            <a:off x="795819" y="1109178"/>
            <a:ext cx="4314535" cy="4259795"/>
            <a:chOff x="691647" y="1109178"/>
            <a:chExt cx="4314535" cy="4259795"/>
          </a:xfrm>
        </p:grpSpPr>
        <p:pic>
          <p:nvPicPr>
            <p:cNvPr id="4" name="Immagine 3" descr="Immagine che contiene diagramma, schizzo, disegno, cerchio&#10;&#10;Il contenuto generato dall'IA potrebbe non essere corretto.">
              <a:extLst>
                <a:ext uri="{FF2B5EF4-FFF2-40B4-BE49-F238E27FC236}">
                  <a16:creationId xmlns:a16="http://schemas.microsoft.com/office/drawing/2014/main" id="{07583F1E-6990-D229-E626-A76B79B91F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66" r="3765"/>
            <a:stretch/>
          </p:blipFill>
          <p:spPr bwMode="auto">
            <a:xfrm>
              <a:off x="691647" y="1109178"/>
              <a:ext cx="4314535" cy="4259795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E6AF7F27-9998-A093-FDAB-80ED7005E2A4}"/>
                </a:ext>
              </a:extLst>
            </p:cNvPr>
            <p:cNvSpPr/>
            <p:nvPr/>
          </p:nvSpPr>
          <p:spPr>
            <a:xfrm>
              <a:off x="1360169" y="1109178"/>
              <a:ext cx="815871" cy="2852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2" name="Rettangolo 1">
            <a:extLst>
              <a:ext uri="{FF2B5EF4-FFF2-40B4-BE49-F238E27FC236}">
                <a16:creationId xmlns:a16="http://schemas.microsoft.com/office/drawing/2014/main" id="{E7BD9E04-B9AE-2E43-9C78-1069E621F1DF}"/>
              </a:ext>
            </a:extLst>
          </p:cNvPr>
          <p:cNvSpPr/>
          <p:nvPr/>
        </p:nvSpPr>
        <p:spPr>
          <a:xfrm>
            <a:off x="5006182" y="6038672"/>
            <a:ext cx="2179637" cy="509526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Project design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FC377DE6-B8F3-E669-B3DF-50EB24B6969E}"/>
              </a:ext>
            </a:extLst>
          </p:cNvPr>
          <p:cNvSpPr/>
          <p:nvPr/>
        </p:nvSpPr>
        <p:spPr>
          <a:xfrm>
            <a:off x="9677401" y="6283881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Conclusion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8527A2F-E607-E11A-AF12-AFDEA214EED6}"/>
              </a:ext>
            </a:extLst>
          </p:cNvPr>
          <p:cNvSpPr/>
          <p:nvPr/>
        </p:nvSpPr>
        <p:spPr>
          <a:xfrm>
            <a:off x="33496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Introduction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60472700-7319-446C-F85A-84F907F77AC8}"/>
              </a:ext>
            </a:extLst>
          </p:cNvPr>
          <p:cNvSpPr/>
          <p:nvPr/>
        </p:nvSpPr>
        <p:spPr>
          <a:xfrm>
            <a:off x="267057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</a:t>
            </a:r>
            <a:r>
              <a:rPr lang="it-IT" sz="1600" dirty="0" err="1">
                <a:solidFill>
                  <a:srgbClr val="E3E6EB"/>
                </a:solidFill>
              </a:rPr>
              <a:t>proposal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59CFD7C4-A0AA-7B59-3D3D-C36F94979BBD}"/>
              </a:ext>
            </a:extLst>
          </p:cNvPr>
          <p:cNvSpPr/>
          <p:nvPr/>
        </p:nvSpPr>
        <p:spPr>
          <a:xfrm>
            <a:off x="7341792" y="6282690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Challenges</a:t>
            </a:r>
          </a:p>
        </p:txBody>
      </p:sp>
      <p:pic>
        <p:nvPicPr>
          <p:cNvPr id="7" name="Immagine 6" descr="Immagine che contiene design&#10;&#10;Il contenuto generato dall'IA potrebbe non essere corretto.">
            <a:extLst>
              <a:ext uri="{FF2B5EF4-FFF2-40B4-BE49-F238E27FC236}">
                <a16:creationId xmlns:a16="http://schemas.microsoft.com/office/drawing/2014/main" id="{97834401-3A92-F4DD-3560-D616DE44DD8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99" t="4152" r="7619" b="8997"/>
          <a:stretch/>
        </p:blipFill>
        <p:spPr bwMode="auto">
          <a:xfrm>
            <a:off x="8699039" y="383489"/>
            <a:ext cx="1964055" cy="226504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Ovale 7">
            <a:extLst>
              <a:ext uri="{FF2B5EF4-FFF2-40B4-BE49-F238E27FC236}">
                <a16:creationId xmlns:a16="http://schemas.microsoft.com/office/drawing/2014/main" id="{38385C84-498E-2576-EA9E-5F60C366C955}"/>
              </a:ext>
            </a:extLst>
          </p:cNvPr>
          <p:cNvSpPr/>
          <p:nvPr/>
        </p:nvSpPr>
        <p:spPr>
          <a:xfrm rot="6547776">
            <a:off x="8751258" y="1505515"/>
            <a:ext cx="1105521" cy="134252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58183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0DED4-1D71-782A-7715-5B92A59EB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C59D10F-05FE-C571-5C9D-14FF6FF82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30</a:t>
            </a:fld>
            <a:endParaRPr lang="it-IT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03813A7F-6070-CA59-5357-37DAB3718F90}"/>
              </a:ext>
            </a:extLst>
          </p:cNvPr>
          <p:cNvSpPr txBox="1">
            <a:spLocks/>
          </p:cNvSpPr>
          <p:nvPr/>
        </p:nvSpPr>
        <p:spPr>
          <a:xfrm>
            <a:off x="385921" y="312908"/>
            <a:ext cx="11420157" cy="5230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dirty="0"/>
              <a:t>Alternative CAD designs</a:t>
            </a:r>
            <a:endParaRPr lang="en-US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A5E3012-EB31-33C4-F880-65D71EBE971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34" t="6616" r="-1234" b="5171"/>
          <a:stretch/>
        </p:blipFill>
        <p:spPr bwMode="auto">
          <a:xfrm>
            <a:off x="618288" y="2103755"/>
            <a:ext cx="2849880" cy="25908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Immagine 8" descr="Immagine che contiene design&#10;&#10;Il contenuto generato dall'IA potrebbe non essere corretto.">
            <a:extLst>
              <a:ext uri="{FF2B5EF4-FFF2-40B4-BE49-F238E27FC236}">
                <a16:creationId xmlns:a16="http://schemas.microsoft.com/office/drawing/2014/main" id="{0FA72FA7-34CA-BE07-FFFF-D9467C4CB1A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283" b="88782" l="5322" r="93417">
                        <a14:foregroundMark x1="62605" y1="8208" x2="89496" y2="18878"/>
                        <a14:foregroundMark x1="96078" y1="15048" x2="91597" y2="56224"/>
                        <a14:foregroundMark x1="91597" y1="56224" x2="62605" y2="77839"/>
                        <a14:foregroundMark x1="62605" y1="77839" x2="34034" y2="87004"/>
                        <a14:foregroundMark x1="34034" y1="87004" x2="12325" y2="82353"/>
                        <a14:foregroundMark x1="12325" y1="82353" x2="30532" y2="61696"/>
                        <a14:foregroundMark x1="30532" y1="61696" x2="34874" y2="59644"/>
                        <a14:foregroundMark x1="6443" y1="72230" x2="9244" y2="84815"/>
                        <a14:foregroundMark x1="5742" y1="73324" x2="6863" y2="84405"/>
                        <a14:foregroundMark x1="93697" y1="13543" x2="89776" y2="30369"/>
                        <a14:foregroundMark x1="25210" y1="88235" x2="46218" y2="88919"/>
                        <a14:foregroundMark x1="7983" y1="74145" x2="29832" y2="64706"/>
                        <a14:foregroundMark x1="29832" y1="64706" x2="57423" y2="25034"/>
                        <a14:foregroundMark x1="57423" y1="25034" x2="62605" y2="328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589" t="4762" b="10276"/>
          <a:stretch/>
        </p:blipFill>
        <p:spPr bwMode="auto">
          <a:xfrm>
            <a:off x="3110946" y="2020510"/>
            <a:ext cx="3058234" cy="275729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6D0D27E8-631D-0356-351D-B2DB5E572A6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1765" b="89330" l="8485" r="91970">
                        <a14:foregroundMark x1="77121" y1="20520" x2="77121" y2="20520"/>
                        <a14:foregroundMark x1="58030" y1="14227" x2="58030" y2="14227"/>
                        <a14:foregroundMark x1="13939" y1="80164" x2="30303" y2="83311"/>
                        <a14:foregroundMark x1="30303" y1="83311" x2="41970" y2="89603"/>
                        <a14:foregroundMark x1="41970" y1="89603" x2="48333" y2="83311"/>
                        <a14:foregroundMark x1="48333" y1="83311" x2="48333" y2="83311"/>
                        <a14:foregroundMark x1="89242" y1="21614" x2="86364" y2="39261"/>
                        <a14:foregroundMark x1="86364" y1="39261" x2="84545" y2="41997"/>
                        <a14:foregroundMark x1="90455" y1="22025" x2="91970" y2="29001"/>
                        <a14:foregroundMark x1="91212" y1="21341" x2="91970" y2="31464"/>
                        <a14:foregroundMark x1="67424" y1="15595" x2="56515" y2="17373"/>
                        <a14:foregroundMark x1="8485" y1="83311" x2="10455" y2="80848"/>
                        <a14:foregroundMark x1="56061" y1="14227" x2="55000" y2="13133"/>
                        <a14:foregroundMark x1="59242" y1="11765" x2="58485" y2="160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919" t="9512" r="4204" b="6586"/>
          <a:stretch/>
        </p:blipFill>
        <p:spPr bwMode="auto">
          <a:xfrm>
            <a:off x="6263936" y="2021246"/>
            <a:ext cx="2575264" cy="275581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1" name="Immagine 10" descr="Immagine che contiene Attrezzatura per ufficio, controllo, tastiera&#10;&#10;Il contenuto generato dall'IA potrebbe non essere corretto.">
            <a:extLst>
              <a:ext uri="{FF2B5EF4-FFF2-40B4-BE49-F238E27FC236}">
                <a16:creationId xmlns:a16="http://schemas.microsoft.com/office/drawing/2014/main" id="{D19A87CF-7304-C9C1-FAB2-9DBD3AF55D8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6151" b="94213" l="4526" r="92263">
                        <a14:foregroundMark x1="8613" y1="79273" x2="14599" y2="74293"/>
                        <a14:foregroundMark x1="38248" y1="85195" x2="40146" y2="88829"/>
                        <a14:foregroundMark x1="40146" y1="88829" x2="40146" y2="88829"/>
                        <a14:foregroundMark x1="34599" y1="89637" x2="33577" y2="89637"/>
                        <a14:foregroundMark x1="8759" y1="78331" x2="9781" y2="80619"/>
                        <a14:foregroundMark x1="83796" y1="56528" x2="87153" y2="68371"/>
                        <a14:foregroundMark x1="88175" y1="55989" x2="86715" y2="67429"/>
                        <a14:foregroundMark x1="85693" y1="59623" x2="75620" y2="70121"/>
                        <a14:foregroundMark x1="75620" y1="70121" x2="90511" y2="60565"/>
                        <a14:foregroundMark x1="90511" y1="60565" x2="90365" y2="60700"/>
                        <a14:foregroundMark x1="92263" y1="55855" x2="87883" y2="56662"/>
                        <a14:foregroundMark x1="66131" y1="16151" x2="59708" y2="17497"/>
                        <a14:foregroundMark x1="60438" y1="19919" x2="30073" y2="63661"/>
                        <a14:foregroundMark x1="30073" y1="63661" x2="25401" y2="67699"/>
                        <a14:foregroundMark x1="16788" y1="74293" x2="12847" y2="80350"/>
                        <a14:foregroundMark x1="8321" y1="81696" x2="7299" y2="81292"/>
                        <a14:foregroundMark x1="5985" y1="77658" x2="6423" y2="83042"/>
                        <a14:foregroundMark x1="8759" y1="76716" x2="9051" y2="79677"/>
                        <a14:foregroundMark x1="4818" y1="79273" x2="4818" y2="80350"/>
                        <a14:foregroundMark x1="4526" y1="79812" x2="19124" y2="73620"/>
                        <a14:foregroundMark x1="19124" y1="73620" x2="27153" y2="66756"/>
                        <a14:foregroundMark x1="8321" y1="77120" x2="25547" y2="67968"/>
                        <a14:foregroundMark x1="65255" y1="74159" x2="55620" y2="78331"/>
                        <a14:foregroundMark x1="67299" y1="74159" x2="40146" y2="87483"/>
                        <a14:foregroundMark x1="86569" y1="62988" x2="59562" y2="76985"/>
                        <a14:foregroundMark x1="8613" y1="82369" x2="26131" y2="90040"/>
                        <a14:foregroundMark x1="26131" y1="90040" x2="45401" y2="87079"/>
                        <a14:foregroundMark x1="45401" y1="87079" x2="60000" y2="79812"/>
                        <a14:foregroundMark x1="60000" y1="79812" x2="61752" y2="76581"/>
                        <a14:foregroundMark x1="51679" y1="82773" x2="34891" y2="90713"/>
                        <a14:foregroundMark x1="34891" y1="90713" x2="31241" y2="9421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5" t="11134" r="8182" b="5673"/>
          <a:stretch/>
        </p:blipFill>
        <p:spPr bwMode="auto">
          <a:xfrm>
            <a:off x="8661838" y="1976682"/>
            <a:ext cx="2808673" cy="284494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0F9EE6E0-0790-72E7-DFB6-EBB1E03CE217}"/>
              </a:ext>
            </a:extLst>
          </p:cNvPr>
          <p:cNvSpPr/>
          <p:nvPr/>
        </p:nvSpPr>
        <p:spPr>
          <a:xfrm>
            <a:off x="5006182" y="6038672"/>
            <a:ext cx="2179637" cy="509526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Project design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9D8016B6-860B-907D-81A6-2BEEBC7DDE5B}"/>
              </a:ext>
            </a:extLst>
          </p:cNvPr>
          <p:cNvSpPr/>
          <p:nvPr/>
        </p:nvSpPr>
        <p:spPr>
          <a:xfrm>
            <a:off x="9677401" y="6283881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Conclusion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E5F640D4-8ACA-5EF4-A106-4A5C1A5A8767}"/>
              </a:ext>
            </a:extLst>
          </p:cNvPr>
          <p:cNvSpPr/>
          <p:nvPr/>
        </p:nvSpPr>
        <p:spPr>
          <a:xfrm>
            <a:off x="33496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Introduction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5F3206A1-4EE7-65BF-37ED-CE7DC81B89BD}"/>
              </a:ext>
            </a:extLst>
          </p:cNvPr>
          <p:cNvSpPr/>
          <p:nvPr/>
        </p:nvSpPr>
        <p:spPr>
          <a:xfrm>
            <a:off x="267057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</a:t>
            </a:r>
            <a:r>
              <a:rPr lang="it-IT" sz="1600" dirty="0" err="1">
                <a:solidFill>
                  <a:srgbClr val="E3E6EB"/>
                </a:solidFill>
              </a:rPr>
              <a:t>proposal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EAA71B86-11FE-15DF-A124-515DBAAE870C}"/>
              </a:ext>
            </a:extLst>
          </p:cNvPr>
          <p:cNvSpPr/>
          <p:nvPr/>
        </p:nvSpPr>
        <p:spPr>
          <a:xfrm>
            <a:off x="7341792" y="6282690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Challenges</a:t>
            </a:r>
          </a:p>
        </p:txBody>
      </p:sp>
    </p:spTree>
    <p:extLst>
      <p:ext uri="{BB962C8B-B14F-4D97-AF65-F5344CB8AC3E}">
        <p14:creationId xmlns:p14="http://schemas.microsoft.com/office/powerpoint/2010/main" val="3773356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866B4-33F1-723E-CAD8-DBF0431FE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D1AB4CB-55D2-65C0-FFE3-E4317D8E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31</a:t>
            </a:fld>
            <a:endParaRPr lang="it-IT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7318B571-E885-CCBC-2043-556BF9C6E843}"/>
              </a:ext>
            </a:extLst>
          </p:cNvPr>
          <p:cNvSpPr txBox="1">
            <a:spLocks/>
          </p:cNvSpPr>
          <p:nvPr/>
        </p:nvSpPr>
        <p:spPr>
          <a:xfrm>
            <a:off x="385921" y="312908"/>
            <a:ext cx="11420157" cy="5230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dirty="0" err="1"/>
              <a:t>Reswick</a:t>
            </a:r>
            <a:r>
              <a:rPr lang="it-IT" b="1" dirty="0"/>
              <a:t> and Rogers curve</a:t>
            </a:r>
            <a:endParaRPr lang="en-US" dirty="0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63A424F2-57D7-A29A-AA09-E1BF63294246}"/>
              </a:ext>
            </a:extLst>
          </p:cNvPr>
          <p:cNvSpPr/>
          <p:nvPr/>
        </p:nvSpPr>
        <p:spPr>
          <a:xfrm>
            <a:off x="5006182" y="6038672"/>
            <a:ext cx="2179637" cy="509526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Project design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F576CDBA-BAB3-D3D9-C02E-72E2A2297597}"/>
              </a:ext>
            </a:extLst>
          </p:cNvPr>
          <p:cNvSpPr/>
          <p:nvPr/>
        </p:nvSpPr>
        <p:spPr>
          <a:xfrm>
            <a:off x="9677401" y="6283881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Conclusion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52967B35-C5F3-33CB-C745-0E0543ECFBFB}"/>
              </a:ext>
            </a:extLst>
          </p:cNvPr>
          <p:cNvSpPr/>
          <p:nvPr/>
        </p:nvSpPr>
        <p:spPr>
          <a:xfrm>
            <a:off x="33496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Introduction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3E23D503-FA9E-B74F-BB5E-DAAC0334A098}"/>
              </a:ext>
            </a:extLst>
          </p:cNvPr>
          <p:cNvSpPr/>
          <p:nvPr/>
        </p:nvSpPr>
        <p:spPr>
          <a:xfrm>
            <a:off x="267057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</a:t>
            </a:r>
            <a:r>
              <a:rPr lang="it-IT" sz="1600" dirty="0" err="1">
                <a:solidFill>
                  <a:srgbClr val="E3E6EB"/>
                </a:solidFill>
              </a:rPr>
              <a:t>proposal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F885C4FB-4F21-E9C0-6658-4461404D6A83}"/>
              </a:ext>
            </a:extLst>
          </p:cNvPr>
          <p:cNvSpPr/>
          <p:nvPr/>
        </p:nvSpPr>
        <p:spPr>
          <a:xfrm>
            <a:off x="7341792" y="6282690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Challenges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ED54A9C-A0C0-C88D-9EE8-C68426DACF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9" t="14209" r="1780" b="19399"/>
          <a:stretch>
            <a:fillRect/>
          </a:stretch>
        </p:blipFill>
        <p:spPr bwMode="auto">
          <a:xfrm>
            <a:off x="709255" y="1289397"/>
            <a:ext cx="5506280" cy="4279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DA1C99D-84D1-6E4C-1F08-B9CE3D91B3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4" t="81129" r="7225" b="2378"/>
          <a:stretch>
            <a:fillRect/>
          </a:stretch>
        </p:blipFill>
        <p:spPr bwMode="auto">
          <a:xfrm>
            <a:off x="6612217" y="2931667"/>
            <a:ext cx="4870528" cy="994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50654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1744D-5628-75CE-2900-167CDF482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79A40F9-1962-A57E-9D1C-8B41C2D6B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32</a:t>
            </a:fld>
            <a:endParaRPr lang="it-IT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0DA20ED0-3EF6-0A6E-934E-D3D469BD8B01}"/>
              </a:ext>
            </a:extLst>
          </p:cNvPr>
          <p:cNvSpPr txBox="1">
            <a:spLocks/>
          </p:cNvSpPr>
          <p:nvPr/>
        </p:nvSpPr>
        <p:spPr>
          <a:xfrm>
            <a:off x="385921" y="312908"/>
            <a:ext cx="11420157" cy="5230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dirty="0"/>
              <a:t>Overall cost estimate</a:t>
            </a:r>
            <a:endParaRPr lang="en-US" dirty="0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4AFE2E2C-601E-82CE-7E74-AB6CA84AAB0C}"/>
              </a:ext>
            </a:extLst>
          </p:cNvPr>
          <p:cNvSpPr/>
          <p:nvPr/>
        </p:nvSpPr>
        <p:spPr>
          <a:xfrm>
            <a:off x="5006182" y="6038672"/>
            <a:ext cx="2179637" cy="509526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Project design</a:t>
            </a:r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4ACE0CCD-0F94-D69D-3DCF-90C49EA925FD}"/>
              </a:ext>
            </a:extLst>
          </p:cNvPr>
          <p:cNvSpPr/>
          <p:nvPr/>
        </p:nvSpPr>
        <p:spPr>
          <a:xfrm>
            <a:off x="9677401" y="6283881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Conclusion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C85B0710-9E27-4982-A4A6-AD7E5C890528}"/>
              </a:ext>
            </a:extLst>
          </p:cNvPr>
          <p:cNvSpPr/>
          <p:nvPr/>
        </p:nvSpPr>
        <p:spPr>
          <a:xfrm>
            <a:off x="33496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Introduction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37F6B0F-2741-DF08-5599-597EE442004A}"/>
              </a:ext>
            </a:extLst>
          </p:cNvPr>
          <p:cNvSpPr/>
          <p:nvPr/>
        </p:nvSpPr>
        <p:spPr>
          <a:xfrm>
            <a:off x="267057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</a:t>
            </a:r>
            <a:r>
              <a:rPr lang="it-IT" sz="1600" dirty="0" err="1">
                <a:solidFill>
                  <a:srgbClr val="E3E6EB"/>
                </a:solidFill>
              </a:rPr>
              <a:t>proposal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1622E125-A0B7-8069-C9D8-D757E56DCAEF}"/>
              </a:ext>
            </a:extLst>
          </p:cNvPr>
          <p:cNvSpPr/>
          <p:nvPr/>
        </p:nvSpPr>
        <p:spPr>
          <a:xfrm>
            <a:off x="7341792" y="6282690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Challenges</a:t>
            </a:r>
          </a:p>
        </p:txBody>
      </p:sp>
      <p:graphicFrame>
        <p:nvGraphicFramePr>
          <p:cNvPr id="8" name="Tabella 7">
            <a:extLst>
              <a:ext uri="{FF2B5EF4-FFF2-40B4-BE49-F238E27FC236}">
                <a16:creationId xmlns:a16="http://schemas.microsoft.com/office/drawing/2014/main" id="{15AC1261-AFC9-A646-34AB-297CD6D65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541681"/>
              </p:ext>
            </p:extLst>
          </p:nvPr>
        </p:nvGraphicFramePr>
        <p:xfrm>
          <a:off x="1315719" y="883305"/>
          <a:ext cx="9560559" cy="49682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86853">
                  <a:extLst>
                    <a:ext uri="{9D8B030D-6E8A-4147-A177-3AD203B41FA5}">
                      <a16:colId xmlns:a16="http://schemas.microsoft.com/office/drawing/2014/main" val="1062613296"/>
                    </a:ext>
                  </a:extLst>
                </a:gridCol>
                <a:gridCol w="3186853">
                  <a:extLst>
                    <a:ext uri="{9D8B030D-6E8A-4147-A177-3AD203B41FA5}">
                      <a16:colId xmlns:a16="http://schemas.microsoft.com/office/drawing/2014/main" val="4012100599"/>
                    </a:ext>
                  </a:extLst>
                </a:gridCol>
                <a:gridCol w="3186853">
                  <a:extLst>
                    <a:ext uri="{9D8B030D-6E8A-4147-A177-3AD203B41FA5}">
                      <a16:colId xmlns:a16="http://schemas.microsoft.com/office/drawing/2014/main" val="950104801"/>
                    </a:ext>
                  </a:extLst>
                </a:gridCol>
              </a:tblGrid>
              <a:tr h="41402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1" kern="1200" dirty="0">
                          <a:solidFill>
                            <a:srgbClr val="233D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COMPONENT</a:t>
                      </a:r>
                    </a:p>
                  </a:txBody>
                  <a:tcPr marL="61034" marR="61034" marT="0" marB="0" anchor="ctr">
                    <a:lnL w="12700" cmpd="sng">
                      <a:noFill/>
                    </a:lnL>
                    <a:lnR w="38100" cap="flat" cmpd="sng" algn="ctr">
                      <a:solidFill>
                        <a:srgbClr val="23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23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6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1" kern="1200" dirty="0">
                          <a:solidFill>
                            <a:srgbClr val="233D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COMMERCIAL EXAMPLE</a:t>
                      </a:r>
                    </a:p>
                  </a:txBody>
                  <a:tcPr marL="61034" marR="61034" marT="0" marB="0" anchor="ctr">
                    <a:lnL w="38100" cap="flat" cmpd="sng" algn="ctr">
                      <a:solidFill>
                        <a:srgbClr val="23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23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6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1" kern="1200" dirty="0">
                          <a:solidFill>
                            <a:srgbClr val="233D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APPROXIMATE PRICE (EUR)</a:t>
                      </a:r>
                    </a:p>
                  </a:txBody>
                  <a:tcPr marL="61034" marR="61034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ap="flat" cmpd="sng" algn="ctr">
                      <a:solidFill>
                        <a:srgbClr val="23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3E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928265"/>
                  </a:ext>
                </a:extLst>
              </a:tr>
              <a:tr h="41402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1" kern="1200" dirty="0">
                          <a:solidFill>
                            <a:srgbClr val="233D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AIR CELL CUSHION</a:t>
                      </a:r>
                    </a:p>
                  </a:txBody>
                  <a:tcPr marL="61034" marR="61034" marT="0" marB="0" anchor="ctr">
                    <a:lnR w="38100" cap="flat" cmpd="sng" algn="ctr">
                      <a:solidFill>
                        <a:srgbClr val="23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23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Custom or OEM (e.g., Roho, </a:t>
                      </a:r>
                      <a:r>
                        <a:rPr lang="en-US" sz="1200" b="0" kern="1200" dirty="0" err="1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Vicair</a:t>
                      </a: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)</a:t>
                      </a:r>
                      <a:endParaRPr lang="it-IT" sz="1200" b="0" kern="1200" dirty="0">
                        <a:solidFill>
                          <a:schemeClr val="tx1"/>
                        </a:solidFill>
                        <a:effectLst/>
                        <a:latin typeface="Arial Nova" panose="020B0504020202020204" pitchFamily="34" charset="0"/>
                        <a:ea typeface="+mn-ea"/>
                        <a:cs typeface="+mn-cs"/>
                      </a:endParaRPr>
                    </a:p>
                  </a:txBody>
                  <a:tcPr marL="61034" marR="61034" marT="0" marB="0" anchor="ctr">
                    <a:lnL w="38100" cap="flat" cmpd="sng" algn="ctr">
                      <a:solidFill>
                        <a:srgbClr val="23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rgbClr val="23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0" kern="1200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~3,000–5,000 €</a:t>
                      </a:r>
                    </a:p>
                  </a:txBody>
                  <a:tcPr marL="61034" marR="61034" marT="0" marB="0" anchor="ctr">
                    <a:lnT w="38100" cap="flat" cmpd="sng" algn="ctr">
                      <a:solidFill>
                        <a:srgbClr val="23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984327"/>
                  </a:ext>
                </a:extLst>
              </a:tr>
              <a:tr h="41402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1" kern="1200" dirty="0">
                          <a:solidFill>
                            <a:srgbClr val="233D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BREATHABLE COVER</a:t>
                      </a:r>
                    </a:p>
                  </a:txBody>
                  <a:tcPr marL="61034" marR="61034" marT="0" marB="0" anchor="ctr">
                    <a:lnR w="38100" cap="flat" cmpd="sng" algn="ctr">
                      <a:solidFill>
                        <a:srgbClr val="23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3E6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0" kern="1200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Micro-</a:t>
                      </a:r>
                      <a:r>
                        <a:rPr lang="it-IT" sz="1200" b="0" kern="1200" dirty="0" err="1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perforated</a:t>
                      </a:r>
                      <a:r>
                        <a:rPr lang="it-IT" sz="1200" b="0" kern="1200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 PU cover</a:t>
                      </a:r>
                    </a:p>
                  </a:txBody>
                  <a:tcPr marL="61034" marR="61034" marT="0" marB="0" anchor="ctr">
                    <a:lnL w="38100" cap="flat" cmpd="sng" algn="ctr">
                      <a:solidFill>
                        <a:srgbClr val="23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3E6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0" kern="1200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~200–300 €</a:t>
                      </a:r>
                    </a:p>
                  </a:txBody>
                  <a:tcPr marL="61034" marR="61034" marT="0" marB="0" anchor="ctr">
                    <a:solidFill>
                      <a:srgbClr val="E3E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361515"/>
                  </a:ext>
                </a:extLst>
              </a:tr>
              <a:tr h="41402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1" kern="1200" dirty="0">
                          <a:solidFill>
                            <a:srgbClr val="233D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MATS</a:t>
                      </a:r>
                    </a:p>
                  </a:txBody>
                  <a:tcPr marL="61034" marR="61034" marT="0" marB="0" anchor="ctr">
                    <a:lnR w="38100" cap="flat" cmpd="sng" algn="ctr">
                      <a:solidFill>
                        <a:srgbClr val="23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0" kern="1200" dirty="0" err="1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Tekscan</a:t>
                      </a:r>
                      <a:r>
                        <a:rPr lang="it-IT" sz="1200" b="0" kern="1200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1200" b="0" kern="1200" dirty="0" err="1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CONFORMat</a:t>
                      </a:r>
                      <a:r>
                        <a:rPr lang="it-IT" sz="1200" b="0" kern="1200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 system</a:t>
                      </a:r>
                    </a:p>
                  </a:txBody>
                  <a:tcPr marL="61034" marR="61034" marT="0" marB="0" anchor="ctr">
                    <a:lnL w="38100" cap="flat" cmpd="sng" algn="ctr">
                      <a:solidFill>
                        <a:srgbClr val="23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0" kern="1200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~13,000 €</a:t>
                      </a:r>
                    </a:p>
                  </a:txBody>
                  <a:tcPr marL="61034" marR="6103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08462"/>
                  </a:ext>
                </a:extLst>
              </a:tr>
              <a:tr h="41402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1" kern="1200" dirty="0">
                          <a:solidFill>
                            <a:srgbClr val="233D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COMPRESSOR (24 V DC)</a:t>
                      </a:r>
                    </a:p>
                  </a:txBody>
                  <a:tcPr marL="61034" marR="61034" marT="0" marB="0" anchor="ctr">
                    <a:lnR w="38100" cap="flat" cmpd="sng" algn="ctr">
                      <a:solidFill>
                        <a:srgbClr val="23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3E6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0" kern="1200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CAFELE 24 V air </a:t>
                      </a:r>
                      <a:r>
                        <a:rPr lang="it-IT" sz="1200" b="0" kern="1200" dirty="0" err="1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compressor</a:t>
                      </a:r>
                      <a:endParaRPr lang="it-IT" sz="1200" b="0" kern="1200" dirty="0">
                        <a:solidFill>
                          <a:schemeClr val="tx1"/>
                        </a:solidFill>
                        <a:effectLst/>
                        <a:latin typeface="Arial Nova" panose="020B0504020202020204" pitchFamily="34" charset="0"/>
                        <a:ea typeface="+mn-ea"/>
                        <a:cs typeface="+mn-cs"/>
                      </a:endParaRPr>
                    </a:p>
                  </a:txBody>
                  <a:tcPr marL="61034" marR="61034" marT="0" marB="0" anchor="ctr">
                    <a:lnL w="38100" cap="flat" cmpd="sng" algn="ctr">
                      <a:solidFill>
                        <a:srgbClr val="23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3E6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0" kern="1200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~38 €</a:t>
                      </a:r>
                    </a:p>
                  </a:txBody>
                  <a:tcPr marL="61034" marR="61034" marT="0" marB="0" anchor="ctr">
                    <a:solidFill>
                      <a:srgbClr val="E3E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384760"/>
                  </a:ext>
                </a:extLst>
              </a:tr>
              <a:tr h="41402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1" kern="1200" dirty="0">
                          <a:solidFill>
                            <a:srgbClr val="233D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ON/OFF VALVE (2/2)</a:t>
                      </a:r>
                    </a:p>
                  </a:txBody>
                  <a:tcPr marL="61034" marR="61034" marT="0" marB="0" anchor="ctr">
                    <a:lnR w="38100" cap="flat" cmpd="sng" algn="ctr">
                      <a:solidFill>
                        <a:srgbClr val="23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0" kern="1200" dirty="0" err="1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Heschen</a:t>
                      </a:r>
                      <a:r>
                        <a:rPr lang="it-IT" sz="1200" b="0" kern="1200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 2V025-08 24 V DC</a:t>
                      </a:r>
                    </a:p>
                  </a:txBody>
                  <a:tcPr marL="61034" marR="61034" marT="0" marB="0" anchor="ctr">
                    <a:lnL w="38100" cap="flat" cmpd="sng" algn="ctr">
                      <a:solidFill>
                        <a:srgbClr val="23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0" kern="1200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~12 €</a:t>
                      </a:r>
                    </a:p>
                  </a:txBody>
                  <a:tcPr marL="61034" marR="6103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5615624"/>
                  </a:ext>
                </a:extLst>
              </a:tr>
              <a:tr h="41402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1" kern="1200" dirty="0">
                          <a:solidFill>
                            <a:srgbClr val="233D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3/2 VALVES (12 UNITS)</a:t>
                      </a:r>
                    </a:p>
                  </a:txBody>
                  <a:tcPr marL="61034" marR="61034" marT="0" marB="0" anchor="ctr">
                    <a:lnR w="38100" cap="flat" cmpd="sng" algn="ctr">
                      <a:solidFill>
                        <a:srgbClr val="23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3E6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0" kern="1200" dirty="0" err="1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Heschen</a:t>
                      </a:r>
                      <a:r>
                        <a:rPr lang="it-IT" sz="1200" b="0" kern="1200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 3V210-08 24 V DC</a:t>
                      </a:r>
                    </a:p>
                  </a:txBody>
                  <a:tcPr marL="61034" marR="61034" marT="0" marB="0" anchor="ctr">
                    <a:lnL w="38100" cap="flat" cmpd="sng" algn="ctr">
                      <a:solidFill>
                        <a:srgbClr val="23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3E6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0" kern="1200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~12 € </a:t>
                      </a:r>
                      <a:r>
                        <a:rPr lang="it-IT" sz="1200" b="0" kern="1200" dirty="0" err="1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each</a:t>
                      </a:r>
                      <a:endParaRPr lang="it-IT" sz="1200" b="0" kern="1200" dirty="0">
                        <a:solidFill>
                          <a:schemeClr val="tx1"/>
                        </a:solidFill>
                        <a:effectLst/>
                        <a:latin typeface="Arial Nova" panose="020B0504020202020204" pitchFamily="34" charset="0"/>
                        <a:ea typeface="+mn-ea"/>
                        <a:cs typeface="+mn-cs"/>
                      </a:endParaRPr>
                    </a:p>
                  </a:txBody>
                  <a:tcPr marL="61034" marR="61034" marT="0" marB="0" anchor="ctr">
                    <a:solidFill>
                      <a:srgbClr val="E3E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124667"/>
                  </a:ext>
                </a:extLst>
              </a:tr>
              <a:tr h="41402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1" kern="1200" dirty="0">
                          <a:solidFill>
                            <a:srgbClr val="233D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CHECK VALVES (12 UNITS)</a:t>
                      </a:r>
                    </a:p>
                  </a:txBody>
                  <a:tcPr marL="61034" marR="61034" marT="0" marB="0" anchor="ctr">
                    <a:lnR w="38100" cap="flat" cmpd="sng" algn="ctr">
                      <a:solidFill>
                        <a:srgbClr val="23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0" kern="1200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EFUTURETIME 10 mm </a:t>
                      </a:r>
                      <a:r>
                        <a:rPr lang="it-IT" sz="1200" b="0" kern="1200" dirty="0" err="1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quick-connect</a:t>
                      </a:r>
                      <a:endParaRPr lang="it-IT" sz="1200" b="0" kern="1200" dirty="0">
                        <a:solidFill>
                          <a:schemeClr val="tx1"/>
                        </a:solidFill>
                        <a:effectLst/>
                        <a:latin typeface="Arial Nova" panose="020B0504020202020204" pitchFamily="34" charset="0"/>
                        <a:ea typeface="+mn-ea"/>
                        <a:cs typeface="+mn-cs"/>
                      </a:endParaRPr>
                    </a:p>
                  </a:txBody>
                  <a:tcPr marL="61034" marR="61034" marT="0" marB="0" anchor="ctr">
                    <a:lnL w="38100" cap="flat" cmpd="sng" algn="ctr">
                      <a:solidFill>
                        <a:srgbClr val="23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0" kern="1200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~5 € </a:t>
                      </a:r>
                      <a:r>
                        <a:rPr lang="it-IT" sz="1200" b="0" kern="1200" dirty="0" err="1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each</a:t>
                      </a:r>
                      <a:endParaRPr lang="it-IT" sz="1200" b="0" kern="1200" dirty="0">
                        <a:solidFill>
                          <a:schemeClr val="tx1"/>
                        </a:solidFill>
                        <a:effectLst/>
                        <a:latin typeface="Arial Nova" panose="020B0504020202020204" pitchFamily="34" charset="0"/>
                        <a:ea typeface="+mn-ea"/>
                        <a:cs typeface="+mn-cs"/>
                      </a:endParaRPr>
                    </a:p>
                  </a:txBody>
                  <a:tcPr marL="61034" marR="6103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38842"/>
                  </a:ext>
                </a:extLst>
              </a:tr>
              <a:tr h="41402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1" kern="1200" dirty="0">
                          <a:solidFill>
                            <a:srgbClr val="233D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SAFETY VALVES (12 UNITS)</a:t>
                      </a:r>
                    </a:p>
                  </a:txBody>
                  <a:tcPr marL="61034" marR="61034" marT="0" marB="0" anchor="ctr">
                    <a:lnR w="38100" cap="flat" cmpd="sng" algn="ctr">
                      <a:solidFill>
                        <a:srgbClr val="23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3E6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0" kern="1200" dirty="0" err="1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Aurorad</a:t>
                      </a:r>
                      <a:r>
                        <a:rPr lang="it-IT" sz="1200" b="0" kern="1200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 2 bar ½″</a:t>
                      </a:r>
                    </a:p>
                  </a:txBody>
                  <a:tcPr marL="61034" marR="61034" marT="0" marB="0" anchor="ctr">
                    <a:lnL w="38100" cap="flat" cmpd="sng" algn="ctr">
                      <a:solidFill>
                        <a:srgbClr val="23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3E6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0" kern="1200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~6 € </a:t>
                      </a:r>
                      <a:r>
                        <a:rPr lang="it-IT" sz="1200" b="0" kern="1200" dirty="0" err="1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each</a:t>
                      </a:r>
                      <a:endParaRPr lang="it-IT" sz="1200" b="0" kern="1200" dirty="0">
                        <a:solidFill>
                          <a:schemeClr val="tx1"/>
                        </a:solidFill>
                        <a:effectLst/>
                        <a:latin typeface="Arial Nova" panose="020B0504020202020204" pitchFamily="34" charset="0"/>
                        <a:ea typeface="+mn-ea"/>
                        <a:cs typeface="+mn-cs"/>
                      </a:endParaRPr>
                    </a:p>
                  </a:txBody>
                  <a:tcPr marL="61034" marR="61034" marT="0" marB="0" anchor="ctr">
                    <a:solidFill>
                      <a:srgbClr val="E3E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282809"/>
                  </a:ext>
                </a:extLst>
              </a:tr>
              <a:tr h="41402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1" kern="1200" dirty="0">
                          <a:solidFill>
                            <a:srgbClr val="233D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RELAY BOARDS (</a:t>
                      </a:r>
                      <a:r>
                        <a:rPr lang="it-IT" sz="1200">
                          <a:solidFill>
                            <a:srgbClr val="233D60"/>
                          </a:solidFill>
                        </a:rPr>
                        <a:t>2 UNITS)</a:t>
                      </a:r>
                      <a:endParaRPr lang="it-IT" sz="1200" b="1" kern="1200" dirty="0">
                        <a:solidFill>
                          <a:srgbClr val="233D6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034" marR="61034" marT="0" marB="0" anchor="ctr">
                    <a:lnR w="38100" cap="flat" cmpd="sng" algn="ctr">
                      <a:solidFill>
                        <a:srgbClr val="23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0" kern="1200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ARCELI 8-channel 5 V</a:t>
                      </a:r>
                    </a:p>
                  </a:txBody>
                  <a:tcPr marL="61034" marR="61034" marT="0" marB="0" anchor="ctr">
                    <a:lnL w="38100" cap="flat" cmpd="sng" algn="ctr">
                      <a:solidFill>
                        <a:srgbClr val="23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0" kern="1200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~5 €</a:t>
                      </a:r>
                    </a:p>
                  </a:txBody>
                  <a:tcPr marL="61034" marR="6103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531274"/>
                  </a:ext>
                </a:extLst>
              </a:tr>
              <a:tr h="41402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1" kern="1200" dirty="0">
                          <a:solidFill>
                            <a:srgbClr val="233D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COMPRESSOR RELAY</a:t>
                      </a:r>
                    </a:p>
                  </a:txBody>
                  <a:tcPr marL="61034" marR="61034" marT="0" marB="0" anchor="ctr">
                    <a:lnR w="38100" cap="flat" cmpd="sng" algn="ctr">
                      <a:solidFill>
                        <a:srgbClr val="23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3E6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0" kern="1200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CGEAMDY 24 V 30 A automotive </a:t>
                      </a:r>
                      <a:r>
                        <a:rPr lang="it-IT" sz="1200" b="0" kern="1200" dirty="0" err="1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relay</a:t>
                      </a:r>
                      <a:endParaRPr lang="it-IT" sz="1200" b="0" kern="1200" dirty="0">
                        <a:solidFill>
                          <a:schemeClr val="tx1"/>
                        </a:solidFill>
                        <a:effectLst/>
                        <a:latin typeface="Arial Nova" panose="020B0504020202020204" pitchFamily="34" charset="0"/>
                        <a:ea typeface="+mn-ea"/>
                        <a:cs typeface="+mn-cs"/>
                      </a:endParaRPr>
                    </a:p>
                  </a:txBody>
                  <a:tcPr marL="61034" marR="61034" marT="0" marB="0" anchor="ctr">
                    <a:lnL w="38100" cap="flat" cmpd="sng" algn="ctr">
                      <a:solidFill>
                        <a:srgbClr val="23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3E6E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0" kern="1200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~12 €</a:t>
                      </a:r>
                    </a:p>
                  </a:txBody>
                  <a:tcPr marL="61034" marR="61034" marT="0" marB="0" anchor="ctr">
                    <a:solidFill>
                      <a:srgbClr val="E3E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043172"/>
                  </a:ext>
                </a:extLst>
              </a:tr>
              <a:tr h="41402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1" kern="1200" dirty="0">
                          <a:solidFill>
                            <a:srgbClr val="233D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WIRING AND PROTECTION</a:t>
                      </a:r>
                    </a:p>
                  </a:txBody>
                  <a:tcPr marL="61034" marR="61034" marT="0" marB="0" anchor="ctr">
                    <a:lnR w="38100" cap="flat" cmpd="sng" algn="ctr">
                      <a:solidFill>
                        <a:srgbClr val="23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en-US" sz="1200" b="0" kern="1200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16 AWG cables, fuses, 1N4007 diodes</a:t>
                      </a:r>
                      <a:endParaRPr lang="it-IT" sz="1200" b="0" kern="1200" dirty="0">
                        <a:solidFill>
                          <a:schemeClr val="tx1"/>
                        </a:solidFill>
                        <a:effectLst/>
                        <a:latin typeface="Arial Nova" panose="020B0504020202020204" pitchFamily="34" charset="0"/>
                        <a:ea typeface="+mn-ea"/>
                        <a:cs typeface="+mn-cs"/>
                      </a:endParaRPr>
                    </a:p>
                  </a:txBody>
                  <a:tcPr marL="61034" marR="61034" marT="0" marB="0" anchor="ctr">
                    <a:lnL w="38100" cap="flat" cmpd="sng" algn="ctr">
                      <a:solidFill>
                        <a:srgbClr val="23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500"/>
                        </a:spcAft>
                        <a:buNone/>
                      </a:pPr>
                      <a:r>
                        <a:rPr lang="it-IT" sz="1200" b="0" kern="1200" dirty="0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~10–15 € </a:t>
                      </a:r>
                      <a:r>
                        <a:rPr lang="it-IT" sz="1200" b="0" kern="1200" dirty="0" err="1">
                          <a:solidFill>
                            <a:schemeClr val="tx1"/>
                          </a:solidFill>
                          <a:effectLst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total</a:t>
                      </a:r>
                      <a:endParaRPr lang="it-IT" sz="1200" b="0" kern="1200" dirty="0">
                        <a:solidFill>
                          <a:schemeClr val="tx1"/>
                        </a:solidFill>
                        <a:effectLst/>
                        <a:latin typeface="Arial Nova" panose="020B0504020202020204" pitchFamily="34" charset="0"/>
                        <a:ea typeface="+mn-ea"/>
                        <a:cs typeface="+mn-cs"/>
                      </a:endParaRPr>
                    </a:p>
                  </a:txBody>
                  <a:tcPr marL="61034" marR="61034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17759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49073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D89F9-76FE-9CBA-12E4-F6FC1B393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0482FE3-A2FA-D1D1-68F0-4F2AA709E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35EEA2-8D42-4D46-95A6-66E65FDC5EB1}" type="slidenum">
              <a:rPr lang="it-IT" smtClean="0"/>
              <a:pPr/>
              <a:t>33</a:t>
            </a:fld>
            <a:endParaRPr lang="it-IT"/>
          </a:p>
        </p:txBody>
      </p:sp>
      <p:sp>
        <p:nvSpPr>
          <p:cNvPr id="6" name="Titolo 1">
            <a:extLst>
              <a:ext uri="{FF2B5EF4-FFF2-40B4-BE49-F238E27FC236}">
                <a16:creationId xmlns:a16="http://schemas.microsoft.com/office/drawing/2014/main" id="{5C681C12-3DBF-C1FA-54E9-3B351824AB2F}"/>
              </a:ext>
            </a:extLst>
          </p:cNvPr>
          <p:cNvSpPr txBox="1">
            <a:spLocks/>
          </p:cNvSpPr>
          <p:nvPr/>
        </p:nvSpPr>
        <p:spPr>
          <a:xfrm>
            <a:off x="385921" y="312908"/>
            <a:ext cx="11420157" cy="52305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b="1" dirty="0"/>
              <a:t>Focus group</a:t>
            </a:r>
            <a:endParaRPr lang="en-US" dirty="0"/>
          </a:p>
        </p:txBody>
      </p:sp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DFED0E21-40E7-BBDB-7202-3426F54024C2}"/>
              </a:ext>
            </a:extLst>
          </p:cNvPr>
          <p:cNvSpPr/>
          <p:nvPr/>
        </p:nvSpPr>
        <p:spPr>
          <a:xfrm>
            <a:off x="520590" y="1602601"/>
            <a:ext cx="3303638" cy="3864077"/>
          </a:xfrm>
          <a:prstGeom prst="round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dirty="0">
                <a:solidFill>
                  <a:srgbClr val="233D60"/>
                </a:solidFill>
              </a:rPr>
              <a:t>ANDREA</a:t>
            </a:r>
          </a:p>
          <a:p>
            <a:pPr algn="ctr"/>
            <a:endParaRPr lang="it-IT" b="1" dirty="0">
              <a:solidFill>
                <a:srgbClr val="233D60"/>
              </a:solidFill>
            </a:endParaRPr>
          </a:p>
          <a:p>
            <a:pPr algn="ctr"/>
            <a:r>
              <a:rPr lang="en-US" b="1" dirty="0">
                <a:solidFill>
                  <a:srgbClr val="233D60"/>
                </a:solidFill>
              </a:rPr>
              <a:t>Experience</a:t>
            </a:r>
            <a:r>
              <a:rPr lang="en-US" dirty="0">
                <a:solidFill>
                  <a:srgbClr val="233D60"/>
                </a:solidFill>
              </a:rPr>
              <a:t>: various races</a:t>
            </a:r>
          </a:p>
          <a:p>
            <a:pPr algn="ctr"/>
            <a:endParaRPr lang="en-US" dirty="0">
              <a:solidFill>
                <a:srgbClr val="233D60"/>
              </a:solidFill>
            </a:endParaRPr>
          </a:p>
          <a:p>
            <a:pPr algn="ctr"/>
            <a:r>
              <a:rPr lang="en-US" b="1" dirty="0">
                <a:solidFill>
                  <a:srgbClr val="233D60"/>
                </a:solidFill>
              </a:rPr>
              <a:t>Issues</a:t>
            </a:r>
            <a:r>
              <a:rPr lang="en-US" dirty="0">
                <a:solidFill>
                  <a:srgbClr val="233D60"/>
                </a:solidFill>
              </a:rPr>
              <a:t>: safety, comfort, upper limbs, outdoor</a:t>
            </a:r>
          </a:p>
          <a:p>
            <a:pPr algn="ctr"/>
            <a:endParaRPr lang="en-US" dirty="0">
              <a:solidFill>
                <a:srgbClr val="233D60"/>
              </a:solidFill>
            </a:endParaRPr>
          </a:p>
          <a:p>
            <a:pPr algn="ctr"/>
            <a:endParaRPr lang="en-US" dirty="0">
              <a:solidFill>
                <a:srgbClr val="233D60"/>
              </a:solidFill>
            </a:endParaRPr>
          </a:p>
          <a:p>
            <a:pPr algn="ctr"/>
            <a:r>
              <a:rPr lang="en-US" b="1" dirty="0">
                <a:solidFill>
                  <a:srgbClr val="233D60"/>
                </a:solidFill>
              </a:rPr>
              <a:t>Purpose</a:t>
            </a:r>
            <a:r>
              <a:rPr lang="en-US" dirty="0">
                <a:solidFill>
                  <a:srgbClr val="233D60"/>
                </a:solidFill>
              </a:rPr>
              <a:t>: use with families and friends</a:t>
            </a:r>
            <a:endParaRPr lang="it-IT" dirty="0">
              <a:solidFill>
                <a:srgbClr val="233D60"/>
              </a:solidFill>
            </a:endParaRP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5F179DF4-190C-058D-3E2B-C90E83765D8E}"/>
              </a:ext>
            </a:extLst>
          </p:cNvPr>
          <p:cNvSpPr/>
          <p:nvPr/>
        </p:nvSpPr>
        <p:spPr>
          <a:xfrm>
            <a:off x="4444181" y="1602601"/>
            <a:ext cx="3303638" cy="3864077"/>
          </a:xfrm>
          <a:prstGeom prst="round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it-IT" b="1" dirty="0">
                <a:solidFill>
                  <a:srgbClr val="233D60"/>
                </a:solidFill>
              </a:rPr>
              <a:t>DAVIDE</a:t>
            </a:r>
          </a:p>
          <a:p>
            <a:pPr algn="ctr">
              <a:buNone/>
            </a:pPr>
            <a:endParaRPr lang="it-IT" b="1" dirty="0">
              <a:solidFill>
                <a:srgbClr val="233D60"/>
              </a:solidFill>
            </a:endParaRPr>
          </a:p>
          <a:p>
            <a:pPr algn="ctr">
              <a:buNone/>
            </a:pPr>
            <a:r>
              <a:rPr lang="en-US" b="1" dirty="0">
                <a:solidFill>
                  <a:srgbClr val="233D60"/>
                </a:solidFill>
              </a:rPr>
              <a:t>Experience</a:t>
            </a:r>
            <a:r>
              <a:rPr lang="en-US" dirty="0">
                <a:solidFill>
                  <a:srgbClr val="233D60"/>
                </a:solidFill>
              </a:rPr>
              <a:t>: various races</a:t>
            </a:r>
          </a:p>
          <a:p>
            <a:pPr algn="ctr">
              <a:buNone/>
            </a:pPr>
            <a:endParaRPr lang="en-US" b="1" dirty="0">
              <a:solidFill>
                <a:srgbClr val="233D60"/>
              </a:solidFill>
            </a:endParaRPr>
          </a:p>
          <a:p>
            <a:pPr algn="ctr">
              <a:buNone/>
            </a:pPr>
            <a:r>
              <a:rPr lang="en-US" b="1" dirty="0">
                <a:solidFill>
                  <a:srgbClr val="233D60"/>
                </a:solidFill>
              </a:rPr>
              <a:t>Issues</a:t>
            </a:r>
            <a:r>
              <a:rPr lang="en-US" dirty="0">
                <a:solidFill>
                  <a:srgbClr val="233D60"/>
                </a:solidFill>
              </a:rPr>
              <a:t>: transporting the trike, customization, comfort, safety, outdoor</a:t>
            </a:r>
          </a:p>
          <a:p>
            <a:pPr algn="ctr"/>
            <a:endParaRPr lang="en-US" b="1" dirty="0">
              <a:solidFill>
                <a:srgbClr val="233D60"/>
              </a:solidFill>
            </a:endParaRPr>
          </a:p>
          <a:p>
            <a:pPr algn="ctr"/>
            <a:r>
              <a:rPr lang="en-US" b="1" dirty="0">
                <a:solidFill>
                  <a:srgbClr val="233D60"/>
                </a:solidFill>
              </a:rPr>
              <a:t>Purpose</a:t>
            </a:r>
            <a:r>
              <a:rPr lang="en-US" dirty="0">
                <a:solidFill>
                  <a:srgbClr val="233D60"/>
                </a:solidFill>
              </a:rPr>
              <a:t>: autonomous training</a:t>
            </a:r>
            <a:endParaRPr lang="it-IT" dirty="0">
              <a:solidFill>
                <a:srgbClr val="233D60"/>
              </a:solidFill>
            </a:endParaRP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78792508-1AF9-6C48-9CAF-922C3A38B32A}"/>
              </a:ext>
            </a:extLst>
          </p:cNvPr>
          <p:cNvSpPr/>
          <p:nvPr/>
        </p:nvSpPr>
        <p:spPr>
          <a:xfrm>
            <a:off x="8367772" y="1602602"/>
            <a:ext cx="3303638" cy="3864077"/>
          </a:xfrm>
          <a:prstGeom prst="round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lang="it-IT" b="1" dirty="0">
                <a:solidFill>
                  <a:srgbClr val="233D60"/>
                </a:solidFill>
              </a:rPr>
              <a:t>ALESSANDRO</a:t>
            </a:r>
          </a:p>
          <a:p>
            <a:pPr algn="ctr">
              <a:buNone/>
            </a:pPr>
            <a:endParaRPr lang="it-IT" b="1" dirty="0">
              <a:solidFill>
                <a:srgbClr val="233D60"/>
              </a:solidFill>
            </a:endParaRPr>
          </a:p>
          <a:p>
            <a:pPr algn="ctr">
              <a:buNone/>
            </a:pPr>
            <a:r>
              <a:rPr lang="en-US" b="1" dirty="0">
                <a:solidFill>
                  <a:srgbClr val="233D60"/>
                </a:solidFill>
              </a:rPr>
              <a:t>Experience</a:t>
            </a:r>
            <a:r>
              <a:rPr lang="en-US" dirty="0">
                <a:solidFill>
                  <a:srgbClr val="233D60"/>
                </a:solidFill>
              </a:rPr>
              <a:t>: training</a:t>
            </a:r>
          </a:p>
          <a:p>
            <a:pPr algn="ctr">
              <a:buNone/>
            </a:pPr>
            <a:endParaRPr lang="en-US" b="1" dirty="0">
              <a:solidFill>
                <a:srgbClr val="233D60"/>
              </a:solidFill>
            </a:endParaRPr>
          </a:p>
          <a:p>
            <a:pPr algn="ctr">
              <a:buNone/>
            </a:pPr>
            <a:r>
              <a:rPr lang="en-US" b="1" dirty="0">
                <a:solidFill>
                  <a:srgbClr val="233D60"/>
                </a:solidFill>
              </a:rPr>
              <a:t>Issues</a:t>
            </a:r>
            <a:r>
              <a:rPr lang="en-US" dirty="0">
                <a:solidFill>
                  <a:srgbClr val="233D60"/>
                </a:solidFill>
              </a:rPr>
              <a:t>: safety, comfort, upper limbs, outdoor</a:t>
            </a:r>
          </a:p>
          <a:p>
            <a:pPr algn="ctr">
              <a:buNone/>
            </a:pPr>
            <a:endParaRPr lang="en-US" dirty="0">
              <a:solidFill>
                <a:srgbClr val="233D60"/>
              </a:solidFill>
            </a:endParaRPr>
          </a:p>
          <a:p>
            <a:pPr algn="ctr"/>
            <a:endParaRPr lang="en-US" b="1" dirty="0">
              <a:solidFill>
                <a:srgbClr val="233D60"/>
              </a:solidFill>
            </a:endParaRPr>
          </a:p>
          <a:p>
            <a:pPr algn="ctr"/>
            <a:r>
              <a:rPr lang="en-US" b="1" dirty="0">
                <a:solidFill>
                  <a:srgbClr val="233D60"/>
                </a:solidFill>
              </a:rPr>
              <a:t>Purpose</a:t>
            </a:r>
            <a:r>
              <a:rPr lang="en-US" dirty="0">
                <a:solidFill>
                  <a:srgbClr val="233D60"/>
                </a:solidFill>
              </a:rPr>
              <a:t>: total body training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53AD6EF4-B66D-F87C-FB28-0462F813FF33}"/>
              </a:ext>
            </a:extLst>
          </p:cNvPr>
          <p:cNvSpPr>
            <a:spLocks noChangeAspect="1"/>
          </p:cNvSpPr>
          <p:nvPr/>
        </p:nvSpPr>
        <p:spPr>
          <a:xfrm>
            <a:off x="5575078" y="983458"/>
            <a:ext cx="963924" cy="96392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0" name="Picture 4" descr="Finish ">
            <a:extLst>
              <a:ext uri="{FF2B5EF4-FFF2-40B4-BE49-F238E27FC236}">
                <a16:creationId xmlns:a16="http://schemas.microsoft.com/office/drawing/2014/main" id="{A4AF0FD2-7804-127B-FF1C-427119AB7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183" y="1047938"/>
            <a:ext cx="725634" cy="725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4DB11F17-B189-CBF8-435B-CB75FE5AD8F5}"/>
              </a:ext>
            </a:extLst>
          </p:cNvPr>
          <p:cNvSpPr>
            <a:spLocks noChangeAspect="1"/>
          </p:cNvSpPr>
          <p:nvPr/>
        </p:nvSpPr>
        <p:spPr>
          <a:xfrm>
            <a:off x="9537629" y="976721"/>
            <a:ext cx="963924" cy="96392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7F6B050D-EE5D-4825-64CB-13C93FA7767C}"/>
              </a:ext>
            </a:extLst>
          </p:cNvPr>
          <p:cNvSpPr>
            <a:spLocks noChangeAspect="1"/>
          </p:cNvSpPr>
          <p:nvPr/>
        </p:nvSpPr>
        <p:spPr>
          <a:xfrm>
            <a:off x="1757718" y="1048895"/>
            <a:ext cx="963924" cy="96392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4" name="Picture 2" descr="Family ">
            <a:extLst>
              <a:ext uri="{FF2B5EF4-FFF2-40B4-BE49-F238E27FC236}">
                <a16:creationId xmlns:a16="http://schemas.microsoft.com/office/drawing/2014/main" id="{F0A83B6A-E58C-5F8F-FF95-D806BECE9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021" y="1203488"/>
            <a:ext cx="607058" cy="607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Dumbbell ">
            <a:extLst>
              <a:ext uri="{FF2B5EF4-FFF2-40B4-BE49-F238E27FC236}">
                <a16:creationId xmlns:a16="http://schemas.microsoft.com/office/drawing/2014/main" id="{D9C7A573-DB50-BA99-F7A7-D30A8B446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6774" y="1144200"/>
            <a:ext cx="725634" cy="725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ttangolo 10">
            <a:extLst>
              <a:ext uri="{FF2B5EF4-FFF2-40B4-BE49-F238E27FC236}">
                <a16:creationId xmlns:a16="http://schemas.microsoft.com/office/drawing/2014/main" id="{8633D3CC-0995-817B-F381-1DC71FB5D5E6}"/>
              </a:ext>
            </a:extLst>
          </p:cNvPr>
          <p:cNvSpPr/>
          <p:nvPr/>
        </p:nvSpPr>
        <p:spPr>
          <a:xfrm>
            <a:off x="2670572" y="6025148"/>
            <a:ext cx="2179637" cy="523050"/>
          </a:xfrm>
          <a:prstGeom prst="rect">
            <a:avLst/>
          </a:prstGeom>
          <a:solidFill>
            <a:srgbClr val="233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bg1"/>
                </a:solidFill>
              </a:rPr>
              <a:t>Project </a:t>
            </a:r>
            <a:r>
              <a:rPr lang="it-IT" sz="1600" dirty="0" err="1">
                <a:solidFill>
                  <a:schemeClr val="bg1"/>
                </a:solidFill>
              </a:rPr>
              <a:t>proposal</a:t>
            </a:r>
            <a:endParaRPr lang="it-IT" sz="1600" dirty="0">
              <a:solidFill>
                <a:schemeClr val="bg1"/>
              </a:solidFill>
            </a:endParaRP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E7C985D5-AF5C-0B2D-B165-541F7ED72EE9}"/>
              </a:ext>
            </a:extLst>
          </p:cNvPr>
          <p:cNvSpPr/>
          <p:nvPr/>
        </p:nvSpPr>
        <p:spPr>
          <a:xfrm>
            <a:off x="500618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Project design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763AA56B-8BF1-1F40-C34A-D77565DDB608}"/>
              </a:ext>
            </a:extLst>
          </p:cNvPr>
          <p:cNvSpPr/>
          <p:nvPr/>
        </p:nvSpPr>
        <p:spPr>
          <a:xfrm>
            <a:off x="7341792" y="6282690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rgbClr val="E3E6EB"/>
                </a:solidFill>
              </a:rPr>
              <a:t>Challenges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73E2492B-401A-FAC6-E7A6-4DDA97809AFE}"/>
              </a:ext>
            </a:extLst>
          </p:cNvPr>
          <p:cNvSpPr/>
          <p:nvPr/>
        </p:nvSpPr>
        <p:spPr>
          <a:xfrm>
            <a:off x="9677401" y="6283881"/>
            <a:ext cx="2179637" cy="279032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Conclusion</a:t>
            </a:r>
            <a:endParaRPr lang="it-IT" sz="1600" dirty="0">
              <a:solidFill>
                <a:srgbClr val="E3E6EB"/>
              </a:solidFill>
            </a:endParaRP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BF681C35-BE04-BEF9-C0D8-43E6E36FEBA1}"/>
              </a:ext>
            </a:extLst>
          </p:cNvPr>
          <p:cNvSpPr/>
          <p:nvPr/>
        </p:nvSpPr>
        <p:spPr>
          <a:xfrm>
            <a:off x="334962" y="6282690"/>
            <a:ext cx="2179637" cy="265508"/>
          </a:xfrm>
          <a:prstGeom prst="rect">
            <a:avLst/>
          </a:prstGeom>
          <a:solidFill>
            <a:srgbClr val="E3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 err="1">
                <a:solidFill>
                  <a:srgbClr val="E3E6EB"/>
                </a:solidFill>
              </a:rPr>
              <a:t>Introduction</a:t>
            </a:r>
            <a:endParaRPr lang="it-IT" sz="1600" dirty="0">
              <a:solidFill>
                <a:srgbClr val="E3E6E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744127"/>
      </p:ext>
    </p:extLst>
  </p:cSld>
  <p:clrMapOvr>
    <a:masterClrMapping/>
  </p:clrMapOvr>
</p:sld>
</file>

<file path=ppt/theme/theme1.xml><?xml version="1.0" encoding="utf-8"?>
<a:theme xmlns:a="http://schemas.openxmlformats.org/drawingml/2006/main" name="Interni">
  <a:themeElements>
    <a:clrScheme name="Polimi ppt blu102c53">
      <a:dk1>
        <a:srgbClr val="000000"/>
      </a:dk1>
      <a:lt1>
        <a:srgbClr val="FFFFFF"/>
      </a:lt1>
      <a:dk2>
        <a:srgbClr val="102C53"/>
      </a:dk2>
      <a:lt2>
        <a:srgbClr val="FFFFFF"/>
      </a:lt2>
      <a:accent1>
        <a:srgbClr val="102C53"/>
      </a:accent1>
      <a:accent2>
        <a:srgbClr val="596C87"/>
      </a:accent2>
      <a:accent3>
        <a:srgbClr val="8795A8"/>
      </a:accent3>
      <a:accent4>
        <a:srgbClr val="B7BFCA"/>
      </a:accent4>
      <a:accent5>
        <a:srgbClr val="D0D5DD"/>
      </a:accent5>
      <a:accent6>
        <a:srgbClr val="F3F3F6"/>
      </a:accent6>
      <a:hlink>
        <a:srgbClr val="0000FF"/>
      </a:hlink>
      <a:folHlink>
        <a:srgbClr val="28C8F0"/>
      </a:folHlink>
    </a:clrScheme>
    <a:fontScheme name="caratteri tema manrope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manrope_2024_regular" id="{AF503DD6-45CC-4FD9-A316-7E3073ACAABC}" vid="{376A186E-ACA5-4725-B103-CB5852E20BBA}"/>
    </a:ext>
  </a:extLst>
</a:theme>
</file>

<file path=ppt/theme/theme2.xml><?xml version="1.0" encoding="utf-8"?>
<a:theme xmlns:a="http://schemas.openxmlformats.org/drawingml/2006/main" name="Cover">
  <a:themeElements>
    <a:clrScheme name="Polimi ppt blu102c53">
      <a:dk1>
        <a:srgbClr val="000000"/>
      </a:dk1>
      <a:lt1>
        <a:srgbClr val="FFFFFF"/>
      </a:lt1>
      <a:dk2>
        <a:srgbClr val="102C53"/>
      </a:dk2>
      <a:lt2>
        <a:srgbClr val="FFFFFF"/>
      </a:lt2>
      <a:accent1>
        <a:srgbClr val="102C53"/>
      </a:accent1>
      <a:accent2>
        <a:srgbClr val="596C87"/>
      </a:accent2>
      <a:accent3>
        <a:srgbClr val="8795A8"/>
      </a:accent3>
      <a:accent4>
        <a:srgbClr val="B7BFCA"/>
      </a:accent4>
      <a:accent5>
        <a:srgbClr val="D0D5DD"/>
      </a:accent5>
      <a:accent6>
        <a:srgbClr val="F3F3F6"/>
      </a:accent6>
      <a:hlink>
        <a:srgbClr val="0000FF"/>
      </a:hlink>
      <a:folHlink>
        <a:srgbClr val="28C8F0"/>
      </a:folHlink>
    </a:clrScheme>
    <a:fontScheme name="caratteri tema manrope">
      <a:majorFont>
        <a:latin typeface="Manrope"/>
        <a:ea typeface=""/>
        <a:cs typeface=""/>
      </a:majorFont>
      <a:minorFont>
        <a:latin typeface="Manrop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manrope_2024_regular" id="{AF503DD6-45CC-4FD9-A316-7E3073ACAABC}" vid="{376A186E-ACA5-4725-B103-CB5852E20BB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ppt_manrope_2024_regular</Template>
  <TotalTime>856</TotalTime>
  <Words>2230</Words>
  <Application>Microsoft Office PowerPoint</Application>
  <PresentationFormat>Widescreen</PresentationFormat>
  <Paragraphs>467</Paragraphs>
  <Slides>33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33</vt:i4>
      </vt:variant>
    </vt:vector>
  </HeadingPairs>
  <TitlesOfParts>
    <vt:vector size="41" baseType="lpstr">
      <vt:lpstr>Calibri</vt:lpstr>
      <vt:lpstr>Manrope</vt:lpstr>
      <vt:lpstr>Arial Nova</vt:lpstr>
      <vt:lpstr>Noto Sans</vt:lpstr>
      <vt:lpstr>Wingdings</vt:lpstr>
      <vt:lpstr>Arial</vt:lpstr>
      <vt:lpstr>Interni</vt:lpstr>
      <vt:lpstr>Cover</vt:lpstr>
      <vt:lpstr>Paralympics and Sport rehabilitation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Paralympics and Sport rehabilitation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Camilla Ghironi</dc:creator>
  <cp:lastModifiedBy>Chiara Usai</cp:lastModifiedBy>
  <cp:revision>130</cp:revision>
  <dcterms:created xsi:type="dcterms:W3CDTF">2024-06-28T15:03:44Z</dcterms:created>
  <dcterms:modified xsi:type="dcterms:W3CDTF">2025-06-26T07:42:55Z</dcterms:modified>
</cp:coreProperties>
</file>